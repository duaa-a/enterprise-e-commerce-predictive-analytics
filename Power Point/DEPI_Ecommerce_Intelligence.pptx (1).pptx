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Canva Sans Bold" charset="1" panose="020B0803030501040103"/>
      <p:regular r:id="rId33"/>
    </p:embeddedFont>
    <p:embeddedFont>
      <p:font typeface="Canva Sans Italics" charset="1" panose="020B0503030501040103"/>
      <p:regular r:id="rId34"/>
    </p:embeddedFont>
    <p:embeddedFont>
      <p:font typeface="Canva Sans" charset="1" panose="020B0503030501040103"/>
      <p:regular r:id="rId35"/>
    </p:embeddedFont>
    <p:embeddedFont>
      <p:font typeface="Calibri (MS) Bold" charset="1" panose="020F0702030404030204"/>
      <p:regular r:id="rId46"/>
    </p:embeddedFont>
    <p:embeddedFont>
      <p:font typeface="Cambria Bold" charset="1" panose="02040803050406030204"/>
      <p:regular r:id="rId47"/>
    </p:embeddedFont>
    <p:embeddedFont>
      <p:font typeface="Calibri (MS) Italics" charset="1" panose="020F05020202040A0204"/>
      <p:regular r:id="rId48"/>
    </p:embeddedFont>
    <p:embeddedFont>
      <p:font typeface="Calibri (MS)" charset="1" panose="020F0502020204030204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notesMasters/notesMaster1.xml" Type="http://schemas.openxmlformats.org/officeDocument/2006/relationships/notesMaster"/><Relationship Id="rId31" Target="theme/theme2.xml" Type="http://schemas.openxmlformats.org/officeDocument/2006/relationships/theme"/><Relationship Id="rId32" Target="notesSlides/notesSlide1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2.xml" Type="http://schemas.openxmlformats.org/officeDocument/2006/relationships/notesSlide"/><Relationship Id="rId37" Target="notesSlides/notesSlide3.xml" Type="http://schemas.openxmlformats.org/officeDocument/2006/relationships/notesSlide"/><Relationship Id="rId38" Target="notesSlides/notesSlide4.xml" Type="http://schemas.openxmlformats.org/officeDocument/2006/relationships/notesSlide"/><Relationship Id="rId39" Target="notesSlides/notesSlide5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6.xml" Type="http://schemas.openxmlformats.org/officeDocument/2006/relationships/notesSlide"/><Relationship Id="rId41" Target="notesSlides/notesSlide7.xml" Type="http://schemas.openxmlformats.org/officeDocument/2006/relationships/notesSlide"/><Relationship Id="rId42" Target="notesSlides/notesSlide8.xml" Type="http://schemas.openxmlformats.org/officeDocument/2006/relationships/notesSlide"/><Relationship Id="rId43" Target="notesSlides/notesSlide9.xml" Type="http://schemas.openxmlformats.org/officeDocument/2006/relationships/notesSlide"/><Relationship Id="rId44" Target="notesSlides/notesSlide10.xml" Type="http://schemas.openxmlformats.org/officeDocument/2006/relationships/notesSlide"/><Relationship Id="rId45" Target="notesSlides/notesSlide11.xml" Type="http://schemas.openxmlformats.org/officeDocument/2006/relationships/notesSlide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notesSlides/notesSlide12.xml" Type="http://schemas.openxmlformats.org/officeDocument/2006/relationships/notesSlide"/><Relationship Id="rId51" Target="notesSlides/notesSlide13.xml" Type="http://schemas.openxmlformats.org/officeDocument/2006/relationships/notesSlide"/><Relationship Id="rId52" Target="notesSlides/notesSlide14.xml" Type="http://schemas.openxmlformats.org/officeDocument/2006/relationships/notesSlide"/><Relationship Id="rId53" Target="notesSlides/notesSlide15.xml" Type="http://schemas.openxmlformats.org/officeDocument/2006/relationships/notesSlide"/><Relationship Id="rId54" Target="notesSlides/notesSlide16.xml" Type="http://schemas.openxmlformats.org/officeDocument/2006/relationships/notesSlide"/><Relationship Id="rId55" Target="notesSlides/notesSlide17.xml" Type="http://schemas.openxmlformats.org/officeDocument/2006/relationships/notesSlide"/><Relationship Id="rId56" Target="notesSlides/notesSlide18.xml" Type="http://schemas.openxmlformats.org/officeDocument/2006/relationships/notesSlide"/><Relationship Id="rId57" Target="notesSlides/notesSlide19.xml" Type="http://schemas.openxmlformats.org/officeDocument/2006/relationships/notesSlide"/><Relationship Id="rId58" Target="notesSlides/notesSlide20.xml" Type="http://schemas.openxmlformats.org/officeDocument/2006/relationships/notesSlide"/><Relationship Id="rId59" Target="notesSlides/notesSlide21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2.xml" Type="http://schemas.openxmlformats.org/officeDocument/2006/relationships/notesSlide"/><Relationship Id="rId61" Target="notesSlides/notesSlide23.xml" Type="http://schemas.openxmlformats.org/officeDocument/2006/relationships/notesSlide"/><Relationship Id="rId62" Target="notesSlides/notesSlide24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jpeg" Type="http://schemas.openxmlformats.org/officeDocument/2006/relationships/image"/><Relationship Id="rId14" Target="../media/image15.png" Type="http://schemas.openxmlformats.org/officeDocument/2006/relationships/image"/><Relationship Id="rId15" Target="../media/image3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15.png" Type="http://schemas.openxmlformats.org/officeDocument/2006/relationships/image"/><Relationship Id="rId12" Target="../media/image4.png" Type="http://schemas.openxmlformats.org/officeDocument/2006/relationships/image"/><Relationship Id="rId13" Target="../media/image3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1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15.png" Type="http://schemas.openxmlformats.org/officeDocument/2006/relationships/image"/><Relationship Id="rId13" Target="../media/image14.jpeg" Type="http://schemas.openxmlformats.org/officeDocument/2006/relationships/image"/><Relationship Id="rId14" Target="../media/image3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jpeg" Type="http://schemas.openxmlformats.org/officeDocument/2006/relationships/image"/><Relationship Id="rId11" Target="../media/image3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36.png" Type="http://schemas.openxmlformats.org/officeDocument/2006/relationships/image"/><Relationship Id="rId12" Target="../media/image37.png" Type="http://schemas.openxmlformats.org/officeDocument/2006/relationships/image"/><Relationship Id="rId13" Target="../media/image11.png" Type="http://schemas.openxmlformats.org/officeDocument/2006/relationships/image"/><Relationship Id="rId14" Target="../media/image38.png" Type="http://schemas.openxmlformats.org/officeDocument/2006/relationships/image"/><Relationship Id="rId15" Target="../media/image15.png" Type="http://schemas.openxmlformats.org/officeDocument/2006/relationships/image"/><Relationship Id="rId16" Target="../media/image14.jpeg" Type="http://schemas.openxmlformats.org/officeDocument/2006/relationships/image"/><Relationship Id="rId17" Target="../media/image3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18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15.png" Type="http://schemas.openxmlformats.org/officeDocument/2006/relationships/image"/><Relationship Id="rId12" Target="../media/image14.jpeg" Type="http://schemas.openxmlformats.org/officeDocument/2006/relationships/image"/><Relationship Id="rId13" Target="../media/image3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15.png" Type="http://schemas.openxmlformats.org/officeDocument/2006/relationships/image"/><Relationship Id="rId6" Target="../media/image14.jpeg" Type="http://schemas.openxmlformats.org/officeDocument/2006/relationships/image"/><Relationship Id="rId7" Target="../media/image3.png" Type="http://schemas.openxmlformats.org/officeDocument/2006/relationships/image"/><Relationship Id="rId8" Target="../media/image4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15.png" Type="http://schemas.openxmlformats.org/officeDocument/2006/relationships/image"/><Relationship Id="rId12" Target="../media/image14.jpeg" Type="http://schemas.openxmlformats.org/officeDocument/2006/relationships/image"/><Relationship Id="rId13" Target="../media/image3.pn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10.png" Type="http://schemas.openxmlformats.org/officeDocument/2006/relationships/image"/><Relationship Id="rId8" Target="../media/image34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jpeg" Type="http://schemas.openxmlformats.org/officeDocument/2006/relationships/image"/><Relationship Id="rId11" Target="../media/image3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4.jpeg" Type="http://schemas.openxmlformats.org/officeDocument/2006/relationships/image"/><Relationship Id="rId12" Target="../media/image3.pn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5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18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png" Type="http://schemas.openxmlformats.org/officeDocument/2006/relationships/image"/><Relationship Id="rId12" Target="../media/image57.png" Type="http://schemas.openxmlformats.org/officeDocument/2006/relationships/image"/><Relationship Id="rId13" Target="../media/image8.png" Type="http://schemas.openxmlformats.org/officeDocument/2006/relationships/image"/><Relationship Id="rId14" Target="../media/image15.png" Type="http://schemas.openxmlformats.org/officeDocument/2006/relationships/image"/><Relationship Id="rId15" Target="../media/image14.jpeg" Type="http://schemas.openxmlformats.org/officeDocument/2006/relationships/image"/><Relationship Id="rId16" Target="../media/image3.pn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10.png" Type="http://schemas.openxmlformats.org/officeDocument/2006/relationships/image"/><Relationship Id="rId6" Target="../media/image54.png" Type="http://schemas.openxmlformats.org/officeDocument/2006/relationships/image"/><Relationship Id="rId7" Target="../media/image47.png" Type="http://schemas.openxmlformats.org/officeDocument/2006/relationships/image"/><Relationship Id="rId8" Target="../media/image9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svg" Type="http://schemas.openxmlformats.org/officeDocument/2006/relationships/image"/><Relationship Id="rId11" Target="../media/image64.png" Type="http://schemas.openxmlformats.org/officeDocument/2006/relationships/image"/><Relationship Id="rId12" Target="../media/image65.svg" Type="http://schemas.openxmlformats.org/officeDocument/2006/relationships/image"/><Relationship Id="rId13" Target="../media/image66.png" Type="http://schemas.openxmlformats.org/officeDocument/2006/relationships/image"/><Relationship Id="rId14" Target="../media/image67.svg" Type="http://schemas.openxmlformats.org/officeDocument/2006/relationships/image"/><Relationship Id="rId15" Target="../media/image68.png" Type="http://schemas.openxmlformats.org/officeDocument/2006/relationships/image"/><Relationship Id="rId16" Target="../media/image69.svg" Type="http://schemas.openxmlformats.org/officeDocument/2006/relationships/image"/><Relationship Id="rId17" Target="../media/image70.png" Type="http://schemas.openxmlformats.org/officeDocument/2006/relationships/image"/><Relationship Id="rId18" Target="../media/image71.svg" Type="http://schemas.openxmlformats.org/officeDocument/2006/relationships/image"/><Relationship Id="rId19" Target="../media/image72.png" Type="http://schemas.openxmlformats.org/officeDocument/2006/relationships/image"/><Relationship Id="rId2" Target="../notesSlides/notesSlide13.xml" Type="http://schemas.openxmlformats.org/officeDocument/2006/relationships/notesSlide"/><Relationship Id="rId20" Target="../media/image73.png" Type="http://schemas.openxmlformats.org/officeDocument/2006/relationships/image"/><Relationship Id="rId21" Target="../media/image28.png" Type="http://schemas.openxmlformats.org/officeDocument/2006/relationships/image"/><Relationship Id="rId22" Target="../media/image74.png" Type="http://schemas.openxmlformats.org/officeDocument/2006/relationships/image"/><Relationship Id="rId23" Target="../media/image75.png" Type="http://schemas.openxmlformats.org/officeDocument/2006/relationships/image"/><Relationship Id="rId24" Target="../media/image76.png" Type="http://schemas.openxmlformats.org/officeDocument/2006/relationships/image"/><Relationship Id="rId25" Target="../media/image15.png" Type="http://schemas.openxmlformats.org/officeDocument/2006/relationships/image"/><Relationship Id="rId26" Target="../media/image14.jpeg" Type="http://schemas.openxmlformats.org/officeDocument/2006/relationships/image"/><Relationship Id="rId27" Target="../media/image3.png" Type="http://schemas.openxmlformats.org/officeDocument/2006/relationships/imag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58.png" Type="http://schemas.openxmlformats.org/officeDocument/2006/relationships/image"/><Relationship Id="rId6" Target="../media/image59.svg" Type="http://schemas.openxmlformats.org/officeDocument/2006/relationships/image"/><Relationship Id="rId7" Target="../media/image60.png" Type="http://schemas.openxmlformats.org/officeDocument/2006/relationships/image"/><Relationship Id="rId8" Target="../media/image61.sv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svg" Type="http://schemas.openxmlformats.org/officeDocument/2006/relationships/image"/><Relationship Id="rId11" Target="../media/image83.png" Type="http://schemas.openxmlformats.org/officeDocument/2006/relationships/image"/><Relationship Id="rId12" Target="../media/image84.svg" Type="http://schemas.openxmlformats.org/officeDocument/2006/relationships/image"/><Relationship Id="rId13" Target="../media/image47.png" Type="http://schemas.openxmlformats.org/officeDocument/2006/relationships/image"/><Relationship Id="rId14" Target="../media/image52.png" Type="http://schemas.openxmlformats.org/officeDocument/2006/relationships/image"/><Relationship Id="rId15" Target="../media/image15.png" Type="http://schemas.openxmlformats.org/officeDocument/2006/relationships/image"/><Relationship Id="rId16" Target="../media/image14.jpeg" Type="http://schemas.openxmlformats.org/officeDocument/2006/relationships/image"/><Relationship Id="rId17" Target="../media/image3.png" Type="http://schemas.openxmlformats.org/officeDocument/2006/relationships/image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77.png" Type="http://schemas.openxmlformats.org/officeDocument/2006/relationships/image"/><Relationship Id="rId6" Target="../media/image78.png" Type="http://schemas.openxmlformats.org/officeDocument/2006/relationships/image"/><Relationship Id="rId7" Target="../media/image79.png" Type="http://schemas.openxmlformats.org/officeDocument/2006/relationships/image"/><Relationship Id="rId8" Target="../media/image80.svg" Type="http://schemas.openxmlformats.org/officeDocument/2006/relationships/image"/><Relationship Id="rId9" Target="../media/image8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87.png" Type="http://schemas.openxmlformats.org/officeDocument/2006/relationships/image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Relationship Id="rId7" Target="../media/image73.png" Type="http://schemas.openxmlformats.org/officeDocument/2006/relationships/image"/><Relationship Id="rId8" Target="../media/image15.pn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png" Type="http://schemas.openxmlformats.org/officeDocument/2006/relationships/image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1.png" Type="http://schemas.openxmlformats.org/officeDocument/2006/relationships/image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Relationship Id="rId9" Target="../media/image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Relationship Id="rId9" Target="../media/image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Relationship Id="rId9" Target="../media/image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9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21.png" Type="http://schemas.openxmlformats.org/officeDocument/2006/relationships/image"/><Relationship Id="rId6" Target="../media/image29.png" Type="http://schemas.openxmlformats.org/officeDocument/2006/relationships/image"/><Relationship Id="rId7" Target="../media/image78.png" Type="http://schemas.openxmlformats.org/officeDocument/2006/relationships/image"/><Relationship Id="rId8" Target="../media/image15.pn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76.png" Type="http://schemas.openxmlformats.org/officeDocument/2006/relationships/image"/><Relationship Id="rId4" Target="../media/image1.jpeg" Type="http://schemas.openxmlformats.org/officeDocument/2006/relationships/image"/><Relationship Id="rId5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3566160"/>
            <a:ext cx="9601200" cy="9601200"/>
            <a:chOff x="0" y="0"/>
            <a:chExt cx="12801600" cy="128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12801600"/>
            </a:xfrm>
            <a:custGeom>
              <a:avLst/>
              <a:gdLst/>
              <a:ahLst/>
              <a:cxnLst/>
              <a:rect r="r" b="b" t="t" l="l"/>
              <a:pathLst>
                <a:path h="12801600" w="12801600">
                  <a:moveTo>
                    <a:pt x="0" y="6400800"/>
                  </a:moveTo>
                  <a:cubicBezTo>
                    <a:pt x="0" y="2865755"/>
                    <a:pt x="2865755" y="0"/>
                    <a:pt x="6400800" y="0"/>
                  </a:cubicBezTo>
                  <a:cubicBezTo>
                    <a:pt x="9935845" y="0"/>
                    <a:pt x="12801600" y="2865755"/>
                    <a:pt x="12801600" y="6400800"/>
                  </a:cubicBezTo>
                  <a:cubicBezTo>
                    <a:pt x="12801600" y="9935845"/>
                    <a:pt x="9935845" y="12801600"/>
                    <a:pt x="6400800" y="12801600"/>
                  </a:cubicBezTo>
                  <a:cubicBezTo>
                    <a:pt x="2865755" y="12801600"/>
                    <a:pt x="0" y="9935845"/>
                    <a:pt x="0" y="640080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38960" y="-2331720"/>
            <a:ext cx="6858000" cy="6858000"/>
            <a:chOff x="0" y="0"/>
            <a:chExt cx="91440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291840" y="6309360"/>
            <a:ext cx="7543800" cy="7543800"/>
            <a:chOff x="0" y="0"/>
            <a:chExt cx="10058400" cy="1005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2125980"/>
            <a:ext cx="13716000" cy="548640"/>
            <a:chOff x="0" y="0"/>
            <a:chExt cx="182880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6786" r="0" b="-43678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090261"/>
            <a:ext cx="13716000" cy="584359"/>
            <a:chOff x="0" y="0"/>
            <a:chExt cx="18288000" cy="7791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779145"/>
            </a:xfrm>
            <a:custGeom>
              <a:avLst/>
              <a:gdLst/>
              <a:ahLst/>
              <a:cxnLst/>
              <a:rect r="r" b="b" t="t" l="l"/>
              <a:pathLst>
                <a:path h="77914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7350" r="0" b="-4073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82880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60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DIGITAL EGYPT PIONEERS INITIATIVE  •  DATA ANALYSIS TRACK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5860" y="2811780"/>
            <a:ext cx="14813280" cy="2948940"/>
            <a:chOff x="0" y="0"/>
            <a:chExt cx="19751040" cy="3931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751039" cy="3931920"/>
            </a:xfrm>
            <a:custGeom>
              <a:avLst/>
              <a:gdLst/>
              <a:ahLst/>
              <a:cxnLst/>
              <a:rect r="r" b="b" t="t" l="l"/>
              <a:pathLst>
                <a:path h="39319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3931920"/>
                  </a:lnTo>
                  <a:lnTo>
                    <a:pt x="0" y="3931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10" r="0" b="-4781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28700" y="2090261"/>
            <a:ext cx="14813280" cy="2991802"/>
            <a:chOff x="0" y="0"/>
            <a:chExt cx="19751040" cy="39890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51039" cy="3989070"/>
            </a:xfrm>
            <a:custGeom>
              <a:avLst/>
              <a:gdLst/>
              <a:ahLst/>
              <a:cxnLst/>
              <a:rect r="r" b="b" t="t" l="l"/>
              <a:pathLst>
                <a:path h="398907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3989070"/>
                  </a:lnTo>
                  <a:lnTo>
                    <a:pt x="0" y="39890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476" r="0" b="-4647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751040" cy="4027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316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Enterprise E-Commerce</a:t>
              </a:r>
            </a:p>
            <a:p>
              <a:pPr algn="l">
                <a:lnSpc>
                  <a:spcPts val="8316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Intelligence &amp; Predictive Analytics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4526280"/>
            <a:ext cx="11795760" cy="1201579"/>
            <a:chOff x="0" y="0"/>
            <a:chExt cx="15727680" cy="16021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727680" cy="1602105"/>
            </a:xfrm>
            <a:custGeom>
              <a:avLst/>
              <a:gdLst/>
              <a:ahLst/>
              <a:cxnLst/>
              <a:rect r="r" b="b" t="t" l="l"/>
              <a:pathLst>
                <a:path h="1602105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602105"/>
                  </a:lnTo>
                  <a:lnTo>
                    <a:pt x="0" y="16021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1282" r="0" b="-14128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572768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i="true">
                  <a:solidFill>
                    <a:srgbClr val="CFE3D6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Turning 13,000+ raw transactions into a single source of truth — and a 7-page executive intelligence system powered by Power BI, Python, and machine learning.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440" y="6168390"/>
            <a:ext cx="13716000" cy="3089910"/>
            <a:chOff x="0" y="0"/>
            <a:chExt cx="18288000" cy="4119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288000" cy="4119880"/>
            </a:xfrm>
            <a:custGeom>
              <a:avLst/>
              <a:gdLst/>
              <a:ahLst/>
              <a:cxnLst/>
              <a:rect r="r" b="b" t="t" l="l"/>
              <a:pathLst>
                <a:path h="4119880" w="18288000">
                  <a:moveTo>
                    <a:pt x="0" y="372118"/>
                  </a:moveTo>
                  <a:cubicBezTo>
                    <a:pt x="0" y="166678"/>
                    <a:pt x="99723" y="0"/>
                    <a:pt x="222637" y="0"/>
                  </a:cubicBezTo>
                  <a:lnTo>
                    <a:pt x="18065362" y="0"/>
                  </a:lnTo>
                  <a:cubicBezTo>
                    <a:pt x="18188277" y="0"/>
                    <a:pt x="18288000" y="166678"/>
                    <a:pt x="18288000" y="372118"/>
                  </a:cubicBezTo>
                  <a:lnTo>
                    <a:pt x="18288000" y="3747762"/>
                  </a:lnTo>
                  <a:cubicBezTo>
                    <a:pt x="18288000" y="3953202"/>
                    <a:pt x="18188277" y="4119880"/>
                    <a:pt x="18065362" y="4119880"/>
                  </a:cubicBezTo>
                  <a:lnTo>
                    <a:pt x="222637" y="4119880"/>
                  </a:lnTo>
                  <a:cubicBezTo>
                    <a:pt x="99723" y="4119880"/>
                    <a:pt x="0" y="3953202"/>
                    <a:pt x="0" y="3747762"/>
                  </a:cubicBezTo>
                  <a:close/>
                </a:path>
              </a:pathLst>
            </a:custGeom>
            <a:solidFill>
              <a:srgbClr val="1F2A2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45920" y="7543800"/>
            <a:ext cx="4114800" cy="411480"/>
            <a:chOff x="0" y="0"/>
            <a:chExt cx="5486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715" r="0" b="-14471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75121" y="6532463"/>
            <a:ext cx="4337050" cy="447620"/>
            <a:chOff x="0" y="0"/>
            <a:chExt cx="5782733" cy="59682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82733" cy="596827"/>
            </a:xfrm>
            <a:custGeom>
              <a:avLst/>
              <a:gdLst/>
              <a:ahLst/>
              <a:cxnLst/>
              <a:rect r="r" b="b" t="t" l="l"/>
              <a:pathLst>
                <a:path h="596827" w="5782733">
                  <a:moveTo>
                    <a:pt x="0" y="0"/>
                  </a:moveTo>
                  <a:lnTo>
                    <a:pt x="5782733" y="0"/>
                  </a:lnTo>
                  <a:lnTo>
                    <a:pt x="5782733" y="596827"/>
                  </a:lnTo>
                  <a:lnTo>
                    <a:pt x="0" y="5968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1559" r="5124" b="-12667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5782733" cy="5968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8"/>
                </a:lnSpc>
              </a:pPr>
              <a:r>
                <a:rPr lang="en-US" b="true" sz="2274" spc="324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PROJECT TEAM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5920" y="7982712"/>
            <a:ext cx="14813280" cy="754380"/>
            <a:chOff x="0" y="0"/>
            <a:chExt cx="1975104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7510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349" r="0" b="-332348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46546" y="7027674"/>
            <a:ext cx="12992414" cy="945513"/>
            <a:chOff x="0" y="0"/>
            <a:chExt cx="17323219" cy="126068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323219" cy="1260685"/>
            </a:xfrm>
            <a:custGeom>
              <a:avLst/>
              <a:gdLst/>
              <a:ahLst/>
              <a:cxnLst/>
              <a:rect r="r" b="b" t="t" l="l"/>
              <a:pathLst>
                <a:path h="1260685" w="17323219">
                  <a:moveTo>
                    <a:pt x="0" y="0"/>
                  </a:moveTo>
                  <a:lnTo>
                    <a:pt x="17323219" y="0"/>
                  </a:lnTo>
                  <a:lnTo>
                    <a:pt x="17323219" y="1260685"/>
                  </a:lnTo>
                  <a:lnTo>
                    <a:pt x="0" y="12606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3488" r="-14014" b="-24705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17323219" cy="125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Duaa Abd-Elati   •   Hazem Mahmoud   •   Mai Gamal   •   Maya Mohamed     Osama Hussein   •   Ahmed Ezzat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65596" y="8088630"/>
            <a:ext cx="15613380" cy="943216"/>
            <a:chOff x="0" y="0"/>
            <a:chExt cx="20817840" cy="125762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817839" cy="1257621"/>
            </a:xfrm>
            <a:custGeom>
              <a:avLst/>
              <a:gdLst/>
              <a:ahLst/>
              <a:cxnLst/>
              <a:rect r="r" b="b" t="t" l="l"/>
              <a:pathLst>
                <a:path h="1257621" w="20817839">
                  <a:moveTo>
                    <a:pt x="0" y="0"/>
                  </a:moveTo>
                  <a:lnTo>
                    <a:pt x="20817839" y="0"/>
                  </a:lnTo>
                  <a:lnTo>
                    <a:pt x="20817839" y="1257621"/>
                  </a:lnTo>
                  <a:lnTo>
                    <a:pt x="0" y="12576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9051" r="5124" b="-23297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20817840" cy="126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Supervisor:  </a:t>
              </a:r>
              <a:r>
                <a:rPr lang="en-US" sz="26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Eng. Mohamed Alemam</a:t>
              </a:r>
            </a:p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Mentor:  </a:t>
              </a:r>
              <a:r>
                <a:rPr lang="en-US" sz="26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Eng. Mahmoud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47" r="0" b="-345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9525"/>
              <a:ext cx="29260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604" y="97985"/>
            <a:ext cx="2709991" cy="1671161"/>
            <a:chOff x="0" y="0"/>
            <a:chExt cx="2926080" cy="1804416"/>
          </a:xfrm>
        </p:grpSpPr>
        <p:sp>
          <p:nvSpPr>
            <p:cNvPr name="Freeform 46" id="46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1081" r="0" b="-31081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989544" y="195970"/>
            <a:ext cx="2978416" cy="1475191"/>
            <a:chOff x="0" y="0"/>
            <a:chExt cx="3643122" cy="1804416"/>
          </a:xfrm>
        </p:grpSpPr>
        <p:sp>
          <p:nvSpPr>
            <p:cNvPr name="Freeform 48" id="48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330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WHAT WE'LL COVER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1280857"/>
            <a:ext cx="14401800" cy="1190104"/>
            <a:chOff x="0" y="0"/>
            <a:chExt cx="19202400" cy="15868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586805"/>
            </a:xfrm>
            <a:custGeom>
              <a:avLst/>
              <a:gdLst/>
              <a:ahLst/>
              <a:cxnLst/>
              <a:rect r="r" b="b" t="t" l="l"/>
              <a:pathLst>
                <a:path h="1586805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586805"/>
                  </a:lnTo>
                  <a:lnTo>
                    <a:pt x="0" y="15868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1975" r="0" b="-1796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58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Agenda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47614" y="2823386"/>
            <a:ext cx="5145643" cy="2836783"/>
          </a:xfrm>
          <a:custGeom>
            <a:avLst/>
            <a:gdLst/>
            <a:ahLst/>
            <a:cxnLst/>
            <a:rect r="r" b="b" t="t" l="l"/>
            <a:pathLst>
              <a:path h="2836783" w="5145643">
                <a:moveTo>
                  <a:pt x="0" y="0"/>
                </a:moveTo>
                <a:lnTo>
                  <a:pt x="5145643" y="0"/>
                </a:lnTo>
                <a:lnTo>
                  <a:pt x="5145643" y="2836783"/>
                </a:lnTo>
                <a:lnTo>
                  <a:pt x="0" y="28367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71600" y="3086100"/>
            <a:ext cx="822960" cy="822960"/>
            <a:chOff x="0" y="0"/>
            <a:chExt cx="109728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52651" y="3267151"/>
            <a:ext cx="460820" cy="460820"/>
            <a:chOff x="0" y="0"/>
            <a:chExt cx="614426" cy="614426"/>
          </a:xfrm>
        </p:grpSpPr>
        <p:sp>
          <p:nvSpPr>
            <p:cNvPr name="Freeform 16" id="16" descr="/home/claude/deck/icons/lightbulb_FFFFFF.png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914900" y="2976372"/>
            <a:ext cx="891540" cy="548640"/>
            <a:chOff x="0" y="0"/>
            <a:chExt cx="118872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8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10" t="0" r="-2901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914900" y="2962084"/>
            <a:ext cx="891540" cy="595052"/>
            <a:chOff x="0" y="0"/>
            <a:chExt cx="1188720" cy="7934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1600" y="4073652"/>
            <a:ext cx="4297680" cy="548640"/>
            <a:chOff x="0" y="0"/>
            <a:chExt cx="573024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30240" cy="731520"/>
            </a:xfrm>
            <a:custGeom>
              <a:avLst/>
              <a:gdLst/>
              <a:ahLst/>
              <a:cxnLst/>
              <a:rect r="r" b="b" t="t" l="l"/>
              <a:pathLst>
                <a:path h="73152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526" r="0" b="-10252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94479" y="3878379"/>
            <a:ext cx="4297680" cy="610320"/>
            <a:chOff x="0" y="0"/>
            <a:chExt cx="5730240" cy="813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30240" cy="813760"/>
            </a:xfrm>
            <a:custGeom>
              <a:avLst/>
              <a:gdLst/>
              <a:ahLst/>
              <a:cxnLst/>
              <a:rect r="r" b="b" t="t" l="l"/>
              <a:pathLst>
                <a:path h="8137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813760"/>
                  </a:lnTo>
                  <a:lnTo>
                    <a:pt x="0" y="8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2260" r="0" b="-8215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5730240" cy="8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9"/>
                </a:lnSpc>
              </a:pPr>
              <a:r>
                <a:rPr lang="en-US" sz="312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Project Overview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71600" y="4622292"/>
            <a:ext cx="4297680" cy="754380"/>
            <a:chOff x="0" y="0"/>
            <a:chExt cx="573024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302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28" r="0" b="-60929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71600" y="4450037"/>
            <a:ext cx="4297680" cy="879173"/>
            <a:chOff x="0" y="0"/>
            <a:chExt cx="5730240" cy="11722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30240" cy="1172231"/>
            </a:xfrm>
            <a:custGeom>
              <a:avLst/>
              <a:gdLst/>
              <a:ahLst/>
              <a:cxnLst/>
              <a:rect r="r" b="b" t="t" l="l"/>
              <a:pathLst>
                <a:path h="1172231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172231"/>
                  </a:lnTo>
                  <a:lnTo>
                    <a:pt x="0" y="1172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127" r="0" b="-3937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5730240" cy="1172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Concept, data source &amp; the four analytical pillars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6548314" y="2823386"/>
            <a:ext cx="5145643" cy="2836783"/>
          </a:xfrm>
          <a:custGeom>
            <a:avLst/>
            <a:gdLst/>
            <a:ahLst/>
            <a:cxnLst/>
            <a:rect r="r" b="b" t="t" l="l"/>
            <a:pathLst>
              <a:path h="2836783" w="5145643">
                <a:moveTo>
                  <a:pt x="0" y="0"/>
                </a:moveTo>
                <a:lnTo>
                  <a:pt x="5145643" y="0"/>
                </a:lnTo>
                <a:lnTo>
                  <a:pt x="5145643" y="2836783"/>
                </a:lnTo>
                <a:lnTo>
                  <a:pt x="0" y="28367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6972300" y="3086100"/>
            <a:ext cx="822960" cy="822960"/>
            <a:chOff x="0" y="0"/>
            <a:chExt cx="109728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153351" y="3267151"/>
            <a:ext cx="460820" cy="460820"/>
            <a:chOff x="0" y="0"/>
            <a:chExt cx="614426" cy="614426"/>
          </a:xfrm>
        </p:grpSpPr>
        <p:sp>
          <p:nvSpPr>
            <p:cNvPr name="Freeform 36" id="36" descr="/home/claude/deck/icons/cogs_FFFFFF.png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515600" y="2976372"/>
            <a:ext cx="891540" cy="548640"/>
            <a:chOff x="0" y="0"/>
            <a:chExt cx="118872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8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10" t="0" r="-29011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515600" y="2962084"/>
            <a:ext cx="891540" cy="595052"/>
            <a:chOff x="0" y="0"/>
            <a:chExt cx="1188720" cy="79340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02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972300" y="4073652"/>
            <a:ext cx="4297680" cy="548640"/>
            <a:chOff x="0" y="0"/>
            <a:chExt cx="573024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730240" cy="731520"/>
            </a:xfrm>
            <a:custGeom>
              <a:avLst/>
              <a:gdLst/>
              <a:ahLst/>
              <a:cxnLst/>
              <a:rect r="r" b="b" t="t" l="l"/>
              <a:pathLst>
                <a:path h="73152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526" r="0" b="-102527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962775" y="3878379"/>
            <a:ext cx="5153835" cy="610320"/>
            <a:chOff x="0" y="0"/>
            <a:chExt cx="6871779" cy="8137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71780" cy="813760"/>
            </a:xfrm>
            <a:custGeom>
              <a:avLst/>
              <a:gdLst/>
              <a:ahLst/>
              <a:cxnLst/>
              <a:rect r="r" b="b" t="t" l="l"/>
              <a:pathLst>
                <a:path h="813760" w="6871780">
                  <a:moveTo>
                    <a:pt x="0" y="0"/>
                  </a:moveTo>
                  <a:lnTo>
                    <a:pt x="6871780" y="0"/>
                  </a:lnTo>
                  <a:lnTo>
                    <a:pt x="6871780" y="813760"/>
                  </a:lnTo>
                  <a:lnTo>
                    <a:pt x="0" y="8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2260" r="16611" b="-8215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6871779" cy="8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9"/>
                </a:lnSpc>
              </a:pPr>
              <a:r>
                <a:rPr lang="en-US" sz="312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Technical Architecture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972300" y="4622292"/>
            <a:ext cx="4297680" cy="754380"/>
            <a:chOff x="0" y="0"/>
            <a:chExt cx="5730240" cy="1005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7302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28" r="0" b="-60929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7040880" y="4514296"/>
            <a:ext cx="4297680" cy="879173"/>
            <a:chOff x="0" y="0"/>
            <a:chExt cx="5730240" cy="11722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730240" cy="1172231"/>
            </a:xfrm>
            <a:custGeom>
              <a:avLst/>
              <a:gdLst/>
              <a:ahLst/>
              <a:cxnLst/>
              <a:rect r="r" b="b" t="t" l="l"/>
              <a:pathLst>
                <a:path h="1172231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172231"/>
                  </a:lnTo>
                  <a:lnTo>
                    <a:pt x="0" y="1172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127" r="0" b="-3937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5730240" cy="1172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Tools, Medallion layers &amp; the Gold star schema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12149014" y="2823386"/>
            <a:ext cx="5145643" cy="2836783"/>
          </a:xfrm>
          <a:custGeom>
            <a:avLst/>
            <a:gdLst/>
            <a:ahLst/>
            <a:cxnLst/>
            <a:rect r="r" b="b" t="t" l="l"/>
            <a:pathLst>
              <a:path h="2836783" w="5145643">
                <a:moveTo>
                  <a:pt x="0" y="0"/>
                </a:moveTo>
                <a:lnTo>
                  <a:pt x="5145643" y="0"/>
                </a:lnTo>
                <a:lnTo>
                  <a:pt x="5145643" y="2836783"/>
                </a:lnTo>
                <a:lnTo>
                  <a:pt x="0" y="28367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2573000" y="3086100"/>
            <a:ext cx="822960" cy="822960"/>
            <a:chOff x="0" y="0"/>
            <a:chExt cx="109728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754051" y="3267151"/>
            <a:ext cx="460820" cy="460820"/>
            <a:chOff x="0" y="0"/>
            <a:chExt cx="614426" cy="614426"/>
          </a:xfrm>
        </p:grpSpPr>
        <p:sp>
          <p:nvSpPr>
            <p:cNvPr name="Freeform 56" id="56" descr="/home/claude/deck/icons/database_FFFFFF.png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6116300" y="2976372"/>
            <a:ext cx="891540" cy="548640"/>
            <a:chOff x="0" y="0"/>
            <a:chExt cx="118872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8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10" t="0" r="-29011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6116300" y="2962084"/>
            <a:ext cx="891540" cy="595052"/>
            <a:chOff x="0" y="0"/>
            <a:chExt cx="1188720" cy="79340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573000" y="4073652"/>
            <a:ext cx="4297680" cy="548640"/>
            <a:chOff x="0" y="0"/>
            <a:chExt cx="573024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730240" cy="731520"/>
            </a:xfrm>
            <a:custGeom>
              <a:avLst/>
              <a:gdLst/>
              <a:ahLst/>
              <a:cxnLst/>
              <a:rect r="r" b="b" t="t" l="l"/>
              <a:pathLst>
                <a:path h="73152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526" r="0" b="-102527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595879" y="3840153"/>
            <a:ext cx="4297680" cy="610320"/>
            <a:chOff x="0" y="0"/>
            <a:chExt cx="5730240" cy="8137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730240" cy="813760"/>
            </a:xfrm>
            <a:custGeom>
              <a:avLst/>
              <a:gdLst/>
              <a:ahLst/>
              <a:cxnLst/>
              <a:rect r="r" b="b" t="t" l="l"/>
              <a:pathLst>
                <a:path h="8137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813760"/>
                  </a:lnTo>
                  <a:lnTo>
                    <a:pt x="0" y="8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2260" r="0" b="-8215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5730240" cy="8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9"/>
                </a:lnSpc>
              </a:pPr>
              <a:r>
                <a:rPr lang="en-US" sz="312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 Engineering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573000" y="4622292"/>
            <a:ext cx="4297680" cy="754380"/>
            <a:chOff x="0" y="0"/>
            <a:chExt cx="5730240" cy="10058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7302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28" r="0" b="-60929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487275" y="4580971"/>
            <a:ext cx="4686300" cy="879173"/>
            <a:chOff x="0" y="0"/>
            <a:chExt cx="6248400" cy="117223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248400" cy="1172231"/>
            </a:xfrm>
            <a:custGeom>
              <a:avLst/>
              <a:gdLst/>
              <a:ahLst/>
              <a:cxnLst/>
              <a:rect r="r" b="b" t="t" l="l"/>
              <a:pathLst>
                <a:path h="1172231" w="6248400">
                  <a:moveTo>
                    <a:pt x="0" y="0"/>
                  </a:moveTo>
                  <a:lnTo>
                    <a:pt x="6248400" y="0"/>
                  </a:lnTo>
                  <a:lnTo>
                    <a:pt x="6248400" y="1172231"/>
                  </a:lnTo>
                  <a:lnTo>
                    <a:pt x="0" y="1172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127" r="8292" b="-3937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6248400" cy="1172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Cleaning, feature engineering &amp; KPI derivation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960120" y="6117369"/>
            <a:ext cx="5145643" cy="2836783"/>
          </a:xfrm>
          <a:custGeom>
            <a:avLst/>
            <a:gdLst/>
            <a:ahLst/>
            <a:cxnLst/>
            <a:rect r="r" b="b" t="t" l="l"/>
            <a:pathLst>
              <a:path h="2836783" w="5145643">
                <a:moveTo>
                  <a:pt x="0" y="0"/>
                </a:moveTo>
                <a:lnTo>
                  <a:pt x="5145643" y="0"/>
                </a:lnTo>
                <a:lnTo>
                  <a:pt x="5145643" y="2836783"/>
                </a:lnTo>
                <a:lnTo>
                  <a:pt x="0" y="28367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371600" y="6377940"/>
            <a:ext cx="822960" cy="822960"/>
            <a:chOff x="0" y="0"/>
            <a:chExt cx="1097280" cy="10972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552651" y="6558991"/>
            <a:ext cx="460820" cy="460820"/>
            <a:chOff x="0" y="0"/>
            <a:chExt cx="614426" cy="614426"/>
          </a:xfrm>
        </p:grpSpPr>
        <p:sp>
          <p:nvSpPr>
            <p:cNvPr name="Freeform 76" id="76" descr="/home/claude/deck/icons/brain_FFFFFF.png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914900" y="6268212"/>
            <a:ext cx="891540" cy="548640"/>
            <a:chOff x="0" y="0"/>
            <a:chExt cx="118872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8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10" t="0" r="-29011" b="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4914900" y="6253925"/>
            <a:ext cx="891540" cy="595052"/>
            <a:chOff x="0" y="0"/>
            <a:chExt cx="1188720" cy="793403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04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71600" y="7365492"/>
            <a:ext cx="4297680" cy="548640"/>
            <a:chOff x="0" y="0"/>
            <a:chExt cx="5730240" cy="7315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730240" cy="731520"/>
            </a:xfrm>
            <a:custGeom>
              <a:avLst/>
              <a:gdLst/>
              <a:ahLst/>
              <a:cxnLst/>
              <a:rect r="r" b="b" t="t" l="l"/>
              <a:pathLst>
                <a:path h="73152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526" r="0" b="-102527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406985" y="7065045"/>
            <a:ext cx="4297680" cy="610320"/>
            <a:chOff x="0" y="0"/>
            <a:chExt cx="5730240" cy="8137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730240" cy="813760"/>
            </a:xfrm>
            <a:custGeom>
              <a:avLst/>
              <a:gdLst/>
              <a:ahLst/>
              <a:cxnLst/>
              <a:rect r="r" b="b" t="t" l="l"/>
              <a:pathLst>
                <a:path h="8137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813760"/>
                  </a:lnTo>
                  <a:lnTo>
                    <a:pt x="0" y="8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2260" r="0" b="-82154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5730240" cy="8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9"/>
                </a:lnSpc>
              </a:pPr>
              <a:r>
                <a:rPr lang="en-US" sz="312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Machine Learning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71600" y="7914132"/>
            <a:ext cx="4297680" cy="754380"/>
            <a:chOff x="0" y="0"/>
            <a:chExt cx="5730240" cy="10058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7302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28" r="0" b="-60929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84106" y="7684890"/>
            <a:ext cx="4297680" cy="879173"/>
            <a:chOff x="0" y="0"/>
            <a:chExt cx="5730240" cy="117223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730240" cy="1172231"/>
            </a:xfrm>
            <a:custGeom>
              <a:avLst/>
              <a:gdLst/>
              <a:ahLst/>
              <a:cxnLst/>
              <a:rect r="r" b="b" t="t" l="l"/>
              <a:pathLst>
                <a:path h="1172231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172231"/>
                  </a:lnTo>
                  <a:lnTo>
                    <a:pt x="0" y="1172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127" r="0" b="-3937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5730240" cy="1172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Isolation Forest anomaly detection engine</a:t>
              </a:r>
            </a:p>
          </p:txBody>
        </p:sp>
      </p:grpSp>
      <p:sp>
        <p:nvSpPr>
          <p:cNvPr name="Freeform 92" id="92"/>
          <p:cNvSpPr/>
          <p:nvPr/>
        </p:nvSpPr>
        <p:spPr>
          <a:xfrm flipH="false" flipV="false" rot="0">
            <a:off x="6548314" y="6117369"/>
            <a:ext cx="5145643" cy="2836783"/>
          </a:xfrm>
          <a:custGeom>
            <a:avLst/>
            <a:gdLst/>
            <a:ahLst/>
            <a:cxnLst/>
            <a:rect r="r" b="b" t="t" l="l"/>
            <a:pathLst>
              <a:path h="2836783" w="5145643">
                <a:moveTo>
                  <a:pt x="0" y="0"/>
                </a:moveTo>
                <a:lnTo>
                  <a:pt x="5145643" y="0"/>
                </a:lnTo>
                <a:lnTo>
                  <a:pt x="5145643" y="2836783"/>
                </a:lnTo>
                <a:lnTo>
                  <a:pt x="0" y="28367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3" id="93"/>
          <p:cNvGrpSpPr/>
          <p:nvPr/>
        </p:nvGrpSpPr>
        <p:grpSpPr>
          <a:xfrm rot="0">
            <a:off x="6972300" y="6377940"/>
            <a:ext cx="822960" cy="822960"/>
            <a:chOff x="0" y="0"/>
            <a:chExt cx="1097280" cy="10972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153351" y="6558991"/>
            <a:ext cx="460820" cy="460820"/>
            <a:chOff x="0" y="0"/>
            <a:chExt cx="614426" cy="614426"/>
          </a:xfrm>
        </p:grpSpPr>
        <p:sp>
          <p:nvSpPr>
            <p:cNvPr name="Freeform 96" id="96" descr="/home/claude/deck/icons/chartpie_FFFFFF.png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0515600" y="6268212"/>
            <a:ext cx="891540" cy="548640"/>
            <a:chOff x="0" y="0"/>
            <a:chExt cx="1188720" cy="7315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18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10" t="0" r="-29011" b="0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0515600" y="6253925"/>
            <a:ext cx="891540" cy="595052"/>
            <a:chOff x="0" y="0"/>
            <a:chExt cx="1188720" cy="79340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05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6972300" y="7365492"/>
            <a:ext cx="4297680" cy="548640"/>
            <a:chOff x="0" y="0"/>
            <a:chExt cx="5730240" cy="73152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730240" cy="731520"/>
            </a:xfrm>
            <a:custGeom>
              <a:avLst/>
              <a:gdLst/>
              <a:ahLst/>
              <a:cxnLst/>
              <a:rect r="r" b="b" t="t" l="l"/>
              <a:pathLst>
                <a:path h="73152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526" r="0" b="-102527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6995179" y="7065045"/>
            <a:ext cx="4297680" cy="610320"/>
            <a:chOff x="0" y="0"/>
            <a:chExt cx="5730240" cy="81376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730240" cy="813760"/>
            </a:xfrm>
            <a:custGeom>
              <a:avLst/>
              <a:gdLst/>
              <a:ahLst/>
              <a:cxnLst/>
              <a:rect r="r" b="b" t="t" l="l"/>
              <a:pathLst>
                <a:path h="8137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813760"/>
                  </a:lnTo>
                  <a:lnTo>
                    <a:pt x="0" y="8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2260" r="0" b="-8215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5730240" cy="8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9"/>
                </a:lnSpc>
              </a:pPr>
              <a:r>
                <a:rPr lang="en-US" sz="312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Dashboard Suite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972300" y="7914132"/>
            <a:ext cx="4297680" cy="754380"/>
            <a:chOff x="0" y="0"/>
            <a:chExt cx="5730240" cy="10058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7302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28" r="0" b="-60929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6972300" y="7713591"/>
            <a:ext cx="4434840" cy="879173"/>
            <a:chOff x="0" y="0"/>
            <a:chExt cx="5913120" cy="1172231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913120" cy="1172231"/>
            </a:xfrm>
            <a:custGeom>
              <a:avLst/>
              <a:gdLst/>
              <a:ahLst/>
              <a:cxnLst/>
              <a:rect r="r" b="b" t="t" l="l"/>
              <a:pathLst>
                <a:path h="1172231" w="5913120">
                  <a:moveTo>
                    <a:pt x="0" y="0"/>
                  </a:moveTo>
                  <a:lnTo>
                    <a:pt x="5913120" y="0"/>
                  </a:lnTo>
                  <a:lnTo>
                    <a:pt x="5913120" y="1172231"/>
                  </a:lnTo>
                  <a:lnTo>
                    <a:pt x="0" y="1172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127" r="3092" b="-3937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5913120" cy="1172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Design philosophy behind the 7-page Power BI system</a:t>
              </a:r>
            </a:p>
          </p:txBody>
        </p:sp>
      </p:grpSp>
      <p:sp>
        <p:nvSpPr>
          <p:cNvPr name="Freeform 112" id="112"/>
          <p:cNvSpPr/>
          <p:nvPr/>
        </p:nvSpPr>
        <p:spPr>
          <a:xfrm flipH="false" flipV="false" rot="0">
            <a:off x="12149014" y="6117369"/>
            <a:ext cx="5145643" cy="2836783"/>
          </a:xfrm>
          <a:custGeom>
            <a:avLst/>
            <a:gdLst/>
            <a:ahLst/>
            <a:cxnLst/>
            <a:rect r="r" b="b" t="t" l="l"/>
            <a:pathLst>
              <a:path h="2836783" w="5145643">
                <a:moveTo>
                  <a:pt x="0" y="0"/>
                </a:moveTo>
                <a:lnTo>
                  <a:pt x="5145643" y="0"/>
                </a:lnTo>
                <a:lnTo>
                  <a:pt x="5145643" y="2836783"/>
                </a:lnTo>
                <a:lnTo>
                  <a:pt x="0" y="28367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3" id="113"/>
          <p:cNvGrpSpPr/>
          <p:nvPr/>
        </p:nvGrpSpPr>
        <p:grpSpPr>
          <a:xfrm rot="0">
            <a:off x="12573000" y="6377940"/>
            <a:ext cx="822960" cy="822960"/>
            <a:chOff x="0" y="0"/>
            <a:chExt cx="1097280" cy="109728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2754051" y="6558991"/>
            <a:ext cx="460820" cy="460820"/>
            <a:chOff x="0" y="0"/>
            <a:chExt cx="614426" cy="614426"/>
          </a:xfrm>
        </p:grpSpPr>
        <p:sp>
          <p:nvSpPr>
            <p:cNvPr name="Freeform 116" id="116" descr="/home/claude/deck/icons/chartbar_FFFFFF.png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6116300" y="6268212"/>
            <a:ext cx="891540" cy="548640"/>
            <a:chOff x="0" y="0"/>
            <a:chExt cx="1188720" cy="73152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18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10" t="0" r="-29011" b="0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6116300" y="6253925"/>
            <a:ext cx="891540" cy="595052"/>
            <a:chOff x="0" y="0"/>
            <a:chExt cx="1188720" cy="79340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06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2573000" y="7365492"/>
            <a:ext cx="4297680" cy="548640"/>
            <a:chOff x="0" y="0"/>
            <a:chExt cx="5730240" cy="73152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5730240" cy="731520"/>
            </a:xfrm>
            <a:custGeom>
              <a:avLst/>
              <a:gdLst/>
              <a:ahLst/>
              <a:cxnLst/>
              <a:rect r="r" b="b" t="t" l="l"/>
              <a:pathLst>
                <a:path h="73152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526" r="0" b="-102527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2595879" y="7103271"/>
            <a:ext cx="4297680" cy="610320"/>
            <a:chOff x="0" y="0"/>
            <a:chExt cx="5730240" cy="81376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5730240" cy="813760"/>
            </a:xfrm>
            <a:custGeom>
              <a:avLst/>
              <a:gdLst/>
              <a:ahLst/>
              <a:cxnLst/>
              <a:rect r="r" b="b" t="t" l="l"/>
              <a:pathLst>
                <a:path h="8137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813760"/>
                  </a:lnTo>
                  <a:lnTo>
                    <a:pt x="0" y="8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2260" r="0" b="-82154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0"/>
              <a:ext cx="5730240" cy="8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9"/>
                </a:lnSpc>
              </a:pPr>
              <a:r>
                <a:rPr lang="en-US" sz="312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 7 Dashboards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2573000" y="7914132"/>
            <a:ext cx="4297680" cy="754380"/>
            <a:chOff x="0" y="0"/>
            <a:chExt cx="5730240" cy="100584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57302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28" r="0" b="-60929"/>
              </a:stretch>
            </a:blip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2348667" y="7865429"/>
            <a:ext cx="4891583" cy="879173"/>
            <a:chOff x="0" y="0"/>
            <a:chExt cx="6522110" cy="1172231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522110" cy="1172231"/>
            </a:xfrm>
            <a:custGeom>
              <a:avLst/>
              <a:gdLst/>
              <a:ahLst/>
              <a:cxnLst/>
              <a:rect r="r" b="b" t="t" l="l"/>
              <a:pathLst>
                <a:path h="1172231" w="6522110">
                  <a:moveTo>
                    <a:pt x="0" y="0"/>
                  </a:moveTo>
                  <a:lnTo>
                    <a:pt x="6522110" y="0"/>
                  </a:lnTo>
                  <a:lnTo>
                    <a:pt x="6522110" y="1172231"/>
                  </a:lnTo>
                  <a:lnTo>
                    <a:pt x="0" y="1172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127" r="12141" b="-3937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0"/>
              <a:ext cx="6522110" cy="1172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walkthrough of every command center, page by page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17053103" y="9572625"/>
            <a:ext cx="822960" cy="440055"/>
            <a:chOff x="0" y="0"/>
            <a:chExt cx="1097280" cy="58674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09728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0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02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3154854" y="127702"/>
            <a:ext cx="2194560" cy="1353312"/>
            <a:chOff x="0" y="0"/>
            <a:chExt cx="2926080" cy="1804416"/>
          </a:xfrm>
        </p:grpSpPr>
        <p:sp>
          <p:nvSpPr>
            <p:cNvPr name="Freeform 143" id="143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31081" r="0" b="-31081"/>
              </a:stretch>
            </a:blip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5143721" y="127702"/>
            <a:ext cx="2732342" cy="1353312"/>
            <a:chOff x="0" y="0"/>
            <a:chExt cx="3643122" cy="1804416"/>
          </a:xfrm>
        </p:grpSpPr>
        <p:sp>
          <p:nvSpPr>
            <p:cNvPr name="Freeform 145" id="145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148" id="148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347" r="0" b="-345"/>
              </a:stretch>
            </a:blip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9525"/>
              <a:ext cx="29260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7125950" y="9417628"/>
            <a:ext cx="891540" cy="595052"/>
            <a:chOff x="0" y="0"/>
            <a:chExt cx="1188720" cy="793403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530352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spc="330">
                  <a:solidFill>
                    <a:srgbClr val="7FB069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CHAPTER 1 · PROJECT OVERVIEW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970283"/>
            <a:ext cx="14401800" cy="2104504"/>
            <a:chOff x="0" y="0"/>
            <a:chExt cx="19202400" cy="28060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2806005"/>
            </a:xfrm>
            <a:custGeom>
              <a:avLst/>
              <a:gdLst/>
              <a:ahLst/>
              <a:cxnLst/>
              <a:rect r="r" b="b" t="t" l="l"/>
              <a:pathLst>
                <a:path h="2806005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2806005"/>
                  </a:lnTo>
                  <a:lnTo>
                    <a:pt x="0" y="28060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562" r="0" b="-5812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2806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From Raw Transactions to Executive Strategy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3198612"/>
            <a:ext cx="9040054" cy="2821781"/>
            <a:chOff x="0" y="0"/>
            <a:chExt cx="12053405" cy="37623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53405" cy="3762375"/>
            </a:xfrm>
            <a:custGeom>
              <a:avLst/>
              <a:gdLst/>
              <a:ahLst/>
              <a:cxnLst/>
              <a:rect r="r" b="b" t="t" l="l"/>
              <a:pathLst>
                <a:path h="3762375" w="12053405">
                  <a:moveTo>
                    <a:pt x="0" y="0"/>
                  </a:moveTo>
                  <a:lnTo>
                    <a:pt x="12053405" y="0"/>
                  </a:lnTo>
                  <a:lnTo>
                    <a:pt x="12053405" y="3762375"/>
                  </a:lnTo>
                  <a:lnTo>
                    <a:pt x="0" y="37623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09" r="-138" b="-1250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2053405" cy="3838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9"/>
                </a:lnSpc>
              </a:pPr>
              <a:r>
                <a:rPr lang="en-US" sz="24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 rapid growth of global digital commerce generates massive volumes of transactional data, yet organizations struggle to turn granular operations into executive decisions. This project implements an end-to-end Modern Data Stack, built under the Digital Egypt Pioneers Initiative (DEPI), to close that gap.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6172200"/>
            <a:ext cx="9052560" cy="3181464"/>
            <a:chOff x="0" y="0"/>
            <a:chExt cx="12070080" cy="42419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070080" cy="4241952"/>
            </a:xfrm>
            <a:custGeom>
              <a:avLst/>
              <a:gdLst/>
              <a:ahLst/>
              <a:cxnLst/>
              <a:rect r="r" b="b" t="t" l="l"/>
              <a:pathLst>
                <a:path h="4241952" w="12070080">
                  <a:moveTo>
                    <a:pt x="0" y="215954"/>
                  </a:moveTo>
                  <a:cubicBezTo>
                    <a:pt x="0" y="96729"/>
                    <a:pt x="114681" y="0"/>
                    <a:pt x="256032" y="0"/>
                  </a:cubicBezTo>
                  <a:lnTo>
                    <a:pt x="11814048" y="0"/>
                  </a:lnTo>
                  <a:cubicBezTo>
                    <a:pt x="11955399" y="0"/>
                    <a:pt x="12070080" y="96729"/>
                    <a:pt x="12070080" y="215954"/>
                  </a:cubicBezTo>
                  <a:lnTo>
                    <a:pt x="12070080" y="4025998"/>
                  </a:lnTo>
                  <a:cubicBezTo>
                    <a:pt x="12070080" y="4145223"/>
                    <a:pt x="11955399" y="4241952"/>
                    <a:pt x="11814048" y="4241952"/>
                  </a:cubicBezTo>
                  <a:lnTo>
                    <a:pt x="256032" y="4241952"/>
                  </a:lnTo>
                  <a:cubicBezTo>
                    <a:pt x="114681" y="4241952"/>
                    <a:pt x="0" y="4145223"/>
                    <a:pt x="0" y="4025998"/>
                  </a:cubicBezTo>
                  <a:close/>
                </a:path>
              </a:pathLst>
            </a:custGeom>
            <a:solidFill>
              <a:srgbClr val="7FB069">
                <a:alpha val="80784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71600" y="5760720"/>
            <a:ext cx="8229600" cy="548640"/>
            <a:chOff x="0" y="0"/>
            <a:chExt cx="109728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072" r="0" b="-24207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34440" y="6487659"/>
            <a:ext cx="8229600" cy="559584"/>
            <a:chOff x="0" y="0"/>
            <a:chExt cx="10972800" cy="7461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746112"/>
            </a:xfrm>
            <a:custGeom>
              <a:avLst/>
              <a:gdLst/>
              <a:ahLst/>
              <a:cxnLst/>
              <a:rect r="r" b="b" t="t" l="l"/>
              <a:pathLst>
                <a:path h="74611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46112"/>
                  </a:lnTo>
                  <a:lnTo>
                    <a:pt x="0" y="7461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6260" r="0" b="-23685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0972800" cy="746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49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 Single Source of Truth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34440" y="7065593"/>
            <a:ext cx="8229600" cy="1767772"/>
            <a:chOff x="0" y="0"/>
            <a:chExt cx="10972800" cy="23570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2357030"/>
            </a:xfrm>
            <a:custGeom>
              <a:avLst/>
              <a:gdLst/>
              <a:ahLst/>
              <a:cxnLst/>
              <a:rect r="r" b="b" t="t" l="l"/>
              <a:pathLst>
                <a:path h="235703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357030"/>
                  </a:lnTo>
                  <a:lnTo>
                    <a:pt x="0" y="23570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759" r="0" b="-5265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0972800" cy="241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0"/>
                </a:lnSpc>
              </a:pPr>
              <a:r>
                <a:rPr lang="en-US" sz="2274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Raw e-commerce data is transformed into a centralized Data Warehouse using the Medallion Architecture ,  establishing an SSOT that powers demand forecasting and automatically flags margin-eroding “Bleeding SKUs.”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492740" y="2400300"/>
            <a:ext cx="6789420" cy="480060"/>
            <a:chOff x="0" y="0"/>
            <a:chExt cx="9052560" cy="640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52560" cy="640080"/>
            </a:xfrm>
            <a:custGeom>
              <a:avLst/>
              <a:gdLst/>
              <a:ahLst/>
              <a:cxnLst/>
              <a:rect r="r" b="b" t="t" l="l"/>
              <a:pathLst>
                <a:path h="64008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382" r="0" b="-225382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794492" y="2400300"/>
            <a:ext cx="6789420" cy="720168"/>
            <a:chOff x="0" y="0"/>
            <a:chExt cx="9052560" cy="9602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052560" cy="960224"/>
            </a:xfrm>
            <a:custGeom>
              <a:avLst/>
              <a:gdLst/>
              <a:ahLst/>
              <a:cxnLst/>
              <a:rect r="r" b="b" t="t" l="l"/>
              <a:pathLst>
                <a:path h="960224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960224"/>
                  </a:lnTo>
                  <a:lnTo>
                    <a:pt x="0" y="9602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7886" r="0" b="-11950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9052560" cy="960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9"/>
                </a:lnSpc>
              </a:pPr>
              <a:r>
                <a:rPr lang="en-US" b="true" sz="3649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Four Analytical Pillars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0480234" y="3005014"/>
            <a:ext cx="6814423" cy="1328023"/>
          </a:xfrm>
          <a:custGeom>
            <a:avLst/>
            <a:gdLst/>
            <a:ahLst/>
            <a:cxnLst/>
            <a:rect r="r" b="b" t="t" l="l"/>
            <a:pathLst>
              <a:path h="1328023" w="6814423">
                <a:moveTo>
                  <a:pt x="0" y="0"/>
                </a:moveTo>
                <a:lnTo>
                  <a:pt x="6814423" y="0"/>
                </a:lnTo>
                <a:lnTo>
                  <a:pt x="6814423" y="1328023"/>
                </a:lnTo>
                <a:lnTo>
                  <a:pt x="0" y="13280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0794492" y="3250692"/>
            <a:ext cx="822960" cy="822960"/>
            <a:chOff x="0" y="0"/>
            <a:chExt cx="109728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975543" y="3431743"/>
            <a:ext cx="460820" cy="460820"/>
            <a:chOff x="0" y="0"/>
            <a:chExt cx="614426" cy="614426"/>
          </a:xfrm>
        </p:grpSpPr>
        <p:sp>
          <p:nvSpPr>
            <p:cNvPr name="Freeform 34" id="34" descr="/home/claude/deck/icons/boxes_FFFFFF.png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864340" y="3017520"/>
            <a:ext cx="5143500" cy="1303020"/>
            <a:chOff x="0" y="0"/>
            <a:chExt cx="6858000" cy="1737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580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61" r="0" b="-26861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864340" y="2988945"/>
            <a:ext cx="5143500" cy="1331595"/>
            <a:chOff x="0" y="0"/>
            <a:chExt cx="6858000" cy="17754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58000" cy="1775460"/>
            </a:xfrm>
            <a:custGeom>
              <a:avLst/>
              <a:gdLst/>
              <a:ahLst/>
              <a:cxnLst/>
              <a:rect r="r" b="b" t="t" l="l"/>
              <a:pathLst>
                <a:path h="177546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775460"/>
                  </a:lnTo>
                  <a:lnTo>
                    <a:pt x="0" y="17754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64" r="0" b="-2526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6858000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874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Product Intelligence &amp; Portfolio Optimization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0480234" y="4582354"/>
            <a:ext cx="6814423" cy="1328023"/>
          </a:xfrm>
          <a:custGeom>
            <a:avLst/>
            <a:gdLst/>
            <a:ahLst/>
            <a:cxnLst/>
            <a:rect r="r" b="b" t="t" l="l"/>
            <a:pathLst>
              <a:path h="1328023" w="6814423">
                <a:moveTo>
                  <a:pt x="0" y="0"/>
                </a:moveTo>
                <a:lnTo>
                  <a:pt x="6814423" y="0"/>
                </a:lnTo>
                <a:lnTo>
                  <a:pt x="6814423" y="1328023"/>
                </a:lnTo>
                <a:lnTo>
                  <a:pt x="0" y="13280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0794492" y="4828032"/>
            <a:ext cx="822960" cy="822960"/>
            <a:chOff x="0" y="0"/>
            <a:chExt cx="109728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975543" y="5009083"/>
            <a:ext cx="460820" cy="460820"/>
            <a:chOff x="0" y="0"/>
            <a:chExt cx="614426" cy="614426"/>
          </a:xfrm>
        </p:grpSpPr>
        <p:sp>
          <p:nvSpPr>
            <p:cNvPr name="Freeform 44" id="44" descr="/home/claude/deck/icons/brain_FFFFFF.png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864340" y="4594860"/>
            <a:ext cx="5143500" cy="1303020"/>
            <a:chOff x="0" y="0"/>
            <a:chExt cx="6858000" cy="1737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580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61" r="0" b="-26861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64340" y="4566285"/>
            <a:ext cx="5143500" cy="1331595"/>
            <a:chOff x="0" y="0"/>
            <a:chExt cx="6858000" cy="17754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58000" cy="1775460"/>
            </a:xfrm>
            <a:custGeom>
              <a:avLst/>
              <a:gdLst/>
              <a:ahLst/>
              <a:cxnLst/>
              <a:rect r="r" b="b" t="t" l="l"/>
              <a:pathLst>
                <a:path h="177546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775460"/>
                  </a:lnTo>
                  <a:lnTo>
                    <a:pt x="0" y="17754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64" r="0" b="-2526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6858000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874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Machine Learning &amp; Predictive Analytics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10480234" y="6159694"/>
            <a:ext cx="6814423" cy="1328023"/>
          </a:xfrm>
          <a:custGeom>
            <a:avLst/>
            <a:gdLst/>
            <a:ahLst/>
            <a:cxnLst/>
            <a:rect r="r" b="b" t="t" l="l"/>
            <a:pathLst>
              <a:path h="1328023" w="6814423">
                <a:moveTo>
                  <a:pt x="0" y="0"/>
                </a:moveTo>
                <a:lnTo>
                  <a:pt x="6814423" y="0"/>
                </a:lnTo>
                <a:lnTo>
                  <a:pt x="6814423" y="1328023"/>
                </a:lnTo>
                <a:lnTo>
                  <a:pt x="0" y="13280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0794492" y="6405372"/>
            <a:ext cx="822960" cy="822960"/>
            <a:chOff x="0" y="0"/>
            <a:chExt cx="1097280" cy="1097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975543" y="6586423"/>
            <a:ext cx="460820" cy="460820"/>
            <a:chOff x="0" y="0"/>
            <a:chExt cx="614426" cy="614426"/>
          </a:xfrm>
        </p:grpSpPr>
        <p:sp>
          <p:nvSpPr>
            <p:cNvPr name="Freeform 54" id="54" descr="/home/claude/deck/icons/bullhorn_FFFFFF.png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864340" y="6172200"/>
            <a:ext cx="5143500" cy="1303020"/>
            <a:chOff x="0" y="0"/>
            <a:chExt cx="6858000" cy="1737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8580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61" r="0" b="-26861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864340" y="6143625"/>
            <a:ext cx="5143500" cy="1331595"/>
            <a:chOff x="0" y="0"/>
            <a:chExt cx="6858000" cy="17754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858000" cy="1775460"/>
            </a:xfrm>
            <a:custGeom>
              <a:avLst/>
              <a:gdLst/>
              <a:ahLst/>
              <a:cxnLst/>
              <a:rect r="r" b="b" t="t" l="l"/>
              <a:pathLst>
                <a:path h="177546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775460"/>
                  </a:lnTo>
                  <a:lnTo>
                    <a:pt x="0" y="17754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64" r="0" b="-2526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6858000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874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Advertising (PPC) &amp; Halo Effect Analysis</a:t>
              </a: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10480234" y="7737034"/>
            <a:ext cx="6814423" cy="1328023"/>
          </a:xfrm>
          <a:custGeom>
            <a:avLst/>
            <a:gdLst/>
            <a:ahLst/>
            <a:cxnLst/>
            <a:rect r="r" b="b" t="t" l="l"/>
            <a:pathLst>
              <a:path h="1328023" w="6814423">
                <a:moveTo>
                  <a:pt x="0" y="0"/>
                </a:moveTo>
                <a:lnTo>
                  <a:pt x="6814423" y="0"/>
                </a:lnTo>
                <a:lnTo>
                  <a:pt x="6814423" y="1328023"/>
                </a:lnTo>
                <a:lnTo>
                  <a:pt x="0" y="13280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10794492" y="7982712"/>
            <a:ext cx="822960" cy="822960"/>
            <a:chOff x="0" y="0"/>
            <a:chExt cx="1097280" cy="10972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975543" y="8163763"/>
            <a:ext cx="460820" cy="460820"/>
            <a:chOff x="0" y="0"/>
            <a:chExt cx="614426" cy="614426"/>
          </a:xfrm>
        </p:grpSpPr>
        <p:sp>
          <p:nvSpPr>
            <p:cNvPr name="Freeform 64" id="64" descr="/home/claude/deck/icons/balance_FFFFFF.png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864340" y="7749540"/>
            <a:ext cx="5143500" cy="1303020"/>
            <a:chOff x="0" y="0"/>
            <a:chExt cx="6858000" cy="17373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8580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61" r="0" b="-26861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864340" y="7720965"/>
            <a:ext cx="5143500" cy="1331595"/>
            <a:chOff x="0" y="0"/>
            <a:chExt cx="6858000" cy="17754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858000" cy="1775460"/>
            </a:xfrm>
            <a:custGeom>
              <a:avLst/>
              <a:gdLst/>
              <a:ahLst/>
              <a:cxnLst/>
              <a:rect r="r" b="b" t="t" l="l"/>
              <a:pathLst>
                <a:path h="177546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775460"/>
                  </a:lnTo>
                  <a:lnTo>
                    <a:pt x="0" y="17754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64" r="0" b="-2526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6858000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874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Financial Risk &amp; Operational Efficiency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7053103" y="9572625"/>
            <a:ext cx="822960" cy="440055"/>
            <a:chOff x="0" y="0"/>
            <a:chExt cx="1097280" cy="5867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728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03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81" id="81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83" id="83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1081" r="0" b="-31081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347" r="0" b="-345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9525"/>
              <a:ext cx="29260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7138142" y="9417628"/>
            <a:ext cx="891540" cy="595052"/>
            <a:chOff x="0" y="0"/>
            <a:chExt cx="1188720" cy="79340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330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CHAPTER 1 · DATA FOUNDATION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1110424"/>
            <a:ext cx="14401800" cy="1190104"/>
            <a:chOff x="0" y="0"/>
            <a:chExt cx="19202400" cy="15868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586805"/>
            </a:xfrm>
            <a:custGeom>
              <a:avLst/>
              <a:gdLst/>
              <a:ahLst/>
              <a:cxnLst/>
              <a:rect r="r" b="b" t="t" l="l"/>
              <a:pathLst>
                <a:path h="1586805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586805"/>
                  </a:lnTo>
                  <a:lnTo>
                    <a:pt x="0" y="15868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1975" r="0" b="-1796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58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 Dataset Behind the Story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537460"/>
            <a:ext cx="3771900" cy="2743200"/>
            <a:chOff x="0" y="0"/>
            <a:chExt cx="5029200" cy="3657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29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02920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4773168" y="0"/>
                  </a:lnTo>
                  <a:cubicBezTo>
                    <a:pt x="4914519" y="0"/>
                    <a:pt x="5029200" y="114681"/>
                    <a:pt x="5029200" y="256032"/>
                  </a:cubicBezTo>
                  <a:lnTo>
                    <a:pt x="5029200" y="3401568"/>
                  </a:lnTo>
                  <a:cubicBezTo>
                    <a:pt x="5029200" y="3542919"/>
                    <a:pt x="4914519" y="3657600"/>
                    <a:pt x="4773168" y="3657600"/>
                  </a:cubicBezTo>
                  <a:lnTo>
                    <a:pt x="256032" y="3657600"/>
                  </a:lnTo>
                  <a:cubicBezTo>
                    <a:pt x="114681" y="3657600"/>
                    <a:pt x="0" y="3542919"/>
                    <a:pt x="0" y="340156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03020" y="2880360"/>
            <a:ext cx="754380" cy="754380"/>
            <a:chOff x="0" y="0"/>
            <a:chExt cx="100584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68984" y="3046324"/>
            <a:ext cx="422434" cy="422434"/>
            <a:chOff x="0" y="0"/>
            <a:chExt cx="563245" cy="563245"/>
          </a:xfrm>
        </p:grpSpPr>
        <p:sp>
          <p:nvSpPr>
            <p:cNvPr name="Freeform 17" id="17" descr="/home/claude/deck/icons/database_1B4332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34440" y="3813048"/>
            <a:ext cx="3223260" cy="754380"/>
            <a:chOff x="0" y="0"/>
            <a:chExt cx="4297680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976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96" r="0" b="-3319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263140" y="2833740"/>
            <a:ext cx="3223260" cy="769758"/>
            <a:chOff x="0" y="0"/>
            <a:chExt cx="4297680" cy="10263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97680" cy="1026344"/>
            </a:xfrm>
            <a:custGeom>
              <a:avLst/>
              <a:gdLst/>
              <a:ahLst/>
              <a:cxnLst/>
              <a:rect r="r" b="b" t="t" l="l"/>
              <a:pathLst>
                <a:path h="1026344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026344"/>
                  </a:lnTo>
                  <a:lnTo>
                    <a:pt x="0" y="1026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589" r="0" b="-3059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297680" cy="10263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13,000+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4440" y="4594860"/>
            <a:ext cx="3223260" cy="685800"/>
            <a:chOff x="0" y="0"/>
            <a:chExt cx="429768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97680" cy="914400"/>
            </a:xfrm>
            <a:custGeom>
              <a:avLst/>
              <a:gdLst/>
              <a:ahLst/>
              <a:cxnLst/>
              <a:rect r="r" b="b" t="t" l="l"/>
              <a:pathLst>
                <a:path h="9144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16" r="0" b="-4151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34440" y="4011858"/>
            <a:ext cx="3223260" cy="831866"/>
            <a:chOff x="0" y="0"/>
            <a:chExt cx="4297680" cy="11091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97680" cy="1109155"/>
            </a:xfrm>
            <a:custGeom>
              <a:avLst/>
              <a:gdLst/>
              <a:ahLst/>
              <a:cxnLst/>
              <a:rect r="r" b="b" t="t" l="l"/>
              <a:pathLst>
                <a:path h="1109155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109155"/>
                  </a:lnTo>
                  <a:lnTo>
                    <a:pt x="0" y="11091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561" r="0" b="-1843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4297680" cy="1137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274">
                  <a:solidFill>
                    <a:srgbClr val="CFE3D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Real-world corporate</a:t>
              </a:r>
            </a:p>
            <a:p>
              <a:pPr algn="l">
                <a:lnSpc>
                  <a:spcPts val="3002"/>
                </a:lnSpc>
              </a:pPr>
              <a:r>
                <a:rPr lang="en-US" sz="2274">
                  <a:solidFill>
                    <a:srgbClr val="CFE3D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transaction records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143500" y="2537460"/>
            <a:ext cx="3771900" cy="2743200"/>
            <a:chOff x="0" y="0"/>
            <a:chExt cx="5029200" cy="3657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29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02920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4773168" y="0"/>
                  </a:lnTo>
                  <a:cubicBezTo>
                    <a:pt x="4914519" y="0"/>
                    <a:pt x="5029200" y="114681"/>
                    <a:pt x="5029200" y="256032"/>
                  </a:cubicBezTo>
                  <a:lnTo>
                    <a:pt x="5029200" y="3401568"/>
                  </a:lnTo>
                  <a:cubicBezTo>
                    <a:pt x="5029200" y="3542919"/>
                    <a:pt x="4914519" y="3657600"/>
                    <a:pt x="4773168" y="3657600"/>
                  </a:cubicBezTo>
                  <a:lnTo>
                    <a:pt x="256032" y="3657600"/>
                  </a:lnTo>
                  <a:cubicBezTo>
                    <a:pt x="114681" y="3657600"/>
                    <a:pt x="0" y="3542919"/>
                    <a:pt x="0" y="340156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486400" y="2880360"/>
            <a:ext cx="754380" cy="754380"/>
            <a:chOff x="0" y="0"/>
            <a:chExt cx="100584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652364" y="3046324"/>
            <a:ext cx="422434" cy="422434"/>
            <a:chOff x="0" y="0"/>
            <a:chExt cx="563245" cy="563245"/>
          </a:xfrm>
        </p:grpSpPr>
        <p:sp>
          <p:nvSpPr>
            <p:cNvPr name="Freeform 33" id="33" descr="/home/claude/deck/icons/listol_1B4332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417820" y="3813048"/>
            <a:ext cx="3223260" cy="754380"/>
            <a:chOff x="0" y="0"/>
            <a:chExt cx="4297680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976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96" r="0" b="-33195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569964" y="2833740"/>
            <a:ext cx="3223260" cy="769758"/>
            <a:chOff x="0" y="0"/>
            <a:chExt cx="4297680" cy="102634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97680" cy="1026344"/>
            </a:xfrm>
            <a:custGeom>
              <a:avLst/>
              <a:gdLst/>
              <a:ahLst/>
              <a:cxnLst/>
              <a:rect r="r" b="b" t="t" l="l"/>
              <a:pathLst>
                <a:path h="1026344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026344"/>
                  </a:lnTo>
                  <a:lnTo>
                    <a:pt x="0" y="1026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589" r="0" b="-3059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297680" cy="10263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37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417820" y="4594860"/>
            <a:ext cx="3223260" cy="685800"/>
            <a:chOff x="0" y="0"/>
            <a:chExt cx="429768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97680" cy="914400"/>
            </a:xfrm>
            <a:custGeom>
              <a:avLst/>
              <a:gdLst/>
              <a:ahLst/>
              <a:cxnLst/>
              <a:rect r="r" b="b" t="t" l="l"/>
              <a:pathLst>
                <a:path h="9144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16" r="0" b="-4151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486400" y="4003548"/>
            <a:ext cx="3223260" cy="831866"/>
            <a:chOff x="0" y="0"/>
            <a:chExt cx="4297680" cy="110915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97680" cy="1109155"/>
            </a:xfrm>
            <a:custGeom>
              <a:avLst/>
              <a:gdLst/>
              <a:ahLst/>
              <a:cxnLst/>
              <a:rect r="r" b="b" t="t" l="l"/>
              <a:pathLst>
                <a:path h="1109155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109155"/>
                  </a:lnTo>
                  <a:lnTo>
                    <a:pt x="0" y="11091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561" r="0" b="-1843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297680" cy="1137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274">
                  <a:solidFill>
                    <a:srgbClr val="CFE3D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Granular attributes per</a:t>
              </a:r>
            </a:p>
            <a:p>
              <a:pPr algn="l">
                <a:lnSpc>
                  <a:spcPts val="3002"/>
                </a:lnSpc>
              </a:pPr>
              <a:r>
                <a:rPr lang="en-US" sz="2274">
                  <a:solidFill>
                    <a:srgbClr val="CFE3D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transaction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26880" y="2537460"/>
            <a:ext cx="3771900" cy="2743200"/>
            <a:chOff x="0" y="0"/>
            <a:chExt cx="5029200" cy="3657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29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02920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4773168" y="0"/>
                  </a:lnTo>
                  <a:cubicBezTo>
                    <a:pt x="4914519" y="0"/>
                    <a:pt x="5029200" y="114681"/>
                    <a:pt x="5029200" y="256032"/>
                  </a:cubicBezTo>
                  <a:lnTo>
                    <a:pt x="5029200" y="3401568"/>
                  </a:lnTo>
                  <a:cubicBezTo>
                    <a:pt x="5029200" y="3542919"/>
                    <a:pt x="4914519" y="3657600"/>
                    <a:pt x="4773168" y="3657600"/>
                  </a:cubicBezTo>
                  <a:lnTo>
                    <a:pt x="256032" y="3657600"/>
                  </a:lnTo>
                  <a:cubicBezTo>
                    <a:pt x="114681" y="3657600"/>
                    <a:pt x="0" y="3542919"/>
                    <a:pt x="0" y="340156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669780" y="2880360"/>
            <a:ext cx="754380" cy="754380"/>
            <a:chOff x="0" y="0"/>
            <a:chExt cx="100584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835744" y="3046324"/>
            <a:ext cx="422434" cy="422434"/>
            <a:chOff x="0" y="0"/>
            <a:chExt cx="563245" cy="563245"/>
          </a:xfrm>
        </p:grpSpPr>
        <p:sp>
          <p:nvSpPr>
            <p:cNvPr name="Freeform 49" id="49" descr="/home/claude/deck/icons/globe_1B4332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601200" y="3813048"/>
            <a:ext cx="3223260" cy="754380"/>
            <a:chOff x="0" y="0"/>
            <a:chExt cx="4297680" cy="1005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976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96" r="0" b="-33195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795864" y="2881365"/>
            <a:ext cx="3223260" cy="769758"/>
            <a:chOff x="0" y="0"/>
            <a:chExt cx="4297680" cy="10263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97680" cy="1026344"/>
            </a:xfrm>
            <a:custGeom>
              <a:avLst/>
              <a:gdLst/>
              <a:ahLst/>
              <a:cxnLst/>
              <a:rect r="r" b="b" t="t" l="l"/>
              <a:pathLst>
                <a:path h="1026344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026344"/>
                  </a:lnTo>
                  <a:lnTo>
                    <a:pt x="0" y="1026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589" r="0" b="-3059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297680" cy="10263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601200" y="4594860"/>
            <a:ext cx="3223260" cy="685800"/>
            <a:chOff x="0" y="0"/>
            <a:chExt cx="4297680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97680" cy="914400"/>
            </a:xfrm>
            <a:custGeom>
              <a:avLst/>
              <a:gdLst/>
              <a:ahLst/>
              <a:cxnLst/>
              <a:rect r="r" b="b" t="t" l="l"/>
              <a:pathLst>
                <a:path h="9144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16" r="0" b="-41515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601200" y="3813048"/>
            <a:ext cx="3025683" cy="1212866"/>
            <a:chOff x="0" y="0"/>
            <a:chExt cx="4034244" cy="161715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034244" cy="1617155"/>
            </a:xfrm>
            <a:custGeom>
              <a:avLst/>
              <a:gdLst/>
              <a:ahLst/>
              <a:cxnLst/>
              <a:rect r="r" b="b" t="t" l="l"/>
              <a:pathLst>
                <a:path h="1617155" w="4034244">
                  <a:moveTo>
                    <a:pt x="0" y="0"/>
                  </a:moveTo>
                  <a:lnTo>
                    <a:pt x="4034244" y="0"/>
                  </a:lnTo>
                  <a:lnTo>
                    <a:pt x="4034244" y="1617155"/>
                  </a:lnTo>
                  <a:lnTo>
                    <a:pt x="0" y="16171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332" r="-6530" b="1876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4034244" cy="1645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274">
                  <a:solidFill>
                    <a:srgbClr val="CFE3D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European marketplaces</a:t>
              </a:r>
            </a:p>
            <a:p>
              <a:pPr algn="l">
                <a:lnSpc>
                  <a:spcPts val="3002"/>
                </a:lnSpc>
              </a:pPr>
              <a:r>
                <a:rPr lang="en-US" sz="2274">
                  <a:solidFill>
                    <a:srgbClr val="CFE3D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UK · DE · FR · IT · ES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510260" y="2537460"/>
            <a:ext cx="3771900" cy="2743200"/>
            <a:chOff x="0" y="0"/>
            <a:chExt cx="5029200" cy="36576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029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02920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4773168" y="0"/>
                  </a:lnTo>
                  <a:cubicBezTo>
                    <a:pt x="4914519" y="0"/>
                    <a:pt x="5029200" y="114681"/>
                    <a:pt x="5029200" y="256032"/>
                  </a:cubicBezTo>
                  <a:lnTo>
                    <a:pt x="5029200" y="3401568"/>
                  </a:lnTo>
                  <a:cubicBezTo>
                    <a:pt x="5029200" y="3542919"/>
                    <a:pt x="4914519" y="3657600"/>
                    <a:pt x="4773168" y="3657600"/>
                  </a:cubicBezTo>
                  <a:lnTo>
                    <a:pt x="256032" y="3657600"/>
                  </a:lnTo>
                  <a:cubicBezTo>
                    <a:pt x="114681" y="3657600"/>
                    <a:pt x="0" y="3542919"/>
                    <a:pt x="0" y="340156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853160" y="2880360"/>
            <a:ext cx="754380" cy="754380"/>
            <a:chOff x="0" y="0"/>
            <a:chExt cx="1005840" cy="1005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019124" y="3046324"/>
            <a:ext cx="422434" cy="422434"/>
            <a:chOff x="0" y="0"/>
            <a:chExt cx="563245" cy="563245"/>
          </a:xfrm>
        </p:grpSpPr>
        <p:sp>
          <p:nvSpPr>
            <p:cNvPr name="Freeform 65" id="65" descr="/home/claude/deck/icons/cogs_1B4332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784580" y="3813048"/>
            <a:ext cx="3223260" cy="754380"/>
            <a:chOff x="0" y="0"/>
            <a:chExt cx="4297680" cy="10058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976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96" r="0" b="-33195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998446" y="2881365"/>
            <a:ext cx="3223260" cy="769758"/>
            <a:chOff x="0" y="0"/>
            <a:chExt cx="4297680" cy="102634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297680" cy="1026344"/>
            </a:xfrm>
            <a:custGeom>
              <a:avLst/>
              <a:gdLst/>
              <a:ahLst/>
              <a:cxnLst/>
              <a:rect r="r" b="b" t="t" l="l"/>
              <a:pathLst>
                <a:path h="1026344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026344"/>
                  </a:lnTo>
                  <a:lnTo>
                    <a:pt x="0" y="1026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589" r="0" b="-3059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4297680" cy="10263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784580" y="4594860"/>
            <a:ext cx="3223260" cy="685800"/>
            <a:chOff x="0" y="0"/>
            <a:chExt cx="4297680" cy="914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297680" cy="914400"/>
            </a:xfrm>
            <a:custGeom>
              <a:avLst/>
              <a:gdLst/>
              <a:ahLst/>
              <a:cxnLst/>
              <a:rect r="r" b="b" t="t" l="l"/>
              <a:pathLst>
                <a:path h="9144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16" r="0" b="-41515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3784580" y="3813048"/>
            <a:ext cx="3086100" cy="1212866"/>
            <a:chOff x="0" y="0"/>
            <a:chExt cx="4114800" cy="161715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114800" cy="1617155"/>
            </a:xfrm>
            <a:custGeom>
              <a:avLst/>
              <a:gdLst/>
              <a:ahLst/>
              <a:cxnLst/>
              <a:rect r="r" b="b" t="t" l="l"/>
              <a:pathLst>
                <a:path h="1617155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617155"/>
                  </a:lnTo>
                  <a:lnTo>
                    <a:pt x="0" y="16171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332" r="-4444" b="18767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4114800" cy="1645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274">
                  <a:solidFill>
                    <a:srgbClr val="CFE3D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Processing tools</a:t>
              </a:r>
            </a:p>
            <a:p>
              <a:pPr algn="l">
                <a:lnSpc>
                  <a:spcPts val="3002"/>
                </a:lnSpc>
              </a:pPr>
              <a:r>
                <a:rPr lang="en-US" sz="2274">
                  <a:solidFill>
                    <a:srgbClr val="CFE3D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SQL · Python · Excel · Power BI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60120" y="5692140"/>
            <a:ext cx="8229600" cy="480060"/>
            <a:chOff x="0" y="0"/>
            <a:chExt cx="10972800" cy="6400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797" r="0" b="-283795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028700" y="5586674"/>
            <a:ext cx="8229600" cy="585526"/>
            <a:chOff x="0" y="0"/>
            <a:chExt cx="10972800" cy="78070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0" cy="780701"/>
            </a:xfrm>
            <a:custGeom>
              <a:avLst/>
              <a:gdLst/>
              <a:ahLst/>
              <a:cxnLst/>
              <a:rect r="r" b="b" t="t" l="l"/>
              <a:pathLst>
                <a:path h="780701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701"/>
                  </a:lnTo>
                  <a:lnTo>
                    <a:pt x="0" y="7807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1649" r="0" b="-21607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9525"/>
              <a:ext cx="10972800" cy="771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Key Metrics Tracked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60120" y="6377940"/>
            <a:ext cx="2667762" cy="576072"/>
            <a:chOff x="0" y="0"/>
            <a:chExt cx="3557016" cy="76809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557016" cy="768096"/>
            </a:xfrm>
            <a:custGeom>
              <a:avLst/>
              <a:gdLst/>
              <a:ahLst/>
              <a:cxnLst/>
              <a:rect r="r" b="b" t="t" l="l"/>
              <a:pathLst>
                <a:path h="768096" w="355701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410712" y="0"/>
                  </a:lnTo>
                  <a:cubicBezTo>
                    <a:pt x="3491484" y="0"/>
                    <a:pt x="3557016" y="65532"/>
                    <a:pt x="3557016" y="146304"/>
                  </a:cubicBezTo>
                  <a:lnTo>
                    <a:pt x="3557016" y="621792"/>
                  </a:lnTo>
                  <a:cubicBezTo>
                    <a:pt x="3557016" y="702564"/>
                    <a:pt x="3491484" y="768096"/>
                    <a:pt x="3410712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60120" y="6377940"/>
            <a:ext cx="2667762" cy="576072"/>
            <a:chOff x="0" y="0"/>
            <a:chExt cx="3557016" cy="76809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557016" cy="768096"/>
            </a:xfrm>
            <a:custGeom>
              <a:avLst/>
              <a:gdLst/>
              <a:ahLst/>
              <a:cxnLst/>
              <a:rect r="r" b="b" t="t" l="l"/>
              <a:pathLst>
                <a:path h="768096" w="3557016">
                  <a:moveTo>
                    <a:pt x="0" y="0"/>
                  </a:moveTo>
                  <a:lnTo>
                    <a:pt x="3557016" y="0"/>
                  </a:lnTo>
                  <a:lnTo>
                    <a:pt x="355701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71" r="0" b="-4017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60120" y="6356509"/>
            <a:ext cx="2667762" cy="597503"/>
            <a:chOff x="0" y="0"/>
            <a:chExt cx="3557016" cy="79667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557016" cy="796671"/>
            </a:xfrm>
            <a:custGeom>
              <a:avLst/>
              <a:gdLst/>
              <a:ahLst/>
              <a:cxnLst/>
              <a:rect r="r" b="b" t="t" l="l"/>
              <a:pathLst>
                <a:path h="796671" w="3557016">
                  <a:moveTo>
                    <a:pt x="0" y="0"/>
                  </a:moveTo>
                  <a:lnTo>
                    <a:pt x="3557016" y="0"/>
                  </a:lnTo>
                  <a:lnTo>
                    <a:pt x="3557016" y="796671"/>
                  </a:lnTo>
                  <a:lnTo>
                    <a:pt x="0" y="7966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997" r="0" b="-36997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557016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SKU Identifiers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3946169" y="6377940"/>
            <a:ext cx="2285048" cy="576072"/>
            <a:chOff x="0" y="0"/>
            <a:chExt cx="3046730" cy="76809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046730" cy="768096"/>
            </a:xfrm>
            <a:custGeom>
              <a:avLst/>
              <a:gdLst/>
              <a:ahLst/>
              <a:cxnLst/>
              <a:rect r="r" b="b" t="t" l="l"/>
              <a:pathLst>
                <a:path h="768096" w="304673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00426" y="0"/>
                  </a:lnTo>
                  <a:cubicBezTo>
                    <a:pt x="2981198" y="0"/>
                    <a:pt x="3046730" y="65532"/>
                    <a:pt x="3046730" y="146304"/>
                  </a:cubicBezTo>
                  <a:lnTo>
                    <a:pt x="3046730" y="621792"/>
                  </a:lnTo>
                  <a:cubicBezTo>
                    <a:pt x="3046730" y="702564"/>
                    <a:pt x="2981198" y="768096"/>
                    <a:pt x="290042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3946169" y="6377940"/>
            <a:ext cx="2285086" cy="576072"/>
            <a:chOff x="0" y="0"/>
            <a:chExt cx="3046781" cy="76809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046730" cy="768096"/>
            </a:xfrm>
            <a:custGeom>
              <a:avLst/>
              <a:gdLst/>
              <a:ahLst/>
              <a:cxnLst/>
              <a:rect r="r" b="b" t="t" l="l"/>
              <a:pathLst>
                <a:path h="768096" w="3046730">
                  <a:moveTo>
                    <a:pt x="0" y="0"/>
                  </a:moveTo>
                  <a:lnTo>
                    <a:pt x="3046730" y="0"/>
                  </a:lnTo>
                  <a:lnTo>
                    <a:pt x="30467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7" r="-1" b="-27237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3946169" y="6356509"/>
            <a:ext cx="2285086" cy="597503"/>
            <a:chOff x="0" y="0"/>
            <a:chExt cx="3046781" cy="79667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046781" cy="796671"/>
            </a:xfrm>
            <a:custGeom>
              <a:avLst/>
              <a:gdLst/>
              <a:ahLst/>
              <a:cxnLst/>
              <a:rect r="r" b="b" t="t" l="l"/>
              <a:pathLst>
                <a:path h="796671" w="3046781">
                  <a:moveTo>
                    <a:pt x="0" y="0"/>
                  </a:moveTo>
                  <a:lnTo>
                    <a:pt x="3046781" y="0"/>
                  </a:lnTo>
                  <a:lnTo>
                    <a:pt x="3046781" y="796671"/>
                  </a:lnTo>
                  <a:lnTo>
                    <a:pt x="0" y="7966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18" r="0" b="-2451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3046781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PPC Ad Spend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406744" y="6377940"/>
            <a:ext cx="1774888" cy="576072"/>
            <a:chOff x="0" y="0"/>
            <a:chExt cx="2366518" cy="76809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366518" cy="768096"/>
            </a:xfrm>
            <a:custGeom>
              <a:avLst/>
              <a:gdLst/>
              <a:ahLst/>
              <a:cxnLst/>
              <a:rect r="r" b="b" t="t" l="l"/>
              <a:pathLst>
                <a:path h="768096" w="236651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20214" y="0"/>
                  </a:lnTo>
                  <a:cubicBezTo>
                    <a:pt x="2300986" y="0"/>
                    <a:pt x="2366518" y="65532"/>
                    <a:pt x="2366518" y="146304"/>
                  </a:cubicBezTo>
                  <a:lnTo>
                    <a:pt x="2366518" y="621792"/>
                  </a:lnTo>
                  <a:cubicBezTo>
                    <a:pt x="2366518" y="702564"/>
                    <a:pt x="2300986" y="768096"/>
                    <a:pt x="2220214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6406744" y="6377940"/>
            <a:ext cx="1774850" cy="576072"/>
            <a:chOff x="0" y="0"/>
            <a:chExt cx="2366467" cy="76809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366518" cy="768096"/>
            </a:xfrm>
            <a:custGeom>
              <a:avLst/>
              <a:gdLst/>
              <a:ahLst/>
              <a:cxnLst/>
              <a:rect r="r" b="b" t="t" l="l"/>
              <a:pathLst>
                <a:path h="768096" w="2366518">
                  <a:moveTo>
                    <a:pt x="0" y="0"/>
                  </a:moveTo>
                  <a:lnTo>
                    <a:pt x="2366518" y="0"/>
                  </a:lnTo>
                  <a:lnTo>
                    <a:pt x="236651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90" r="2" b="-9991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6406744" y="6356509"/>
            <a:ext cx="1774850" cy="597503"/>
            <a:chOff x="0" y="0"/>
            <a:chExt cx="2366467" cy="79667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366467" cy="796671"/>
            </a:xfrm>
            <a:custGeom>
              <a:avLst/>
              <a:gdLst/>
              <a:ahLst/>
              <a:cxnLst/>
              <a:rect r="r" b="b" t="t" l="l"/>
              <a:pathLst>
                <a:path h="796671" w="2366467">
                  <a:moveTo>
                    <a:pt x="0" y="0"/>
                  </a:moveTo>
                  <a:lnTo>
                    <a:pt x="2366467" y="0"/>
                  </a:lnTo>
                  <a:lnTo>
                    <a:pt x="2366467" y="796671"/>
                  </a:lnTo>
                  <a:lnTo>
                    <a:pt x="0" y="7966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79" r="0" b="-7879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2366467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FBA Fees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8428482" y="6377940"/>
            <a:ext cx="1264634" cy="576072"/>
            <a:chOff x="0" y="0"/>
            <a:chExt cx="1686179" cy="76809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686179" cy="768096"/>
            </a:xfrm>
            <a:custGeom>
              <a:avLst/>
              <a:gdLst/>
              <a:ahLst/>
              <a:cxnLst/>
              <a:rect r="r" b="b" t="t" l="l"/>
              <a:pathLst>
                <a:path h="768096" w="1686179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539875" y="0"/>
                  </a:lnTo>
                  <a:cubicBezTo>
                    <a:pt x="1620647" y="0"/>
                    <a:pt x="1686179" y="65532"/>
                    <a:pt x="1686179" y="146304"/>
                  </a:cubicBezTo>
                  <a:lnTo>
                    <a:pt x="1686179" y="621792"/>
                  </a:lnTo>
                  <a:cubicBezTo>
                    <a:pt x="1686179" y="702564"/>
                    <a:pt x="1620647" y="768096"/>
                    <a:pt x="1539875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8428482" y="6377940"/>
            <a:ext cx="1264615" cy="576072"/>
            <a:chOff x="0" y="0"/>
            <a:chExt cx="1686154" cy="76809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686179" cy="768096"/>
            </a:xfrm>
            <a:custGeom>
              <a:avLst/>
              <a:gdLst/>
              <a:ahLst/>
              <a:cxnLst/>
              <a:rect r="r" b="b" t="t" l="l"/>
              <a:pathLst>
                <a:path h="768096" w="1686179">
                  <a:moveTo>
                    <a:pt x="0" y="0"/>
                  </a:moveTo>
                  <a:lnTo>
                    <a:pt x="1686179" y="0"/>
                  </a:lnTo>
                  <a:lnTo>
                    <a:pt x="168617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86" t="0" r="-8485" b="0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8428482" y="6356509"/>
            <a:ext cx="1264615" cy="597503"/>
            <a:chOff x="0" y="0"/>
            <a:chExt cx="1686154" cy="79667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686153" cy="796671"/>
            </a:xfrm>
            <a:custGeom>
              <a:avLst/>
              <a:gdLst/>
              <a:ahLst/>
              <a:cxnLst/>
              <a:rect r="r" b="b" t="t" l="l"/>
              <a:pathLst>
                <a:path h="796671" w="1686153">
                  <a:moveTo>
                    <a:pt x="0" y="0"/>
                  </a:moveTo>
                  <a:lnTo>
                    <a:pt x="1686153" y="0"/>
                  </a:lnTo>
                  <a:lnTo>
                    <a:pt x="1686153" y="796671"/>
                  </a:lnTo>
                  <a:lnTo>
                    <a:pt x="0" y="7966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620" t="0" r="-10620" b="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1686154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COGS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939985" y="6377940"/>
            <a:ext cx="2029968" cy="576072"/>
            <a:chOff x="0" y="0"/>
            <a:chExt cx="2706624" cy="76809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706624" cy="768096"/>
            </a:xfrm>
            <a:custGeom>
              <a:avLst/>
              <a:gdLst/>
              <a:ahLst/>
              <a:cxnLst/>
              <a:rect r="r" b="b" t="t" l="l"/>
              <a:pathLst>
                <a:path h="768096" w="270662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560320" y="0"/>
                  </a:lnTo>
                  <a:cubicBezTo>
                    <a:pt x="2641092" y="0"/>
                    <a:pt x="2706624" y="65532"/>
                    <a:pt x="2706624" y="146304"/>
                  </a:cubicBezTo>
                  <a:lnTo>
                    <a:pt x="2706624" y="621792"/>
                  </a:lnTo>
                  <a:cubicBezTo>
                    <a:pt x="2706624" y="702564"/>
                    <a:pt x="2641092" y="768096"/>
                    <a:pt x="2560320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9939985" y="6377940"/>
            <a:ext cx="2029968" cy="576072"/>
            <a:chOff x="0" y="0"/>
            <a:chExt cx="2706624" cy="76809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706624" cy="768096"/>
            </a:xfrm>
            <a:custGeom>
              <a:avLst/>
              <a:gdLst/>
              <a:ahLst/>
              <a:cxnLst/>
              <a:rect r="r" b="b" t="t" l="l"/>
              <a:pathLst>
                <a:path h="768096" w="2706624">
                  <a:moveTo>
                    <a:pt x="0" y="0"/>
                  </a:moveTo>
                  <a:lnTo>
                    <a:pt x="2706624" y="0"/>
                  </a:lnTo>
                  <a:lnTo>
                    <a:pt x="270662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14" r="0" b="-18612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939985" y="6356509"/>
            <a:ext cx="2029968" cy="597503"/>
            <a:chOff x="0" y="0"/>
            <a:chExt cx="2706624" cy="79667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706624" cy="796671"/>
            </a:xfrm>
            <a:custGeom>
              <a:avLst/>
              <a:gdLst/>
              <a:ahLst/>
              <a:cxnLst/>
              <a:rect r="r" b="b" t="t" l="l"/>
              <a:pathLst>
                <a:path h="796671" w="2706624">
                  <a:moveTo>
                    <a:pt x="0" y="0"/>
                  </a:moveTo>
                  <a:lnTo>
                    <a:pt x="2706624" y="0"/>
                  </a:lnTo>
                  <a:lnTo>
                    <a:pt x="2706624" y="796671"/>
                  </a:lnTo>
                  <a:lnTo>
                    <a:pt x="0" y="7966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198" r="0" b="-16198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0"/>
              <a:ext cx="2706624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Promotions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2216841" y="6377940"/>
            <a:ext cx="1647253" cy="576072"/>
            <a:chOff x="0" y="0"/>
            <a:chExt cx="2196338" cy="76809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196338" cy="768096"/>
            </a:xfrm>
            <a:custGeom>
              <a:avLst/>
              <a:gdLst/>
              <a:ahLst/>
              <a:cxnLst/>
              <a:rect r="r" b="b" t="t" l="l"/>
              <a:pathLst>
                <a:path h="768096" w="219633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050034" y="0"/>
                  </a:lnTo>
                  <a:cubicBezTo>
                    <a:pt x="2130806" y="0"/>
                    <a:pt x="2196338" y="65532"/>
                    <a:pt x="2196338" y="146304"/>
                  </a:cubicBezTo>
                  <a:lnTo>
                    <a:pt x="2196338" y="621792"/>
                  </a:lnTo>
                  <a:cubicBezTo>
                    <a:pt x="2196338" y="702564"/>
                    <a:pt x="2130806" y="768096"/>
                    <a:pt x="2050034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2216841" y="6377940"/>
            <a:ext cx="1647292" cy="576072"/>
            <a:chOff x="0" y="0"/>
            <a:chExt cx="2196389" cy="76809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196338" cy="768096"/>
            </a:xfrm>
            <a:custGeom>
              <a:avLst/>
              <a:gdLst/>
              <a:ahLst/>
              <a:cxnLst/>
              <a:rect r="r" b="b" t="t" l="l"/>
              <a:pathLst>
                <a:path h="768096" w="2196338">
                  <a:moveTo>
                    <a:pt x="0" y="0"/>
                  </a:moveTo>
                  <a:lnTo>
                    <a:pt x="2196338" y="0"/>
                  </a:lnTo>
                  <a:lnTo>
                    <a:pt x="219633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9" r="-2" b="-5679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2216841" y="6356509"/>
            <a:ext cx="1647292" cy="597503"/>
            <a:chOff x="0" y="0"/>
            <a:chExt cx="2196389" cy="796671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196389" cy="796671"/>
            </a:xfrm>
            <a:custGeom>
              <a:avLst/>
              <a:gdLst/>
              <a:ahLst/>
              <a:cxnLst/>
              <a:rect r="r" b="b" t="t" l="l"/>
              <a:pathLst>
                <a:path h="796671" w="2196389">
                  <a:moveTo>
                    <a:pt x="0" y="0"/>
                  </a:moveTo>
                  <a:lnTo>
                    <a:pt x="2196389" y="0"/>
                  </a:lnTo>
                  <a:lnTo>
                    <a:pt x="2196389" y="796671"/>
                  </a:lnTo>
                  <a:lnTo>
                    <a:pt x="0" y="7966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19" r="0" b="-3719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2196389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Refunds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4111021" y="6377940"/>
            <a:ext cx="1774888" cy="576072"/>
            <a:chOff x="0" y="0"/>
            <a:chExt cx="2366518" cy="76809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366518" cy="768096"/>
            </a:xfrm>
            <a:custGeom>
              <a:avLst/>
              <a:gdLst/>
              <a:ahLst/>
              <a:cxnLst/>
              <a:rect r="r" b="b" t="t" l="l"/>
              <a:pathLst>
                <a:path h="768096" w="236651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20214" y="0"/>
                  </a:lnTo>
                  <a:cubicBezTo>
                    <a:pt x="2300986" y="0"/>
                    <a:pt x="2366518" y="65532"/>
                    <a:pt x="2366518" y="146304"/>
                  </a:cubicBezTo>
                  <a:lnTo>
                    <a:pt x="2366518" y="621792"/>
                  </a:lnTo>
                  <a:cubicBezTo>
                    <a:pt x="2366518" y="702564"/>
                    <a:pt x="2300986" y="768096"/>
                    <a:pt x="2220214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4111021" y="6377940"/>
            <a:ext cx="1774850" cy="576072"/>
            <a:chOff x="0" y="0"/>
            <a:chExt cx="2366467" cy="76809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366518" cy="768096"/>
            </a:xfrm>
            <a:custGeom>
              <a:avLst/>
              <a:gdLst/>
              <a:ahLst/>
              <a:cxnLst/>
              <a:rect r="r" b="b" t="t" l="l"/>
              <a:pathLst>
                <a:path h="768096" w="2366518">
                  <a:moveTo>
                    <a:pt x="0" y="0"/>
                  </a:moveTo>
                  <a:lnTo>
                    <a:pt x="2366518" y="0"/>
                  </a:lnTo>
                  <a:lnTo>
                    <a:pt x="236651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90" r="2" b="-9991"/>
              </a:stretch>
            </a:blip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4111021" y="6356509"/>
            <a:ext cx="1774850" cy="597503"/>
            <a:chOff x="0" y="0"/>
            <a:chExt cx="2366467" cy="796671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366467" cy="796671"/>
            </a:xfrm>
            <a:custGeom>
              <a:avLst/>
              <a:gdLst/>
              <a:ahLst/>
              <a:cxnLst/>
              <a:rect r="r" b="b" t="t" l="l"/>
              <a:pathLst>
                <a:path h="796671" w="2366467">
                  <a:moveTo>
                    <a:pt x="0" y="0"/>
                  </a:moveTo>
                  <a:lnTo>
                    <a:pt x="2366467" y="0"/>
                  </a:lnTo>
                  <a:lnTo>
                    <a:pt x="2366467" y="796671"/>
                  </a:lnTo>
                  <a:lnTo>
                    <a:pt x="0" y="7966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79" r="0" b="-7879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0"/>
              <a:ext cx="2366467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Sessions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60120" y="7132320"/>
            <a:ext cx="1519714" cy="576072"/>
            <a:chOff x="0" y="0"/>
            <a:chExt cx="2026285" cy="76809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026285" cy="768096"/>
            </a:xfrm>
            <a:custGeom>
              <a:avLst/>
              <a:gdLst/>
              <a:ahLst/>
              <a:cxnLst/>
              <a:rect r="r" b="b" t="t" l="l"/>
              <a:pathLst>
                <a:path h="768096" w="2026285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879981" y="0"/>
                  </a:lnTo>
                  <a:cubicBezTo>
                    <a:pt x="1960753" y="0"/>
                    <a:pt x="2026285" y="65532"/>
                    <a:pt x="2026285" y="146304"/>
                  </a:cubicBezTo>
                  <a:lnTo>
                    <a:pt x="2026285" y="621792"/>
                  </a:lnTo>
                  <a:cubicBezTo>
                    <a:pt x="2026285" y="702564"/>
                    <a:pt x="1960753" y="768096"/>
                    <a:pt x="1879981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60120" y="7132320"/>
            <a:ext cx="1519733" cy="576072"/>
            <a:chOff x="0" y="0"/>
            <a:chExt cx="2026310" cy="76809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026285" cy="768096"/>
            </a:xfrm>
            <a:custGeom>
              <a:avLst/>
              <a:gdLst/>
              <a:ahLst/>
              <a:cxnLst/>
              <a:rect r="r" b="b" t="t" l="l"/>
              <a:pathLst>
                <a:path h="768096" w="2026285">
                  <a:moveTo>
                    <a:pt x="0" y="0"/>
                  </a:moveTo>
                  <a:lnTo>
                    <a:pt x="2026285" y="0"/>
                  </a:lnTo>
                  <a:lnTo>
                    <a:pt x="2026285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7" r="-1" b="-1367"/>
              </a:stretch>
            </a:blip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960120" y="7110889"/>
            <a:ext cx="1519733" cy="597503"/>
            <a:chOff x="0" y="0"/>
            <a:chExt cx="2026310" cy="79667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026311" cy="796671"/>
            </a:xfrm>
            <a:custGeom>
              <a:avLst/>
              <a:gdLst/>
              <a:ahLst/>
              <a:cxnLst/>
              <a:rect r="r" b="b" t="t" l="l"/>
              <a:pathLst>
                <a:path h="796671" w="2026311">
                  <a:moveTo>
                    <a:pt x="0" y="0"/>
                  </a:moveTo>
                  <a:lnTo>
                    <a:pt x="2026311" y="0"/>
                  </a:lnTo>
                  <a:lnTo>
                    <a:pt x="2026311" y="796671"/>
                  </a:lnTo>
                  <a:lnTo>
                    <a:pt x="0" y="7966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44" t="0" r="-444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0"/>
              <a:ext cx="2026310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Clicks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2726741" y="7132320"/>
            <a:ext cx="2029968" cy="576072"/>
            <a:chOff x="0" y="0"/>
            <a:chExt cx="2706624" cy="768096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706624" cy="768096"/>
            </a:xfrm>
            <a:custGeom>
              <a:avLst/>
              <a:gdLst/>
              <a:ahLst/>
              <a:cxnLst/>
              <a:rect r="r" b="b" t="t" l="l"/>
              <a:pathLst>
                <a:path h="768096" w="270662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560320" y="0"/>
                  </a:lnTo>
                  <a:cubicBezTo>
                    <a:pt x="2641092" y="0"/>
                    <a:pt x="2706624" y="65532"/>
                    <a:pt x="2706624" y="146304"/>
                  </a:cubicBezTo>
                  <a:lnTo>
                    <a:pt x="2706624" y="621792"/>
                  </a:lnTo>
                  <a:cubicBezTo>
                    <a:pt x="2706624" y="702564"/>
                    <a:pt x="2641092" y="768096"/>
                    <a:pt x="2560320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2726741" y="7132320"/>
            <a:ext cx="2029968" cy="576072"/>
            <a:chOff x="0" y="0"/>
            <a:chExt cx="2706624" cy="768096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706624" cy="768096"/>
            </a:xfrm>
            <a:custGeom>
              <a:avLst/>
              <a:gdLst/>
              <a:ahLst/>
              <a:cxnLst/>
              <a:rect r="r" b="b" t="t" l="l"/>
              <a:pathLst>
                <a:path h="768096" w="2706624">
                  <a:moveTo>
                    <a:pt x="0" y="0"/>
                  </a:moveTo>
                  <a:lnTo>
                    <a:pt x="2706624" y="0"/>
                  </a:lnTo>
                  <a:lnTo>
                    <a:pt x="270662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14" r="0" b="-18612"/>
              </a:stretch>
            </a:blip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2726741" y="7110889"/>
            <a:ext cx="2029968" cy="597503"/>
            <a:chOff x="0" y="0"/>
            <a:chExt cx="2706624" cy="796671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706624" cy="796671"/>
            </a:xfrm>
            <a:custGeom>
              <a:avLst/>
              <a:gdLst/>
              <a:ahLst/>
              <a:cxnLst/>
              <a:rect r="r" b="b" t="t" l="l"/>
              <a:pathLst>
                <a:path h="796671" w="2706624">
                  <a:moveTo>
                    <a:pt x="0" y="0"/>
                  </a:moveTo>
                  <a:lnTo>
                    <a:pt x="2706624" y="0"/>
                  </a:lnTo>
                  <a:lnTo>
                    <a:pt x="2706624" y="796671"/>
                  </a:lnTo>
                  <a:lnTo>
                    <a:pt x="0" y="7966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198" r="0" b="-16198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0"/>
              <a:ext cx="2706624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Page Views</a:t>
              </a:r>
            </a:p>
          </p:txBody>
        </p:sp>
      </p:grpSp>
      <p:sp>
        <p:nvSpPr>
          <p:cNvPr name="Freeform 144" id="144"/>
          <p:cNvSpPr/>
          <p:nvPr/>
        </p:nvSpPr>
        <p:spPr>
          <a:xfrm flipH="false" flipV="false" rot="0">
            <a:off x="947614" y="7805614"/>
            <a:ext cx="16347043" cy="1602343"/>
          </a:xfrm>
          <a:custGeom>
            <a:avLst/>
            <a:gdLst/>
            <a:ahLst/>
            <a:cxnLst/>
            <a:rect r="r" b="b" t="t" l="l"/>
            <a:pathLst>
              <a:path h="1602343" w="16347043">
                <a:moveTo>
                  <a:pt x="0" y="0"/>
                </a:moveTo>
                <a:lnTo>
                  <a:pt x="16347043" y="0"/>
                </a:lnTo>
                <a:lnTo>
                  <a:pt x="16347043" y="1602343"/>
                </a:lnTo>
                <a:lnTo>
                  <a:pt x="0" y="16023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5" id="145"/>
          <p:cNvGrpSpPr/>
          <p:nvPr/>
        </p:nvGrpSpPr>
        <p:grpSpPr>
          <a:xfrm rot="0">
            <a:off x="803910" y="8133588"/>
            <a:ext cx="932688" cy="932688"/>
            <a:chOff x="0" y="0"/>
            <a:chExt cx="1243584" cy="1243584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24358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243584">
                  <a:moveTo>
                    <a:pt x="0" y="621792"/>
                  </a:moveTo>
                  <a:cubicBezTo>
                    <a:pt x="0" y="278384"/>
                    <a:pt x="278384" y="0"/>
                    <a:pt x="621792" y="0"/>
                  </a:cubicBezTo>
                  <a:cubicBezTo>
                    <a:pt x="965200" y="0"/>
                    <a:pt x="1243584" y="278384"/>
                    <a:pt x="1243584" y="621792"/>
                  </a:cubicBezTo>
                  <a:cubicBezTo>
                    <a:pt x="1243584" y="965200"/>
                    <a:pt x="965200" y="1243584"/>
                    <a:pt x="621792" y="1243584"/>
                  </a:cubicBezTo>
                  <a:cubicBezTo>
                    <a:pt x="278384" y="1243584"/>
                    <a:pt x="0" y="965200"/>
                    <a:pt x="0" y="621792"/>
                  </a:cubicBezTo>
                  <a:close/>
                </a:path>
              </a:pathLst>
            </a:custGeom>
            <a:solidFill>
              <a:srgbClr val="C99A3E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1009098" y="8338776"/>
            <a:ext cx="522351" cy="522351"/>
            <a:chOff x="0" y="0"/>
            <a:chExt cx="696468" cy="696468"/>
          </a:xfrm>
        </p:grpSpPr>
        <p:sp>
          <p:nvSpPr>
            <p:cNvPr name="Freeform 148" id="148" descr="/home/claude/deck/icons/warehouse_FFFFFF.png"/>
            <p:cNvSpPr/>
            <p:nvPr/>
          </p:nvSpPr>
          <p:spPr>
            <a:xfrm flipH="false" flipV="false" rot="0">
              <a:off x="0" y="0"/>
              <a:ext cx="696468" cy="696468"/>
            </a:xfrm>
            <a:custGeom>
              <a:avLst/>
              <a:gdLst/>
              <a:ahLst/>
              <a:cxnLst/>
              <a:rect r="r" b="b" t="t" l="l"/>
              <a:pathLst>
                <a:path h="696468" w="696468">
                  <a:moveTo>
                    <a:pt x="0" y="0"/>
                  </a:moveTo>
                  <a:lnTo>
                    <a:pt x="696468" y="0"/>
                  </a:lnTo>
                  <a:lnTo>
                    <a:pt x="696468" y="696468"/>
                  </a:lnTo>
                  <a:lnTo>
                    <a:pt x="0" y="696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2606040" y="8133588"/>
            <a:ext cx="14264640" cy="960120"/>
            <a:chOff x="0" y="0"/>
            <a:chExt cx="19019520" cy="128016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90195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290" r="0" b="-239290"/>
              </a:stretch>
            </a:blip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1989277" y="8133588"/>
            <a:ext cx="15270023" cy="1017270"/>
            <a:chOff x="0" y="0"/>
            <a:chExt cx="20360030" cy="135636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0360030" cy="1356360"/>
            </a:xfrm>
            <a:custGeom>
              <a:avLst/>
              <a:gdLst/>
              <a:ahLst/>
              <a:cxnLst/>
              <a:rect r="r" b="b" t="t" l="l"/>
              <a:pathLst>
                <a:path h="1356360" w="20360030">
                  <a:moveTo>
                    <a:pt x="0" y="0"/>
                  </a:moveTo>
                  <a:lnTo>
                    <a:pt x="20360030" y="0"/>
                  </a:lnTo>
                  <a:lnTo>
                    <a:pt x="20360030" y="1356360"/>
                  </a:lnTo>
                  <a:lnTo>
                    <a:pt x="0" y="1356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3228" r="6584" b="-223228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66675"/>
              <a:ext cx="20360030" cy="1423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599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Processing Stack:  </a:t>
              </a:r>
              <a:r>
                <a:rPr lang="en-US" sz="25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Relational SQL Database  →  Python (Pandas / Scikit-Learn / Prophet)  →  Excel  →  Power BI. Source files delivered as Excel (.xlsx), full downloaded record set used end-to-end.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7053103" y="9572625"/>
            <a:ext cx="822960" cy="440055"/>
            <a:chOff x="0" y="0"/>
            <a:chExt cx="1097280" cy="58674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09728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0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04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165" id="165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167" id="167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31081" r="0" b="-31081"/>
              </a:stretch>
            </a:blip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170" id="170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347" r="0" b="-345"/>
              </a:stretch>
            </a:blip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9525"/>
              <a:ext cx="29260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7125950" y="9417628"/>
            <a:ext cx="891540" cy="595052"/>
            <a:chOff x="0" y="0"/>
            <a:chExt cx="1188720" cy="793403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330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CHAPTER 1 · STRATEGIC FOCUS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42010" y="1099706"/>
            <a:ext cx="16230143" cy="1190104"/>
            <a:chOff x="0" y="0"/>
            <a:chExt cx="21640190" cy="15868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640191" cy="1586805"/>
            </a:xfrm>
            <a:custGeom>
              <a:avLst/>
              <a:gdLst/>
              <a:ahLst/>
              <a:cxnLst/>
              <a:rect r="r" b="b" t="t" l="l"/>
              <a:pathLst>
                <a:path h="1586805" w="21640191">
                  <a:moveTo>
                    <a:pt x="0" y="0"/>
                  </a:moveTo>
                  <a:lnTo>
                    <a:pt x="21640191" y="0"/>
                  </a:lnTo>
                  <a:lnTo>
                    <a:pt x="21640191" y="1586805"/>
                  </a:lnTo>
                  <a:lnTo>
                    <a:pt x="0" y="15868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1975" r="11265" b="-1796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640190" cy="158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Four Pillars Driving Real-Time Decisions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42010" y="2537460"/>
            <a:ext cx="3803597" cy="6720840"/>
            <a:chOff x="0" y="0"/>
            <a:chExt cx="5029200" cy="88864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29200" cy="8886444"/>
            </a:xfrm>
            <a:custGeom>
              <a:avLst/>
              <a:gdLst/>
              <a:ahLst/>
              <a:cxnLst/>
              <a:rect r="r" b="b" t="t" l="l"/>
              <a:pathLst>
                <a:path h="8886444" w="5029200">
                  <a:moveTo>
                    <a:pt x="0" y="273429"/>
                  </a:moveTo>
                  <a:cubicBezTo>
                    <a:pt x="0" y="122473"/>
                    <a:pt x="114681" y="0"/>
                    <a:pt x="256032" y="0"/>
                  </a:cubicBezTo>
                  <a:lnTo>
                    <a:pt x="4773168" y="0"/>
                  </a:lnTo>
                  <a:cubicBezTo>
                    <a:pt x="4914519" y="0"/>
                    <a:pt x="5029200" y="122473"/>
                    <a:pt x="5029200" y="273429"/>
                  </a:cubicBezTo>
                  <a:lnTo>
                    <a:pt x="5029200" y="8613015"/>
                  </a:lnTo>
                  <a:cubicBezTo>
                    <a:pt x="5029200" y="8763970"/>
                    <a:pt x="4914519" y="8886444"/>
                    <a:pt x="4773168" y="8886444"/>
                  </a:cubicBezTo>
                  <a:lnTo>
                    <a:pt x="256032" y="8886444"/>
                  </a:lnTo>
                  <a:cubicBezTo>
                    <a:pt x="114681" y="8886444"/>
                    <a:pt x="0" y="8763970"/>
                    <a:pt x="0" y="8613015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80440" y="2767939"/>
            <a:ext cx="987552" cy="987552"/>
            <a:chOff x="0" y="0"/>
            <a:chExt cx="1316736" cy="13167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97706" y="2985205"/>
            <a:ext cx="553022" cy="553022"/>
            <a:chOff x="0" y="0"/>
            <a:chExt cx="737362" cy="737362"/>
          </a:xfrm>
        </p:grpSpPr>
        <p:sp>
          <p:nvSpPr>
            <p:cNvPr name="Freeform 17" id="17" descr="/home/claude/deck/icons/boxes_1B4332.png"/>
            <p:cNvSpPr/>
            <p:nvPr/>
          </p:nvSpPr>
          <p:spPr>
            <a:xfrm flipH="false" flipV="false" rot="0">
              <a:off x="0" y="0"/>
              <a:ext cx="737362" cy="737362"/>
            </a:xfrm>
            <a:custGeom>
              <a:avLst/>
              <a:gdLst/>
              <a:ahLst/>
              <a:cxnLst/>
              <a:rect r="r" b="b" t="t" l="l"/>
              <a:pathLst>
                <a:path h="737362" w="737362">
                  <a:moveTo>
                    <a:pt x="0" y="0"/>
                  </a:moveTo>
                  <a:lnTo>
                    <a:pt x="737362" y="0"/>
                  </a:lnTo>
                  <a:lnTo>
                    <a:pt x="737362" y="737362"/>
                  </a:lnTo>
                  <a:lnTo>
                    <a:pt x="0" y="737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44168" y="4183380"/>
            <a:ext cx="3003804" cy="1028700"/>
            <a:chOff x="0" y="0"/>
            <a:chExt cx="4005072" cy="137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05072" cy="1371600"/>
            </a:xfrm>
            <a:custGeom>
              <a:avLst/>
              <a:gdLst/>
              <a:ahLst/>
              <a:cxnLst/>
              <a:rect r="r" b="b" t="t" l="l"/>
              <a:pathLst>
                <a:path h="1371600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56" r="0" b="-685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09015" y="3831691"/>
            <a:ext cx="3003804" cy="1259161"/>
            <a:chOff x="0" y="0"/>
            <a:chExt cx="4005072" cy="16788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05072" cy="1678881"/>
            </a:xfrm>
            <a:custGeom>
              <a:avLst/>
              <a:gdLst/>
              <a:ahLst/>
              <a:cxnLst/>
              <a:rect r="r" b="b" t="t" l="l"/>
              <a:pathLst>
                <a:path h="1678881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1678881"/>
                  </a:lnTo>
                  <a:lnTo>
                    <a:pt x="0" y="16788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66" r="0" b="1210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005072" cy="1697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sz="3524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Product Intelligence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9285" y="5491675"/>
            <a:ext cx="3029046" cy="3545058"/>
            <a:chOff x="0" y="0"/>
            <a:chExt cx="4005072" cy="46873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05072" cy="4687355"/>
            </a:xfrm>
            <a:custGeom>
              <a:avLst/>
              <a:gdLst/>
              <a:ahLst/>
              <a:cxnLst/>
              <a:rect r="r" b="b" t="t" l="l"/>
              <a:pathLst>
                <a:path h="4687355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4687355"/>
                  </a:lnTo>
                  <a:lnTo>
                    <a:pt x="0" y="46873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0265" t="0" r="-100264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19556" y="5043625"/>
            <a:ext cx="3526051" cy="4134034"/>
            <a:chOff x="0" y="0"/>
            <a:chExt cx="4662223" cy="54661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62223" cy="5466112"/>
            </a:xfrm>
            <a:custGeom>
              <a:avLst/>
              <a:gdLst/>
              <a:ahLst/>
              <a:cxnLst/>
              <a:rect r="r" b="b" t="t" l="l"/>
              <a:pathLst>
                <a:path h="5466112" w="4662223">
                  <a:moveTo>
                    <a:pt x="0" y="0"/>
                  </a:moveTo>
                  <a:lnTo>
                    <a:pt x="4662223" y="0"/>
                  </a:lnTo>
                  <a:lnTo>
                    <a:pt x="4662223" y="5466112"/>
                  </a:lnTo>
                  <a:lnTo>
                    <a:pt x="0" y="54661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9932" t="0" r="-65837" b="1830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4662223" cy="5523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4"/>
                </a:lnSpc>
              </a:pPr>
              <a:r>
                <a:rPr lang="en-US" sz="2449">
                  <a:solidFill>
                    <a:srgbClr val="E4EFE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Segmenting high-volume “Hero” products from high-margin “Niche” products, using Association Rule Learning (Apriori) for bundling and flagging margin erosion.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060544" y="2537460"/>
            <a:ext cx="3803597" cy="6720840"/>
            <a:chOff x="0" y="0"/>
            <a:chExt cx="5029200" cy="88864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29200" cy="8886444"/>
            </a:xfrm>
            <a:custGeom>
              <a:avLst/>
              <a:gdLst/>
              <a:ahLst/>
              <a:cxnLst/>
              <a:rect r="r" b="b" t="t" l="l"/>
              <a:pathLst>
                <a:path h="8886444" w="5029200">
                  <a:moveTo>
                    <a:pt x="0" y="273429"/>
                  </a:moveTo>
                  <a:cubicBezTo>
                    <a:pt x="0" y="122473"/>
                    <a:pt x="114681" y="0"/>
                    <a:pt x="256032" y="0"/>
                  </a:cubicBezTo>
                  <a:lnTo>
                    <a:pt x="4773168" y="0"/>
                  </a:lnTo>
                  <a:cubicBezTo>
                    <a:pt x="4914519" y="0"/>
                    <a:pt x="5029200" y="122473"/>
                    <a:pt x="5029200" y="273429"/>
                  </a:cubicBezTo>
                  <a:lnTo>
                    <a:pt x="5029200" y="8613015"/>
                  </a:lnTo>
                  <a:cubicBezTo>
                    <a:pt x="5029200" y="8763970"/>
                    <a:pt x="4914519" y="8886444"/>
                    <a:pt x="4773168" y="8886444"/>
                  </a:cubicBezTo>
                  <a:lnTo>
                    <a:pt x="256032" y="8886444"/>
                  </a:lnTo>
                  <a:cubicBezTo>
                    <a:pt x="114681" y="8886444"/>
                    <a:pt x="0" y="8763970"/>
                    <a:pt x="0" y="8613015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371620" y="2767939"/>
            <a:ext cx="987552" cy="987552"/>
            <a:chOff x="0" y="0"/>
            <a:chExt cx="1316736" cy="13167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588885" y="2985205"/>
            <a:ext cx="553022" cy="553022"/>
            <a:chOff x="0" y="0"/>
            <a:chExt cx="737362" cy="737362"/>
          </a:xfrm>
        </p:grpSpPr>
        <p:sp>
          <p:nvSpPr>
            <p:cNvPr name="Freeform 33" id="33" descr="/home/claude/deck/icons/brain_1B4332.png"/>
            <p:cNvSpPr/>
            <p:nvPr/>
          </p:nvSpPr>
          <p:spPr>
            <a:xfrm flipH="false" flipV="false" rot="0">
              <a:off x="0" y="0"/>
              <a:ext cx="737362" cy="737362"/>
            </a:xfrm>
            <a:custGeom>
              <a:avLst/>
              <a:gdLst/>
              <a:ahLst/>
              <a:cxnLst/>
              <a:rect r="r" b="b" t="t" l="l"/>
              <a:pathLst>
                <a:path h="737362" w="737362">
                  <a:moveTo>
                    <a:pt x="0" y="0"/>
                  </a:moveTo>
                  <a:lnTo>
                    <a:pt x="737362" y="0"/>
                  </a:lnTo>
                  <a:lnTo>
                    <a:pt x="737362" y="737362"/>
                  </a:lnTo>
                  <a:lnTo>
                    <a:pt x="0" y="737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527548" y="4183380"/>
            <a:ext cx="3003804" cy="1028700"/>
            <a:chOff x="0" y="0"/>
            <a:chExt cx="4005072" cy="1371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05072" cy="1371600"/>
            </a:xfrm>
            <a:custGeom>
              <a:avLst/>
              <a:gdLst/>
              <a:ahLst/>
              <a:cxnLst/>
              <a:rect r="r" b="b" t="t" l="l"/>
              <a:pathLst>
                <a:path h="1371600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56" r="0" b="-6857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245443" y="3936492"/>
            <a:ext cx="3568014" cy="1259161"/>
            <a:chOff x="0" y="0"/>
            <a:chExt cx="4757352" cy="167888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57352" cy="1678881"/>
            </a:xfrm>
            <a:custGeom>
              <a:avLst/>
              <a:gdLst/>
              <a:ahLst/>
              <a:cxnLst/>
              <a:rect r="r" b="b" t="t" l="l"/>
              <a:pathLst>
                <a:path h="1678881" w="4757352">
                  <a:moveTo>
                    <a:pt x="0" y="0"/>
                  </a:moveTo>
                  <a:lnTo>
                    <a:pt x="4757352" y="0"/>
                  </a:lnTo>
                  <a:lnTo>
                    <a:pt x="4757352" y="1678881"/>
                  </a:lnTo>
                  <a:lnTo>
                    <a:pt x="0" y="16788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66" r="15812" b="1210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757352" cy="1697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sz="3524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ML &amp; Predictive Analytics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447820" y="5491675"/>
            <a:ext cx="3029046" cy="3545058"/>
            <a:chOff x="0" y="0"/>
            <a:chExt cx="4005072" cy="468735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05072" cy="4687355"/>
            </a:xfrm>
            <a:custGeom>
              <a:avLst/>
              <a:gdLst/>
              <a:ahLst/>
              <a:cxnLst/>
              <a:rect r="r" b="b" t="t" l="l"/>
              <a:pathLst>
                <a:path h="4687355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4687355"/>
                  </a:lnTo>
                  <a:lnTo>
                    <a:pt x="0" y="46873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0265" t="0" r="-100264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341623" y="5302750"/>
            <a:ext cx="3462309" cy="3676834"/>
            <a:chOff x="0" y="0"/>
            <a:chExt cx="4577942" cy="4861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77943" cy="4861592"/>
            </a:xfrm>
            <a:custGeom>
              <a:avLst/>
              <a:gdLst/>
              <a:ahLst/>
              <a:cxnLst/>
              <a:rect r="r" b="b" t="t" l="l"/>
              <a:pathLst>
                <a:path h="4861592" w="4577943">
                  <a:moveTo>
                    <a:pt x="0" y="0"/>
                  </a:moveTo>
                  <a:lnTo>
                    <a:pt x="4577943" y="0"/>
                  </a:lnTo>
                  <a:lnTo>
                    <a:pt x="4577943" y="4861592"/>
                  </a:lnTo>
                  <a:lnTo>
                    <a:pt x="0" y="4861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1404" t="0" r="-68890" b="815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4577942" cy="4918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4"/>
                </a:lnSpc>
              </a:pPr>
              <a:r>
                <a:rPr lang="en-US" sz="2449">
                  <a:solidFill>
                    <a:srgbClr val="E4EFE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Forecasting unit sales over a 60–90 day horizon, modeling price elasticity, and automating anomaly detection for refund spikes or conversion drops.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279079" y="2537460"/>
            <a:ext cx="3803597" cy="6720840"/>
            <a:chOff x="0" y="0"/>
            <a:chExt cx="5029200" cy="88864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29200" cy="8886444"/>
            </a:xfrm>
            <a:custGeom>
              <a:avLst/>
              <a:gdLst/>
              <a:ahLst/>
              <a:cxnLst/>
              <a:rect r="r" b="b" t="t" l="l"/>
              <a:pathLst>
                <a:path h="8886444" w="5029200">
                  <a:moveTo>
                    <a:pt x="0" y="273429"/>
                  </a:moveTo>
                  <a:cubicBezTo>
                    <a:pt x="0" y="122473"/>
                    <a:pt x="114681" y="0"/>
                    <a:pt x="256032" y="0"/>
                  </a:cubicBezTo>
                  <a:lnTo>
                    <a:pt x="4773168" y="0"/>
                  </a:lnTo>
                  <a:cubicBezTo>
                    <a:pt x="4914519" y="0"/>
                    <a:pt x="5029200" y="122473"/>
                    <a:pt x="5029200" y="273429"/>
                  </a:cubicBezTo>
                  <a:lnTo>
                    <a:pt x="5029200" y="8613015"/>
                  </a:lnTo>
                  <a:cubicBezTo>
                    <a:pt x="5029200" y="8763970"/>
                    <a:pt x="4914519" y="8886444"/>
                    <a:pt x="4773168" y="8886444"/>
                  </a:cubicBezTo>
                  <a:lnTo>
                    <a:pt x="256032" y="8886444"/>
                  </a:lnTo>
                  <a:cubicBezTo>
                    <a:pt x="114681" y="8886444"/>
                    <a:pt x="0" y="8763970"/>
                    <a:pt x="0" y="8613015"/>
                  </a:cubicBezTo>
                  <a:close/>
                </a:path>
              </a:pathLst>
            </a:custGeom>
            <a:solidFill>
              <a:srgbClr val="3E7A5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588041" y="2767939"/>
            <a:ext cx="987552" cy="987552"/>
            <a:chOff x="0" y="0"/>
            <a:chExt cx="1316736" cy="13167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805306" y="2985205"/>
            <a:ext cx="553022" cy="553022"/>
            <a:chOff x="0" y="0"/>
            <a:chExt cx="737362" cy="737362"/>
          </a:xfrm>
        </p:grpSpPr>
        <p:sp>
          <p:nvSpPr>
            <p:cNvPr name="Freeform 49" id="49" descr="/home/claude/deck/icons/bullhorn_1B4332.png"/>
            <p:cNvSpPr/>
            <p:nvPr/>
          </p:nvSpPr>
          <p:spPr>
            <a:xfrm flipH="false" flipV="false" rot="0">
              <a:off x="0" y="0"/>
              <a:ext cx="737362" cy="737362"/>
            </a:xfrm>
            <a:custGeom>
              <a:avLst/>
              <a:gdLst/>
              <a:ahLst/>
              <a:cxnLst/>
              <a:rect r="r" b="b" t="t" l="l"/>
              <a:pathLst>
                <a:path h="737362" w="737362">
                  <a:moveTo>
                    <a:pt x="0" y="0"/>
                  </a:moveTo>
                  <a:lnTo>
                    <a:pt x="737362" y="0"/>
                  </a:lnTo>
                  <a:lnTo>
                    <a:pt x="737362" y="737362"/>
                  </a:lnTo>
                  <a:lnTo>
                    <a:pt x="0" y="737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710928" y="4183380"/>
            <a:ext cx="3003804" cy="1028700"/>
            <a:chOff x="0" y="0"/>
            <a:chExt cx="4005072" cy="1371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005072" cy="1371600"/>
            </a:xfrm>
            <a:custGeom>
              <a:avLst/>
              <a:gdLst/>
              <a:ahLst/>
              <a:cxnLst/>
              <a:rect r="r" b="b" t="t" l="l"/>
              <a:pathLst>
                <a:path h="1371600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56" r="0" b="-6857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588041" y="3850741"/>
            <a:ext cx="3003804" cy="1259161"/>
            <a:chOff x="0" y="0"/>
            <a:chExt cx="4005072" cy="167888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005072" cy="1678881"/>
            </a:xfrm>
            <a:custGeom>
              <a:avLst/>
              <a:gdLst/>
              <a:ahLst/>
              <a:cxnLst/>
              <a:rect r="r" b="b" t="t" l="l"/>
              <a:pathLst>
                <a:path h="1678881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1678881"/>
                  </a:lnTo>
                  <a:lnTo>
                    <a:pt x="0" y="16788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66" r="0" b="1210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4005072" cy="1697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sz="3524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Advertising &amp; Halo Effect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666354" y="5491675"/>
            <a:ext cx="3029046" cy="3545058"/>
            <a:chOff x="0" y="0"/>
            <a:chExt cx="4005072" cy="468735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005072" cy="4687355"/>
            </a:xfrm>
            <a:custGeom>
              <a:avLst/>
              <a:gdLst/>
              <a:ahLst/>
              <a:cxnLst/>
              <a:rect r="r" b="b" t="t" l="l"/>
              <a:pathLst>
                <a:path h="4687355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4687355"/>
                  </a:lnTo>
                  <a:lnTo>
                    <a:pt x="0" y="46873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0265" t="0" r="-100264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622728" y="5262700"/>
            <a:ext cx="3180204" cy="3676834"/>
            <a:chOff x="0" y="0"/>
            <a:chExt cx="4204937" cy="48615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04937" cy="4861592"/>
            </a:xfrm>
            <a:custGeom>
              <a:avLst/>
              <a:gdLst/>
              <a:ahLst/>
              <a:cxnLst/>
              <a:rect r="r" b="b" t="t" l="l"/>
              <a:pathLst>
                <a:path h="4861592" w="4204937">
                  <a:moveTo>
                    <a:pt x="0" y="0"/>
                  </a:moveTo>
                  <a:lnTo>
                    <a:pt x="4204937" y="0"/>
                  </a:lnTo>
                  <a:lnTo>
                    <a:pt x="4204937" y="4861592"/>
                  </a:lnTo>
                  <a:lnTo>
                    <a:pt x="0" y="4861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8625" t="0" r="-83871" b="815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4204937" cy="4918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4"/>
                </a:lnSpc>
              </a:pPr>
              <a:r>
                <a:rPr lang="en-US" sz="2449">
                  <a:solidFill>
                    <a:srgbClr val="E4EFE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Benchmarking Total ACOS (TACoS) to evaluate organic profitability and quantifying the organic ranking lift generated by paid ad spend.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497613" y="2537460"/>
            <a:ext cx="3803597" cy="6720840"/>
            <a:chOff x="0" y="0"/>
            <a:chExt cx="5029200" cy="888644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029200" cy="8886444"/>
            </a:xfrm>
            <a:custGeom>
              <a:avLst/>
              <a:gdLst/>
              <a:ahLst/>
              <a:cxnLst/>
              <a:rect r="r" b="b" t="t" l="l"/>
              <a:pathLst>
                <a:path h="8886444" w="5029200">
                  <a:moveTo>
                    <a:pt x="0" y="273429"/>
                  </a:moveTo>
                  <a:cubicBezTo>
                    <a:pt x="0" y="122473"/>
                    <a:pt x="114681" y="0"/>
                    <a:pt x="256032" y="0"/>
                  </a:cubicBezTo>
                  <a:lnTo>
                    <a:pt x="4773168" y="0"/>
                  </a:lnTo>
                  <a:cubicBezTo>
                    <a:pt x="4914519" y="0"/>
                    <a:pt x="5029200" y="122473"/>
                    <a:pt x="5029200" y="273429"/>
                  </a:cubicBezTo>
                  <a:lnTo>
                    <a:pt x="5029200" y="8613015"/>
                  </a:lnTo>
                  <a:cubicBezTo>
                    <a:pt x="5029200" y="8763970"/>
                    <a:pt x="4914519" y="8886444"/>
                    <a:pt x="4773168" y="8886444"/>
                  </a:cubicBezTo>
                  <a:lnTo>
                    <a:pt x="256032" y="8886444"/>
                  </a:lnTo>
                  <a:cubicBezTo>
                    <a:pt x="114681" y="8886444"/>
                    <a:pt x="0" y="8763970"/>
                    <a:pt x="0" y="8613015"/>
                  </a:cubicBezTo>
                  <a:close/>
                </a:path>
              </a:pathLst>
            </a:custGeom>
            <a:solidFill>
              <a:srgbClr val="4C8B67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806576" y="2767939"/>
            <a:ext cx="987552" cy="987552"/>
            <a:chOff x="0" y="0"/>
            <a:chExt cx="1316736" cy="131673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023841" y="2985205"/>
            <a:ext cx="553022" cy="553022"/>
            <a:chOff x="0" y="0"/>
            <a:chExt cx="737362" cy="737362"/>
          </a:xfrm>
        </p:grpSpPr>
        <p:sp>
          <p:nvSpPr>
            <p:cNvPr name="Freeform 65" id="65" descr="/home/claude/deck/icons/balance_1B4332.png"/>
            <p:cNvSpPr/>
            <p:nvPr/>
          </p:nvSpPr>
          <p:spPr>
            <a:xfrm flipH="false" flipV="false" rot="0">
              <a:off x="0" y="0"/>
              <a:ext cx="737362" cy="737362"/>
            </a:xfrm>
            <a:custGeom>
              <a:avLst/>
              <a:gdLst/>
              <a:ahLst/>
              <a:cxnLst/>
              <a:rect r="r" b="b" t="t" l="l"/>
              <a:pathLst>
                <a:path h="737362" w="737362">
                  <a:moveTo>
                    <a:pt x="0" y="0"/>
                  </a:moveTo>
                  <a:lnTo>
                    <a:pt x="737362" y="0"/>
                  </a:lnTo>
                  <a:lnTo>
                    <a:pt x="737362" y="737362"/>
                  </a:lnTo>
                  <a:lnTo>
                    <a:pt x="0" y="737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894308" y="4183380"/>
            <a:ext cx="3003804" cy="1028700"/>
            <a:chOff x="0" y="0"/>
            <a:chExt cx="4005072" cy="1371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005072" cy="1371600"/>
            </a:xfrm>
            <a:custGeom>
              <a:avLst/>
              <a:gdLst/>
              <a:ahLst/>
              <a:cxnLst/>
              <a:rect r="r" b="b" t="t" l="l"/>
              <a:pathLst>
                <a:path h="1371600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56" r="0" b="-6857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816101" y="3836073"/>
            <a:ext cx="3003804" cy="1259161"/>
            <a:chOff x="0" y="0"/>
            <a:chExt cx="4005072" cy="167888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005072" cy="1678881"/>
            </a:xfrm>
            <a:custGeom>
              <a:avLst/>
              <a:gdLst/>
              <a:ahLst/>
              <a:cxnLst/>
              <a:rect r="r" b="b" t="t" l="l"/>
              <a:pathLst>
                <a:path h="1678881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1678881"/>
                  </a:lnTo>
                  <a:lnTo>
                    <a:pt x="0" y="16788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66" r="0" b="121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4005072" cy="1697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sz="3524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Financial Risk &amp; Efficiency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884889" y="5491675"/>
            <a:ext cx="3029046" cy="3545058"/>
            <a:chOff x="0" y="0"/>
            <a:chExt cx="4005072" cy="468735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005072" cy="4687355"/>
            </a:xfrm>
            <a:custGeom>
              <a:avLst/>
              <a:gdLst/>
              <a:ahLst/>
              <a:cxnLst/>
              <a:rect r="r" b="b" t="t" l="l"/>
              <a:pathLst>
                <a:path h="4687355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4687355"/>
                  </a:lnTo>
                  <a:lnTo>
                    <a:pt x="0" y="46873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0265" t="0" r="-100264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3844676" y="5212080"/>
            <a:ext cx="3180204" cy="3676834"/>
            <a:chOff x="0" y="0"/>
            <a:chExt cx="4204937" cy="48615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204937" cy="4861592"/>
            </a:xfrm>
            <a:custGeom>
              <a:avLst/>
              <a:gdLst/>
              <a:ahLst/>
              <a:cxnLst/>
              <a:rect r="r" b="b" t="t" l="l"/>
              <a:pathLst>
                <a:path h="4861592" w="4204937">
                  <a:moveTo>
                    <a:pt x="0" y="0"/>
                  </a:moveTo>
                  <a:lnTo>
                    <a:pt x="4204937" y="0"/>
                  </a:lnTo>
                  <a:lnTo>
                    <a:pt x="4204937" y="4861592"/>
                  </a:lnTo>
                  <a:lnTo>
                    <a:pt x="0" y="4861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8625" t="0" r="-83871" b="815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57150"/>
              <a:ext cx="4204937" cy="4918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4"/>
                </a:lnSpc>
              </a:pPr>
              <a:r>
                <a:rPr lang="en-US" sz="2449">
                  <a:solidFill>
                    <a:srgbClr val="E4EFE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Deconstructing net profit margins to isolate logistics costs (FBA fees), promotional cannibalization, and marketplace variances.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7053103" y="9572625"/>
            <a:ext cx="822960" cy="440055"/>
            <a:chOff x="0" y="0"/>
            <a:chExt cx="1097280" cy="5867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9728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05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87" id="87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89" id="89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1081" r="0" b="-31081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347" r="0" b="-345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9525"/>
              <a:ext cx="29260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7116425" y="9417628"/>
            <a:ext cx="891540" cy="595052"/>
            <a:chOff x="0" y="0"/>
            <a:chExt cx="1188720" cy="79340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330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CHAPTER 1 · RESEARCH FRAMEWORK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1110424"/>
            <a:ext cx="14401800" cy="1042987"/>
            <a:chOff x="0" y="0"/>
            <a:chExt cx="19202400" cy="13906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390650"/>
            </a:xfrm>
            <a:custGeom>
              <a:avLst/>
              <a:gdLst/>
              <a:ahLst/>
              <a:cxnLst/>
              <a:rect r="r" b="b" t="t" l="l"/>
              <a:pathLst>
                <a:path h="139065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90650"/>
                  </a:lnTo>
                  <a:lnTo>
                    <a:pt x="0" y="13906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053" r="0" b="-21905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Eight SMART Questions Guiding the Analysis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61060" y="2625446"/>
            <a:ext cx="3906403" cy="2902865"/>
          </a:xfrm>
          <a:custGeom>
            <a:avLst/>
            <a:gdLst/>
            <a:ahLst/>
            <a:cxnLst/>
            <a:rect r="r" b="b" t="t" l="l"/>
            <a:pathLst>
              <a:path h="2902865" w="3906403">
                <a:moveTo>
                  <a:pt x="0" y="0"/>
                </a:moveTo>
                <a:lnTo>
                  <a:pt x="3906403" y="0"/>
                </a:lnTo>
                <a:lnTo>
                  <a:pt x="3906403" y="2902865"/>
                </a:lnTo>
                <a:lnTo>
                  <a:pt x="0" y="29028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07008" y="2702052"/>
            <a:ext cx="1234440" cy="685800"/>
            <a:chOff x="0" y="0"/>
            <a:chExt cx="164592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5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329" t="0" r="-21329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07008" y="2694908"/>
            <a:ext cx="1234440" cy="692944"/>
            <a:chOff x="0" y="0"/>
            <a:chExt cx="1645920" cy="9239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5920" cy="923925"/>
            </a:xfrm>
            <a:custGeom>
              <a:avLst/>
              <a:gdLst/>
              <a:ahLst/>
              <a:cxnLst/>
              <a:rect r="r" b="b" t="t" l="l"/>
              <a:pathLst>
                <a:path h="923925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022" t="0" r="-2202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6459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DCEAE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765042" y="2784348"/>
            <a:ext cx="630936" cy="630936"/>
            <a:chOff x="0" y="0"/>
            <a:chExt cx="841248" cy="8412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907003" y="2926309"/>
            <a:ext cx="346996" cy="346996"/>
            <a:chOff x="0" y="0"/>
            <a:chExt cx="462661" cy="462661"/>
          </a:xfrm>
        </p:grpSpPr>
        <p:sp>
          <p:nvSpPr>
            <p:cNvPr name="Freeform 21" id="21" descr="/home/claude/deck/icons/chartline_FFFFFF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07008" y="3799332"/>
            <a:ext cx="3298698" cy="685800"/>
            <a:chOff x="0" y="0"/>
            <a:chExt cx="4398264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98264" cy="914400"/>
            </a:xfrm>
            <a:custGeom>
              <a:avLst/>
              <a:gdLst/>
              <a:ahLst/>
              <a:cxnLst/>
              <a:rect r="r" b="b" t="t" l="l"/>
              <a:pathLst>
                <a:path h="91440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658" r="0" b="-43656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07008" y="3282696"/>
            <a:ext cx="3302414" cy="965712"/>
            <a:chOff x="0" y="0"/>
            <a:chExt cx="4403219" cy="12876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03219" cy="1287616"/>
            </a:xfrm>
            <a:custGeom>
              <a:avLst/>
              <a:gdLst/>
              <a:ahLst/>
              <a:cxnLst/>
              <a:rect r="r" b="b" t="t" l="l"/>
              <a:pathLst>
                <a:path h="1287616" w="4403219">
                  <a:moveTo>
                    <a:pt x="0" y="0"/>
                  </a:moveTo>
                  <a:lnTo>
                    <a:pt x="4403219" y="0"/>
                  </a:lnTo>
                  <a:lnTo>
                    <a:pt x="4403219" y="1287616"/>
                  </a:lnTo>
                  <a:lnTo>
                    <a:pt x="0" y="12876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49" r="112" b="-206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403219" cy="1287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9"/>
                </a:lnSpc>
              </a:pPr>
              <a:r>
                <a:rPr lang="en-US" b="true" sz="277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Executive Performance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07008" y="4457700"/>
            <a:ext cx="3298698" cy="822960"/>
            <a:chOff x="0" y="0"/>
            <a:chExt cx="4398264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98264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48" r="0" b="-28047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30113" y="4142232"/>
            <a:ext cx="3740972" cy="1253378"/>
            <a:chOff x="0" y="0"/>
            <a:chExt cx="4987963" cy="16711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87963" cy="1671170"/>
            </a:xfrm>
            <a:custGeom>
              <a:avLst/>
              <a:gdLst/>
              <a:ahLst/>
              <a:cxnLst/>
              <a:rect r="r" b="b" t="t" l="l"/>
              <a:pathLst>
                <a:path h="1671170" w="4987963">
                  <a:moveTo>
                    <a:pt x="0" y="0"/>
                  </a:moveTo>
                  <a:lnTo>
                    <a:pt x="4987963" y="0"/>
                  </a:lnTo>
                  <a:lnTo>
                    <a:pt x="4987963" y="1671170"/>
                  </a:lnTo>
                  <a:lnTo>
                    <a:pt x="0" y="16711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42" r="11822" b="1417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987963" cy="1709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73"/>
                </a:lnSpc>
              </a:pPr>
              <a:r>
                <a:rPr lang="en-US" sz="2300">
                  <a:solidFill>
                    <a:srgbClr val="B7D3B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How do Revenue, Net Profit &amp; Net ROI change over time?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5134872" y="2625446"/>
            <a:ext cx="3906403" cy="2902865"/>
          </a:xfrm>
          <a:custGeom>
            <a:avLst/>
            <a:gdLst/>
            <a:ahLst/>
            <a:cxnLst/>
            <a:rect r="r" b="b" t="t" l="l"/>
            <a:pathLst>
              <a:path h="2902865" w="3906403">
                <a:moveTo>
                  <a:pt x="0" y="0"/>
                </a:moveTo>
                <a:lnTo>
                  <a:pt x="3906404" y="0"/>
                </a:lnTo>
                <a:lnTo>
                  <a:pt x="3906404" y="2902865"/>
                </a:lnTo>
                <a:lnTo>
                  <a:pt x="0" y="29028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5383530" y="2702052"/>
            <a:ext cx="1234440" cy="685800"/>
            <a:chOff x="0" y="0"/>
            <a:chExt cx="164592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45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329" t="0" r="-21329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383530" y="2694908"/>
            <a:ext cx="1234440" cy="692944"/>
            <a:chOff x="0" y="0"/>
            <a:chExt cx="1645920" cy="9239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45920" cy="923925"/>
            </a:xfrm>
            <a:custGeom>
              <a:avLst/>
              <a:gdLst/>
              <a:ahLst/>
              <a:cxnLst/>
              <a:rect r="r" b="b" t="t" l="l"/>
              <a:pathLst>
                <a:path h="923925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022" t="0" r="-22022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6459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DCEAE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941564" y="2784348"/>
            <a:ext cx="630936" cy="630936"/>
            <a:chOff x="0" y="0"/>
            <a:chExt cx="841248" cy="8412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083525" y="2926309"/>
            <a:ext cx="346996" cy="346996"/>
            <a:chOff x="0" y="0"/>
            <a:chExt cx="462661" cy="462661"/>
          </a:xfrm>
        </p:grpSpPr>
        <p:sp>
          <p:nvSpPr>
            <p:cNvPr name="Freeform 41" id="41" descr="/home/claude/deck/icons/boxes_FFFFFF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383530" y="3799332"/>
            <a:ext cx="3298698" cy="685800"/>
            <a:chOff x="0" y="0"/>
            <a:chExt cx="4398264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98264" cy="914400"/>
            </a:xfrm>
            <a:custGeom>
              <a:avLst/>
              <a:gdLst/>
              <a:ahLst/>
              <a:cxnLst/>
              <a:rect r="r" b="b" t="t" l="l"/>
              <a:pathLst>
                <a:path h="91440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658" r="0" b="-4365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388644" y="3422652"/>
            <a:ext cx="3302414" cy="685800"/>
            <a:chOff x="0" y="0"/>
            <a:chExt cx="4403219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403219" cy="914400"/>
            </a:xfrm>
            <a:custGeom>
              <a:avLst/>
              <a:gdLst/>
              <a:ahLst/>
              <a:cxnLst/>
              <a:rect r="r" b="b" t="t" l="l"/>
              <a:pathLst>
                <a:path h="914400" w="4403219">
                  <a:moveTo>
                    <a:pt x="0" y="0"/>
                  </a:moveTo>
                  <a:lnTo>
                    <a:pt x="4403219" y="0"/>
                  </a:lnTo>
                  <a:lnTo>
                    <a:pt x="440321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23" r="112" b="-4372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403219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9"/>
                </a:lnSpc>
              </a:pPr>
              <a:r>
                <a:rPr lang="en-US" b="true" sz="277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SKU Performance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383530" y="4457700"/>
            <a:ext cx="3298698" cy="822960"/>
            <a:chOff x="0" y="0"/>
            <a:chExt cx="4398264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398264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48" r="0" b="-28047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5383530" y="4132707"/>
            <a:ext cx="3298698" cy="1253378"/>
            <a:chOff x="0" y="0"/>
            <a:chExt cx="4398264" cy="167117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398264" cy="1671170"/>
            </a:xfrm>
            <a:custGeom>
              <a:avLst/>
              <a:gdLst/>
              <a:ahLst/>
              <a:cxnLst/>
              <a:rect r="r" b="b" t="t" l="l"/>
              <a:pathLst>
                <a:path h="167117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1671170"/>
                  </a:lnTo>
                  <a:lnTo>
                    <a:pt x="0" y="16711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42" r="0" b="1417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398264" cy="1709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73"/>
                </a:lnSpc>
              </a:pPr>
              <a:r>
                <a:rPr lang="en-US" sz="2300">
                  <a:solidFill>
                    <a:srgbClr val="B7D3B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Which SKUs are Bleeding due to low or negative margins?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9408684" y="2625446"/>
            <a:ext cx="3906403" cy="2902865"/>
          </a:xfrm>
          <a:custGeom>
            <a:avLst/>
            <a:gdLst/>
            <a:ahLst/>
            <a:cxnLst/>
            <a:rect r="r" b="b" t="t" l="l"/>
            <a:pathLst>
              <a:path h="2902865" w="3906403">
                <a:moveTo>
                  <a:pt x="0" y="0"/>
                </a:moveTo>
                <a:lnTo>
                  <a:pt x="3906404" y="0"/>
                </a:lnTo>
                <a:lnTo>
                  <a:pt x="3906404" y="2902865"/>
                </a:lnTo>
                <a:lnTo>
                  <a:pt x="0" y="29028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9560052" y="2702052"/>
            <a:ext cx="1234440" cy="685800"/>
            <a:chOff x="0" y="0"/>
            <a:chExt cx="164592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645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329" t="0" r="-21329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686924" y="2685383"/>
            <a:ext cx="1234440" cy="692944"/>
            <a:chOff x="0" y="0"/>
            <a:chExt cx="1645920" cy="92392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645920" cy="923925"/>
            </a:xfrm>
            <a:custGeom>
              <a:avLst/>
              <a:gdLst/>
              <a:ahLst/>
              <a:cxnLst/>
              <a:rect r="r" b="b" t="t" l="l"/>
              <a:pathLst>
                <a:path h="923925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022" t="0" r="-2202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16459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DCEAE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03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118086" y="2784348"/>
            <a:ext cx="630936" cy="630936"/>
            <a:chOff x="0" y="0"/>
            <a:chExt cx="841248" cy="8412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260047" y="2926309"/>
            <a:ext cx="346996" cy="346996"/>
            <a:chOff x="0" y="0"/>
            <a:chExt cx="462661" cy="462661"/>
          </a:xfrm>
        </p:grpSpPr>
        <p:sp>
          <p:nvSpPr>
            <p:cNvPr name="Freeform 61" id="61" descr="/home/claude/deck/icons/globe_FFFFFF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560052" y="3799332"/>
            <a:ext cx="3298698" cy="685800"/>
            <a:chOff x="0" y="0"/>
            <a:chExt cx="4398264" cy="914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398264" cy="914400"/>
            </a:xfrm>
            <a:custGeom>
              <a:avLst/>
              <a:gdLst/>
              <a:ahLst/>
              <a:cxnLst/>
              <a:rect r="r" b="b" t="t" l="l"/>
              <a:pathLst>
                <a:path h="91440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658" r="0" b="-43656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696334" y="3273171"/>
            <a:ext cx="3302414" cy="965712"/>
            <a:chOff x="0" y="0"/>
            <a:chExt cx="4403219" cy="128761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403219" cy="1287616"/>
            </a:xfrm>
            <a:custGeom>
              <a:avLst/>
              <a:gdLst/>
              <a:ahLst/>
              <a:cxnLst/>
              <a:rect r="r" b="b" t="t" l="l"/>
              <a:pathLst>
                <a:path h="1287616" w="4403219">
                  <a:moveTo>
                    <a:pt x="0" y="0"/>
                  </a:moveTo>
                  <a:lnTo>
                    <a:pt x="4403219" y="0"/>
                  </a:lnTo>
                  <a:lnTo>
                    <a:pt x="4403219" y="1287616"/>
                  </a:lnTo>
                  <a:lnTo>
                    <a:pt x="0" y="12876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49" r="112" b="-206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4403219" cy="1287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9"/>
                </a:lnSpc>
              </a:pPr>
              <a:r>
                <a:rPr lang="en-US" b="true" sz="277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Marketplace Performance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560052" y="4457700"/>
            <a:ext cx="3298698" cy="822960"/>
            <a:chOff x="0" y="0"/>
            <a:chExt cx="4398264" cy="1097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398264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48" r="0" b="-28047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560052" y="4194866"/>
            <a:ext cx="3298698" cy="1253378"/>
            <a:chOff x="0" y="0"/>
            <a:chExt cx="4398264" cy="167117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398264" cy="1671170"/>
            </a:xfrm>
            <a:custGeom>
              <a:avLst/>
              <a:gdLst/>
              <a:ahLst/>
              <a:cxnLst/>
              <a:rect r="r" b="b" t="t" l="l"/>
              <a:pathLst>
                <a:path h="167117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1671170"/>
                  </a:lnTo>
                  <a:lnTo>
                    <a:pt x="0" y="16711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42" r="0" b="1417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398264" cy="1709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73"/>
                </a:lnSpc>
              </a:pPr>
              <a:r>
                <a:rPr lang="en-US" sz="2300">
                  <a:solidFill>
                    <a:srgbClr val="B7D3B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Which marketplace wins on Revenue, ROI &amp; cost?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3682496" y="2625446"/>
            <a:ext cx="3906403" cy="2902865"/>
          </a:xfrm>
          <a:custGeom>
            <a:avLst/>
            <a:gdLst/>
            <a:ahLst/>
            <a:cxnLst/>
            <a:rect r="r" b="b" t="t" l="l"/>
            <a:pathLst>
              <a:path h="2902865" w="3906403">
                <a:moveTo>
                  <a:pt x="0" y="0"/>
                </a:moveTo>
                <a:lnTo>
                  <a:pt x="3906404" y="0"/>
                </a:lnTo>
                <a:lnTo>
                  <a:pt x="3906404" y="2902865"/>
                </a:lnTo>
                <a:lnTo>
                  <a:pt x="0" y="29028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3736574" y="2702052"/>
            <a:ext cx="1234440" cy="685800"/>
            <a:chOff x="0" y="0"/>
            <a:chExt cx="1645920" cy="914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645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329" t="0" r="-21329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3966504" y="2762457"/>
            <a:ext cx="1234440" cy="692944"/>
            <a:chOff x="0" y="0"/>
            <a:chExt cx="1645920" cy="92392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645920" cy="923925"/>
            </a:xfrm>
            <a:custGeom>
              <a:avLst/>
              <a:gdLst/>
              <a:ahLst/>
              <a:cxnLst/>
              <a:rect r="r" b="b" t="t" l="l"/>
              <a:pathLst>
                <a:path h="923925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022" t="0" r="-22022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16459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DCEAE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04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6294608" y="2784348"/>
            <a:ext cx="630936" cy="630936"/>
            <a:chOff x="0" y="0"/>
            <a:chExt cx="841248" cy="84124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6436569" y="2926309"/>
            <a:ext cx="346996" cy="346996"/>
            <a:chOff x="0" y="0"/>
            <a:chExt cx="462661" cy="462661"/>
          </a:xfrm>
        </p:grpSpPr>
        <p:sp>
          <p:nvSpPr>
            <p:cNvPr name="Freeform 81" id="81" descr="/home/claude/deck/icons/bullhorn_FFFFFF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736574" y="3799332"/>
            <a:ext cx="3298698" cy="685800"/>
            <a:chOff x="0" y="0"/>
            <a:chExt cx="4398264" cy="9144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398264" cy="914400"/>
            </a:xfrm>
            <a:custGeom>
              <a:avLst/>
              <a:gdLst/>
              <a:ahLst/>
              <a:cxnLst/>
              <a:rect r="r" b="b" t="t" l="l"/>
              <a:pathLst>
                <a:path h="91440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658" r="0" b="-43656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962788" y="3326001"/>
            <a:ext cx="3302414" cy="965712"/>
            <a:chOff x="0" y="0"/>
            <a:chExt cx="4403219" cy="128761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403219" cy="1287616"/>
            </a:xfrm>
            <a:custGeom>
              <a:avLst/>
              <a:gdLst/>
              <a:ahLst/>
              <a:cxnLst/>
              <a:rect r="r" b="b" t="t" l="l"/>
              <a:pathLst>
                <a:path h="1287616" w="4403219">
                  <a:moveTo>
                    <a:pt x="0" y="0"/>
                  </a:moveTo>
                  <a:lnTo>
                    <a:pt x="4403219" y="0"/>
                  </a:lnTo>
                  <a:lnTo>
                    <a:pt x="4403219" y="1287616"/>
                  </a:lnTo>
                  <a:lnTo>
                    <a:pt x="0" y="12876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49" r="112" b="-2064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4403219" cy="1287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9"/>
                </a:lnSpc>
              </a:pPr>
              <a:r>
                <a:rPr lang="en-US" b="true" sz="277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Marketing &amp; Halo Effect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736574" y="4457700"/>
            <a:ext cx="3298698" cy="822960"/>
            <a:chOff x="0" y="0"/>
            <a:chExt cx="4398264" cy="10972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398264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48" r="0" b="-28047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855299" y="4207876"/>
            <a:ext cx="3298698" cy="1253378"/>
            <a:chOff x="0" y="0"/>
            <a:chExt cx="4398264" cy="167117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398264" cy="1671170"/>
            </a:xfrm>
            <a:custGeom>
              <a:avLst/>
              <a:gdLst/>
              <a:ahLst/>
              <a:cxnLst/>
              <a:rect r="r" b="b" t="t" l="l"/>
              <a:pathLst>
                <a:path h="167117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1671170"/>
                  </a:lnTo>
                  <a:lnTo>
                    <a:pt x="0" y="16711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42" r="0" b="1417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398264" cy="1709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73"/>
                </a:lnSpc>
              </a:pPr>
              <a:r>
                <a:rPr lang="en-US" sz="2300">
                  <a:solidFill>
                    <a:srgbClr val="B7D3B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Does PPC spend lift organic sales performance?</a:t>
              </a:r>
            </a:p>
          </p:txBody>
        </p:sp>
      </p:grpSp>
      <p:sp>
        <p:nvSpPr>
          <p:cNvPr name="Freeform 92" id="92"/>
          <p:cNvSpPr/>
          <p:nvPr/>
        </p:nvSpPr>
        <p:spPr>
          <a:xfrm flipH="false" flipV="false" rot="0">
            <a:off x="861060" y="5720782"/>
            <a:ext cx="3906403" cy="2902865"/>
          </a:xfrm>
          <a:custGeom>
            <a:avLst/>
            <a:gdLst/>
            <a:ahLst/>
            <a:cxnLst/>
            <a:rect r="r" b="b" t="t" l="l"/>
            <a:pathLst>
              <a:path h="2902865" w="3906403">
                <a:moveTo>
                  <a:pt x="0" y="0"/>
                </a:moveTo>
                <a:lnTo>
                  <a:pt x="3906403" y="0"/>
                </a:lnTo>
                <a:lnTo>
                  <a:pt x="3906403" y="2902864"/>
                </a:lnTo>
                <a:lnTo>
                  <a:pt x="0" y="29028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3" id="93"/>
          <p:cNvGrpSpPr/>
          <p:nvPr/>
        </p:nvGrpSpPr>
        <p:grpSpPr>
          <a:xfrm rot="0">
            <a:off x="1121803" y="5898801"/>
            <a:ext cx="1240860" cy="689367"/>
            <a:chOff x="0" y="0"/>
            <a:chExt cx="1645920" cy="9144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645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329" t="0" r="-21329" b="0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121803" y="5891620"/>
            <a:ext cx="1240860" cy="696548"/>
            <a:chOff x="0" y="0"/>
            <a:chExt cx="1645920" cy="92392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645920" cy="923925"/>
            </a:xfrm>
            <a:custGeom>
              <a:avLst/>
              <a:gdLst/>
              <a:ahLst/>
              <a:cxnLst/>
              <a:rect r="r" b="b" t="t" l="l"/>
              <a:pathLst>
                <a:path h="923925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022" t="0" r="-22022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16459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DCEAE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05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3693142" y="5981525"/>
            <a:ext cx="634218" cy="634218"/>
            <a:chOff x="0" y="0"/>
            <a:chExt cx="841248" cy="84124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3835841" y="6124224"/>
            <a:ext cx="348801" cy="348801"/>
            <a:chOff x="0" y="0"/>
            <a:chExt cx="462661" cy="462661"/>
          </a:xfrm>
        </p:grpSpPr>
        <p:sp>
          <p:nvSpPr>
            <p:cNvPr name="Freeform 101" id="101" descr="/home/claude/deck/icons/undo_FFFFFF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121803" y="7001788"/>
            <a:ext cx="3315855" cy="689367"/>
            <a:chOff x="0" y="0"/>
            <a:chExt cx="4398264" cy="914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398264" cy="914400"/>
            </a:xfrm>
            <a:custGeom>
              <a:avLst/>
              <a:gdLst/>
              <a:ahLst/>
              <a:cxnLst/>
              <a:rect r="r" b="b" t="t" l="l"/>
              <a:pathLst>
                <a:path h="91440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658" r="0" b="-43656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121803" y="6482465"/>
            <a:ext cx="3319590" cy="689367"/>
            <a:chOff x="0" y="0"/>
            <a:chExt cx="4403219" cy="9144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403219" cy="914400"/>
            </a:xfrm>
            <a:custGeom>
              <a:avLst/>
              <a:gdLst/>
              <a:ahLst/>
              <a:cxnLst/>
              <a:rect r="r" b="b" t="t" l="l"/>
              <a:pathLst>
                <a:path h="914400" w="4403219">
                  <a:moveTo>
                    <a:pt x="0" y="0"/>
                  </a:moveTo>
                  <a:lnTo>
                    <a:pt x="4403219" y="0"/>
                  </a:lnTo>
                  <a:lnTo>
                    <a:pt x="440321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23" r="112" b="-4372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4403219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9"/>
                </a:lnSpc>
              </a:pPr>
              <a:r>
                <a:rPr lang="en-US" b="true" sz="277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Refund &amp; Quality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121803" y="7663580"/>
            <a:ext cx="3315855" cy="827240"/>
            <a:chOff x="0" y="0"/>
            <a:chExt cx="4398264" cy="10972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398264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48" r="0" b="-28047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020054" y="7123193"/>
            <a:ext cx="3656269" cy="1259897"/>
            <a:chOff x="0" y="0"/>
            <a:chExt cx="4849801" cy="167117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849801" cy="1671170"/>
            </a:xfrm>
            <a:custGeom>
              <a:avLst/>
              <a:gdLst/>
              <a:ahLst/>
              <a:cxnLst/>
              <a:rect r="r" b="b" t="t" l="l"/>
              <a:pathLst>
                <a:path h="1671170" w="4849801">
                  <a:moveTo>
                    <a:pt x="0" y="0"/>
                  </a:moveTo>
                  <a:lnTo>
                    <a:pt x="4849801" y="0"/>
                  </a:lnTo>
                  <a:lnTo>
                    <a:pt x="4849801" y="1671170"/>
                  </a:lnTo>
                  <a:lnTo>
                    <a:pt x="0" y="16711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42" r="9310" b="14178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4849801" cy="1709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73"/>
                </a:lnSpc>
              </a:pPr>
              <a:r>
                <a:rPr lang="en-US" sz="2300">
                  <a:solidFill>
                    <a:srgbClr val="B7D3B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Which products/markets drive the highest refund rates?</a:t>
              </a:r>
            </a:p>
          </p:txBody>
        </p:sp>
      </p:grpSp>
      <p:sp>
        <p:nvSpPr>
          <p:cNvPr name="Freeform 112" id="112"/>
          <p:cNvSpPr/>
          <p:nvPr/>
        </p:nvSpPr>
        <p:spPr>
          <a:xfrm flipH="false" flipV="false" rot="0">
            <a:off x="5134872" y="5720782"/>
            <a:ext cx="3906403" cy="2902865"/>
          </a:xfrm>
          <a:custGeom>
            <a:avLst/>
            <a:gdLst/>
            <a:ahLst/>
            <a:cxnLst/>
            <a:rect r="r" b="b" t="t" l="l"/>
            <a:pathLst>
              <a:path h="2902865" w="3906403">
                <a:moveTo>
                  <a:pt x="0" y="0"/>
                </a:moveTo>
                <a:lnTo>
                  <a:pt x="3906404" y="0"/>
                </a:lnTo>
                <a:lnTo>
                  <a:pt x="3906404" y="2902864"/>
                </a:lnTo>
                <a:lnTo>
                  <a:pt x="0" y="29028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3" id="113"/>
          <p:cNvGrpSpPr/>
          <p:nvPr/>
        </p:nvGrpSpPr>
        <p:grpSpPr>
          <a:xfrm rot="0">
            <a:off x="5320048" y="5898801"/>
            <a:ext cx="1240860" cy="689367"/>
            <a:chOff x="0" y="0"/>
            <a:chExt cx="1645920" cy="9144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645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329" t="0" r="-21329" b="0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5320048" y="5891620"/>
            <a:ext cx="1240860" cy="696548"/>
            <a:chOff x="0" y="0"/>
            <a:chExt cx="1645920" cy="92392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645920" cy="923925"/>
            </a:xfrm>
            <a:custGeom>
              <a:avLst/>
              <a:gdLst/>
              <a:ahLst/>
              <a:cxnLst/>
              <a:rect r="r" b="b" t="t" l="l"/>
              <a:pathLst>
                <a:path h="923925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022" t="0" r="-22022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16459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DCEAE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06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7891387" y="5981525"/>
            <a:ext cx="634218" cy="634218"/>
            <a:chOff x="0" y="0"/>
            <a:chExt cx="841248" cy="84124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8034086" y="6124224"/>
            <a:ext cx="348801" cy="348801"/>
            <a:chOff x="0" y="0"/>
            <a:chExt cx="462661" cy="462661"/>
          </a:xfrm>
        </p:grpSpPr>
        <p:sp>
          <p:nvSpPr>
            <p:cNvPr name="Freeform 121" id="121" descr="/home/claude/deck/icons/tags_FFFFFF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320048" y="7001788"/>
            <a:ext cx="3315855" cy="689367"/>
            <a:chOff x="0" y="0"/>
            <a:chExt cx="4398264" cy="9144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398264" cy="914400"/>
            </a:xfrm>
            <a:custGeom>
              <a:avLst/>
              <a:gdLst/>
              <a:ahLst/>
              <a:cxnLst/>
              <a:rect r="r" b="b" t="t" l="l"/>
              <a:pathLst>
                <a:path h="91440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658" r="0" b="-43656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5324778" y="6482465"/>
            <a:ext cx="3319590" cy="970735"/>
            <a:chOff x="0" y="0"/>
            <a:chExt cx="4403219" cy="128761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4403219" cy="1287616"/>
            </a:xfrm>
            <a:custGeom>
              <a:avLst/>
              <a:gdLst/>
              <a:ahLst/>
              <a:cxnLst/>
              <a:rect r="r" b="b" t="t" l="l"/>
              <a:pathLst>
                <a:path h="1287616" w="4403219">
                  <a:moveTo>
                    <a:pt x="0" y="0"/>
                  </a:moveTo>
                  <a:lnTo>
                    <a:pt x="4403219" y="0"/>
                  </a:lnTo>
                  <a:lnTo>
                    <a:pt x="4403219" y="1287616"/>
                  </a:lnTo>
                  <a:lnTo>
                    <a:pt x="0" y="12876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49" r="112" b="-2064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0"/>
              <a:ext cx="4403219" cy="1287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9"/>
                </a:lnSpc>
              </a:pPr>
              <a:r>
                <a:rPr lang="en-US" b="true" sz="277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Promotions Analysis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5320048" y="7663580"/>
            <a:ext cx="3315855" cy="827240"/>
            <a:chOff x="0" y="0"/>
            <a:chExt cx="4398264" cy="109728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4398264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48" r="0" b="-28047"/>
              </a:stretch>
            </a:blip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5320048" y="7462775"/>
            <a:ext cx="3315855" cy="870326"/>
            <a:chOff x="0" y="0"/>
            <a:chExt cx="4398264" cy="115443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4398264" cy="1154430"/>
            </a:xfrm>
            <a:custGeom>
              <a:avLst/>
              <a:gdLst/>
              <a:ahLst/>
              <a:cxnLst/>
              <a:rect r="r" b="b" t="t" l="l"/>
              <a:pathLst>
                <a:path h="115443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1154430"/>
                  </a:lnTo>
                  <a:lnTo>
                    <a:pt x="0" y="11544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36" r="0" b="-24236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4398264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73"/>
                </a:lnSpc>
              </a:pPr>
              <a:r>
                <a:rPr lang="en-US" sz="2300">
                  <a:solidFill>
                    <a:srgbClr val="B7D3B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Do promos grow sales while protecting ROI?</a:t>
              </a:r>
            </a:p>
          </p:txBody>
        </p:sp>
      </p:grpSp>
      <p:sp>
        <p:nvSpPr>
          <p:cNvPr name="Freeform 132" id="132"/>
          <p:cNvSpPr/>
          <p:nvPr/>
        </p:nvSpPr>
        <p:spPr>
          <a:xfrm flipH="false" flipV="false" rot="0">
            <a:off x="9408684" y="5720782"/>
            <a:ext cx="3906403" cy="2902865"/>
          </a:xfrm>
          <a:custGeom>
            <a:avLst/>
            <a:gdLst/>
            <a:ahLst/>
            <a:cxnLst/>
            <a:rect r="r" b="b" t="t" l="l"/>
            <a:pathLst>
              <a:path h="2902865" w="3906403">
                <a:moveTo>
                  <a:pt x="0" y="0"/>
                </a:moveTo>
                <a:lnTo>
                  <a:pt x="3906404" y="0"/>
                </a:lnTo>
                <a:lnTo>
                  <a:pt x="3906404" y="2902864"/>
                </a:lnTo>
                <a:lnTo>
                  <a:pt x="0" y="29028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3" id="133"/>
          <p:cNvGrpSpPr/>
          <p:nvPr/>
        </p:nvGrpSpPr>
        <p:grpSpPr>
          <a:xfrm rot="0">
            <a:off x="9518293" y="5898801"/>
            <a:ext cx="1240860" cy="689367"/>
            <a:chOff x="0" y="0"/>
            <a:chExt cx="1645920" cy="9144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645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329" t="0" r="-21329" b="0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692344" y="5891620"/>
            <a:ext cx="1240860" cy="696548"/>
            <a:chOff x="0" y="0"/>
            <a:chExt cx="1645920" cy="923925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645920" cy="923925"/>
            </a:xfrm>
            <a:custGeom>
              <a:avLst/>
              <a:gdLst/>
              <a:ahLst/>
              <a:cxnLst/>
              <a:rect r="r" b="b" t="t" l="l"/>
              <a:pathLst>
                <a:path h="923925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022" t="0" r="-22022" b="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16459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DCEAE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07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2089632" y="5981525"/>
            <a:ext cx="634218" cy="634218"/>
            <a:chOff x="0" y="0"/>
            <a:chExt cx="841248" cy="841248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2232330" y="6124224"/>
            <a:ext cx="348801" cy="348801"/>
            <a:chOff x="0" y="0"/>
            <a:chExt cx="462661" cy="462661"/>
          </a:xfrm>
        </p:grpSpPr>
        <p:sp>
          <p:nvSpPr>
            <p:cNvPr name="Freeform 141" id="141" descr="/home/claude/deck/icons/brain_FFFFFF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518293" y="7001788"/>
            <a:ext cx="3315855" cy="689367"/>
            <a:chOff x="0" y="0"/>
            <a:chExt cx="4398264" cy="9144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398264" cy="914400"/>
            </a:xfrm>
            <a:custGeom>
              <a:avLst/>
              <a:gdLst/>
              <a:ahLst/>
              <a:cxnLst/>
              <a:rect r="r" b="b" t="t" l="l"/>
              <a:pathLst>
                <a:path h="91440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658" r="0" b="-43656"/>
              </a:stretch>
            </a:blip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701803" y="6482465"/>
            <a:ext cx="3319590" cy="689367"/>
            <a:chOff x="0" y="0"/>
            <a:chExt cx="4403219" cy="9144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403219" cy="914400"/>
            </a:xfrm>
            <a:custGeom>
              <a:avLst/>
              <a:gdLst/>
              <a:ahLst/>
              <a:cxnLst/>
              <a:rect r="r" b="b" t="t" l="l"/>
              <a:pathLst>
                <a:path h="914400" w="4403219">
                  <a:moveTo>
                    <a:pt x="0" y="0"/>
                  </a:moveTo>
                  <a:lnTo>
                    <a:pt x="4403219" y="0"/>
                  </a:lnTo>
                  <a:lnTo>
                    <a:pt x="440321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23" r="112" b="-43723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0"/>
              <a:ext cx="4403219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9"/>
                </a:lnSpc>
              </a:pPr>
              <a:r>
                <a:rPr lang="en-US" b="true" sz="277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ML Prediction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9518293" y="7663580"/>
            <a:ext cx="3315855" cy="827240"/>
            <a:chOff x="0" y="0"/>
            <a:chExt cx="4398264" cy="109728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4398264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48" r="0" b="-28047"/>
              </a:stretch>
            </a:blip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692344" y="7161492"/>
            <a:ext cx="3315855" cy="1259897"/>
            <a:chOff x="0" y="0"/>
            <a:chExt cx="4398264" cy="167117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4398264" cy="1671170"/>
            </a:xfrm>
            <a:custGeom>
              <a:avLst/>
              <a:gdLst/>
              <a:ahLst/>
              <a:cxnLst/>
              <a:rect r="r" b="b" t="t" l="l"/>
              <a:pathLst>
                <a:path h="167117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1671170"/>
                  </a:lnTo>
                  <a:lnTo>
                    <a:pt x="0" y="16711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42" r="0" b="14178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4398264" cy="1709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73"/>
                </a:lnSpc>
              </a:pPr>
              <a:r>
                <a:rPr lang="en-US" sz="2300">
                  <a:solidFill>
                    <a:srgbClr val="B7D3B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Can Random Forest catch Bleeding SKUs early?</a:t>
              </a:r>
            </a:p>
          </p:txBody>
        </p:sp>
      </p:grpSp>
      <p:sp>
        <p:nvSpPr>
          <p:cNvPr name="Freeform 152" id="152"/>
          <p:cNvSpPr/>
          <p:nvPr/>
        </p:nvSpPr>
        <p:spPr>
          <a:xfrm flipH="false" flipV="false" rot="0">
            <a:off x="13682496" y="5720782"/>
            <a:ext cx="3906403" cy="2902865"/>
          </a:xfrm>
          <a:custGeom>
            <a:avLst/>
            <a:gdLst/>
            <a:ahLst/>
            <a:cxnLst/>
            <a:rect r="r" b="b" t="t" l="l"/>
            <a:pathLst>
              <a:path h="2902865" w="3906403">
                <a:moveTo>
                  <a:pt x="0" y="0"/>
                </a:moveTo>
                <a:lnTo>
                  <a:pt x="3906404" y="0"/>
                </a:lnTo>
                <a:lnTo>
                  <a:pt x="3906404" y="2902864"/>
                </a:lnTo>
                <a:lnTo>
                  <a:pt x="0" y="29028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3" id="153"/>
          <p:cNvGrpSpPr/>
          <p:nvPr/>
        </p:nvGrpSpPr>
        <p:grpSpPr>
          <a:xfrm rot="0">
            <a:off x="13716538" y="5898801"/>
            <a:ext cx="1240860" cy="689367"/>
            <a:chOff x="0" y="0"/>
            <a:chExt cx="1645920" cy="91440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645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329" t="0" r="-21329" b="0"/>
              </a:stretch>
            </a:blip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4042753" y="5919866"/>
            <a:ext cx="1240860" cy="696548"/>
            <a:chOff x="0" y="0"/>
            <a:chExt cx="1645920" cy="923925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645920" cy="923925"/>
            </a:xfrm>
            <a:custGeom>
              <a:avLst/>
              <a:gdLst/>
              <a:ahLst/>
              <a:cxnLst/>
              <a:rect r="r" b="b" t="t" l="l"/>
              <a:pathLst>
                <a:path h="923925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022" t="0" r="-22022" b="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16459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DCEAE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08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6287876" y="5981525"/>
            <a:ext cx="634218" cy="634218"/>
            <a:chOff x="0" y="0"/>
            <a:chExt cx="841248" cy="84124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6430575" y="6124224"/>
            <a:ext cx="348801" cy="348801"/>
            <a:chOff x="0" y="0"/>
            <a:chExt cx="462661" cy="462661"/>
          </a:xfrm>
        </p:grpSpPr>
        <p:sp>
          <p:nvSpPr>
            <p:cNvPr name="Freeform 161" id="161" descr="/home/claude/deck/icons/clipboard_FFFFFF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716538" y="7001788"/>
            <a:ext cx="3315855" cy="689367"/>
            <a:chOff x="0" y="0"/>
            <a:chExt cx="4398264" cy="9144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4398264" cy="914400"/>
            </a:xfrm>
            <a:custGeom>
              <a:avLst/>
              <a:gdLst/>
              <a:ahLst/>
              <a:cxnLst/>
              <a:rect r="r" b="b" t="t" l="l"/>
              <a:pathLst>
                <a:path h="91440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658" r="0" b="-43656"/>
              </a:stretch>
            </a:blip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4056941" y="6510711"/>
            <a:ext cx="3319590" cy="689367"/>
            <a:chOff x="0" y="0"/>
            <a:chExt cx="4403219" cy="91440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403219" cy="914400"/>
            </a:xfrm>
            <a:custGeom>
              <a:avLst/>
              <a:gdLst/>
              <a:ahLst/>
              <a:cxnLst/>
              <a:rect r="r" b="b" t="t" l="l"/>
              <a:pathLst>
                <a:path h="914400" w="4403219">
                  <a:moveTo>
                    <a:pt x="0" y="0"/>
                  </a:moveTo>
                  <a:lnTo>
                    <a:pt x="4403219" y="0"/>
                  </a:lnTo>
                  <a:lnTo>
                    <a:pt x="440321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23" r="112" b="-43723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0"/>
              <a:ext cx="4403219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9"/>
                </a:lnSpc>
              </a:pPr>
              <a:r>
                <a:rPr lang="en-US" b="true" sz="277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Decision Support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3716538" y="7663580"/>
            <a:ext cx="3315855" cy="827240"/>
            <a:chOff x="0" y="0"/>
            <a:chExt cx="4398264" cy="109728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4398264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48" r="0" b="-28047"/>
              </a:stretch>
            </a:blip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4042753" y="7219227"/>
            <a:ext cx="3315855" cy="1259897"/>
            <a:chOff x="0" y="0"/>
            <a:chExt cx="4398264" cy="167117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4398264" cy="1671170"/>
            </a:xfrm>
            <a:custGeom>
              <a:avLst/>
              <a:gdLst/>
              <a:ahLst/>
              <a:cxnLst/>
              <a:rect r="r" b="b" t="t" l="l"/>
              <a:pathLst>
                <a:path h="1671170" w="4398264">
                  <a:moveTo>
                    <a:pt x="0" y="0"/>
                  </a:moveTo>
                  <a:lnTo>
                    <a:pt x="4398264" y="0"/>
                  </a:lnTo>
                  <a:lnTo>
                    <a:pt x="4398264" y="1671170"/>
                  </a:lnTo>
                  <a:lnTo>
                    <a:pt x="0" y="16711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42" r="0" b="14178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38100"/>
              <a:ext cx="4398264" cy="1709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73"/>
                </a:lnSpc>
              </a:pPr>
              <a:r>
                <a:rPr lang="en-US" sz="2300">
                  <a:solidFill>
                    <a:srgbClr val="B7D3B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How do dashboards drive pricing &amp; ops decisions?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7053103" y="9572625"/>
            <a:ext cx="822960" cy="440055"/>
            <a:chOff x="0" y="0"/>
            <a:chExt cx="1097280" cy="5867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09728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0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06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183" id="183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184" id="184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185" id="185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31081" r="0" b="-31081"/>
              </a:stretch>
            </a:blipFill>
          </p:spPr>
        </p:sp>
      </p:grpSp>
      <p:grpSp>
        <p:nvGrpSpPr>
          <p:cNvPr name="Group 186" id="186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188" id="188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347" r="0" b="-345"/>
              </a:stretch>
            </a:blipFill>
          </p:spPr>
        </p:sp>
      </p:grpSp>
      <p:grpSp>
        <p:nvGrpSpPr>
          <p:cNvPr name="Group 190" id="190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194" id="194"/>
            <p:cNvSpPr txBox="true"/>
            <p:nvPr/>
          </p:nvSpPr>
          <p:spPr>
            <a:xfrm>
              <a:off x="0" y="9525"/>
              <a:ext cx="29260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17133605" y="9417628"/>
            <a:ext cx="891540" cy="595052"/>
            <a:chOff x="0" y="0"/>
            <a:chExt cx="1188720" cy="793403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60732"/>
            <a:chOff x="0" y="0"/>
            <a:chExt cx="14630400" cy="7476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747643"/>
            </a:xfrm>
            <a:custGeom>
              <a:avLst/>
              <a:gdLst/>
              <a:ahLst/>
              <a:cxnLst/>
              <a:rect r="r" b="b" t="t" l="l"/>
              <a:pathLst>
                <a:path h="747643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47643"/>
                  </a:lnTo>
                  <a:lnTo>
                    <a:pt x="0" y="7476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942" r="0" b="-3266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747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b="true" sz="2874" spc="505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CHAPTER 2 · TECHNICAL ARCHITECTURE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1110424"/>
            <a:ext cx="14401800" cy="1081403"/>
            <a:chOff x="0" y="0"/>
            <a:chExt cx="19202400" cy="14418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441870"/>
            </a:xfrm>
            <a:custGeom>
              <a:avLst/>
              <a:gdLst/>
              <a:ahLst/>
              <a:cxnLst/>
              <a:rect r="r" b="b" t="t" l="l"/>
              <a:pathLst>
                <a:path h="144187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441870"/>
                  </a:lnTo>
                  <a:lnTo>
                    <a:pt x="0" y="14418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1272" r="0" b="-20771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9202400" cy="1432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599"/>
                </a:lnSpc>
              </a:pPr>
              <a:r>
                <a:rPr lang="en-US" sz="5499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 Stack Behind the System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1988820"/>
            <a:ext cx="13716000" cy="548640"/>
            <a:chOff x="0" y="0"/>
            <a:chExt cx="182880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6786" r="0" b="-43678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2166316"/>
            <a:ext cx="14881860" cy="577215"/>
            <a:chOff x="0" y="0"/>
            <a:chExt cx="19842480" cy="7696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42480" cy="769620"/>
            </a:xfrm>
            <a:custGeom>
              <a:avLst/>
              <a:gdLst/>
              <a:ahLst/>
              <a:cxnLst/>
              <a:rect r="r" b="b" t="t" l="l"/>
              <a:pathLst>
                <a:path h="769620" w="19842480">
                  <a:moveTo>
                    <a:pt x="0" y="0"/>
                  </a:moveTo>
                  <a:lnTo>
                    <a:pt x="19842480" y="0"/>
                  </a:lnTo>
                  <a:lnTo>
                    <a:pt x="198424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3010" r="7834" b="-41301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9842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874" i="true">
                  <a:solidFill>
                    <a:srgbClr val="5B6B63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Four platforms covering data engineering, ML, BI development, and UI/UX design.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47614" y="2936434"/>
            <a:ext cx="3982396" cy="6212238"/>
          </a:xfrm>
          <a:custGeom>
            <a:avLst/>
            <a:gdLst/>
            <a:ahLst/>
            <a:cxnLst/>
            <a:rect r="r" b="b" t="t" l="l"/>
            <a:pathLst>
              <a:path h="6212238" w="3982396">
                <a:moveTo>
                  <a:pt x="0" y="0"/>
                </a:moveTo>
                <a:lnTo>
                  <a:pt x="3982396" y="0"/>
                </a:lnTo>
                <a:lnTo>
                  <a:pt x="3982396" y="6212238"/>
                </a:lnTo>
                <a:lnTo>
                  <a:pt x="0" y="62122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125980" y="3118394"/>
            <a:ext cx="1440180" cy="1440180"/>
            <a:chOff x="0" y="0"/>
            <a:chExt cx="1920240" cy="1920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400300" y="3392714"/>
            <a:ext cx="891540" cy="891540"/>
            <a:chOff x="0" y="0"/>
            <a:chExt cx="1188720" cy="1188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596439" y="3588853"/>
            <a:ext cx="499300" cy="499300"/>
            <a:chOff x="0" y="0"/>
            <a:chExt cx="665734" cy="665734"/>
          </a:xfrm>
        </p:grpSpPr>
        <p:sp>
          <p:nvSpPr>
            <p:cNvPr name="Freeform 23" id="23" descr="/home/claude/deck/icons/microsoft_FFFFFF.png"/>
            <p:cNvSpPr/>
            <p:nvPr/>
          </p:nvSpPr>
          <p:spPr>
            <a:xfrm flipH="false" flipV="false" rot="0">
              <a:off x="0" y="0"/>
              <a:ext cx="665734" cy="665734"/>
            </a:xfrm>
            <a:custGeom>
              <a:avLst/>
              <a:gdLst/>
              <a:ahLst/>
              <a:cxnLst/>
              <a:rect r="r" b="b" t="t" l="l"/>
              <a:pathLst>
                <a:path h="665734" w="665734">
                  <a:moveTo>
                    <a:pt x="0" y="0"/>
                  </a:moveTo>
                  <a:lnTo>
                    <a:pt x="665734" y="0"/>
                  </a:lnTo>
                  <a:lnTo>
                    <a:pt x="665734" y="665734"/>
                  </a:lnTo>
                  <a:lnTo>
                    <a:pt x="0" y="665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65860" y="5143500"/>
            <a:ext cx="3360420" cy="548640"/>
            <a:chOff x="0" y="0"/>
            <a:chExt cx="448056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8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62" r="0" b="-6926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440" y="4606199"/>
            <a:ext cx="3360420" cy="622142"/>
            <a:chOff x="0" y="0"/>
            <a:chExt cx="4480560" cy="8295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80560" cy="829523"/>
            </a:xfrm>
            <a:custGeom>
              <a:avLst/>
              <a:gdLst/>
              <a:ahLst/>
              <a:cxnLst/>
              <a:rect r="r" b="b" t="t" l="l"/>
              <a:pathLst>
                <a:path h="829523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829523"/>
                  </a:lnTo>
                  <a:lnTo>
                    <a:pt x="0" y="8295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004" r="0" b="-504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4480560" cy="839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09"/>
                </a:lnSpc>
              </a:pPr>
              <a:r>
                <a:rPr lang="en-US" sz="317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Microsoft Fabric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65860" y="5664708"/>
            <a:ext cx="3360420" cy="754380"/>
            <a:chOff x="0" y="0"/>
            <a:chExt cx="448056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4805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36" r="0" b="-36737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34440" y="5203449"/>
            <a:ext cx="3360420" cy="936329"/>
            <a:chOff x="0" y="0"/>
            <a:chExt cx="4480560" cy="124843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480560" cy="1248439"/>
            </a:xfrm>
            <a:custGeom>
              <a:avLst/>
              <a:gdLst/>
              <a:ahLst/>
              <a:cxnLst/>
              <a:rect r="r" b="b" t="t" l="l"/>
              <a:pathLst>
                <a:path h="1248439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248439"/>
                  </a:lnTo>
                  <a:lnTo>
                    <a:pt x="0" y="12484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20" r="0" b="-1174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4480560" cy="1277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98"/>
                </a:lnSpc>
              </a:pPr>
              <a:r>
                <a:rPr lang="en-US" sz="2574" b="true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 Engineering &amp; Storage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34440" y="6473952"/>
            <a:ext cx="3223260" cy="2194560"/>
            <a:chOff x="0" y="0"/>
            <a:chExt cx="4297680" cy="2926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97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416" t="0" r="-37416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60120" y="6311228"/>
            <a:ext cx="3896554" cy="2724726"/>
            <a:chOff x="0" y="0"/>
            <a:chExt cx="5195405" cy="363296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95405" cy="3632968"/>
            </a:xfrm>
            <a:custGeom>
              <a:avLst/>
              <a:gdLst/>
              <a:ahLst/>
              <a:cxnLst/>
              <a:rect r="r" b="b" t="t" l="l"/>
              <a:pathLst>
                <a:path h="3632968" w="5195405">
                  <a:moveTo>
                    <a:pt x="0" y="0"/>
                  </a:moveTo>
                  <a:lnTo>
                    <a:pt x="5195405" y="0"/>
                  </a:lnTo>
                  <a:lnTo>
                    <a:pt x="5195405" y="3632968"/>
                  </a:lnTo>
                  <a:lnTo>
                    <a:pt x="0" y="3632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2547" t="0" r="-15268" b="1762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5195405" cy="3690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499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Organizes the workflow via Medallion Architecture (Bronze / Silver / Gold), manages datasets and transformations.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5115872" y="2936434"/>
            <a:ext cx="3936678" cy="6140922"/>
          </a:xfrm>
          <a:custGeom>
            <a:avLst/>
            <a:gdLst/>
            <a:ahLst/>
            <a:cxnLst/>
            <a:rect r="r" b="b" t="t" l="l"/>
            <a:pathLst>
              <a:path h="6140922" w="3936678">
                <a:moveTo>
                  <a:pt x="0" y="0"/>
                </a:moveTo>
                <a:lnTo>
                  <a:pt x="3936678" y="0"/>
                </a:lnTo>
                <a:lnTo>
                  <a:pt x="3936678" y="6140922"/>
                </a:lnTo>
                <a:lnTo>
                  <a:pt x="0" y="61409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6309360" y="3118394"/>
            <a:ext cx="1440180" cy="1440180"/>
            <a:chOff x="0" y="0"/>
            <a:chExt cx="1920240" cy="1920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583680" y="3392714"/>
            <a:ext cx="891540" cy="891540"/>
            <a:chOff x="0" y="0"/>
            <a:chExt cx="1188720" cy="1188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779819" y="3621124"/>
            <a:ext cx="499300" cy="499300"/>
            <a:chOff x="0" y="0"/>
            <a:chExt cx="665734" cy="665734"/>
          </a:xfrm>
        </p:grpSpPr>
        <p:sp>
          <p:nvSpPr>
            <p:cNvPr name="Freeform 45" id="45" descr="/home/claude/deck/icons/python_FFFFFF.png"/>
            <p:cNvSpPr/>
            <p:nvPr/>
          </p:nvSpPr>
          <p:spPr>
            <a:xfrm flipH="false" flipV="false" rot="0">
              <a:off x="0" y="0"/>
              <a:ext cx="665734" cy="665734"/>
            </a:xfrm>
            <a:custGeom>
              <a:avLst/>
              <a:gdLst/>
              <a:ahLst/>
              <a:cxnLst/>
              <a:rect r="r" b="b" t="t" l="l"/>
              <a:pathLst>
                <a:path h="665734" w="665734">
                  <a:moveTo>
                    <a:pt x="0" y="0"/>
                  </a:moveTo>
                  <a:lnTo>
                    <a:pt x="665734" y="0"/>
                  </a:lnTo>
                  <a:lnTo>
                    <a:pt x="665734" y="665734"/>
                  </a:lnTo>
                  <a:lnTo>
                    <a:pt x="0" y="665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349240" y="5143500"/>
            <a:ext cx="3360420" cy="548640"/>
            <a:chOff x="0" y="0"/>
            <a:chExt cx="448056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48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62" r="0" b="-69263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280660" y="4601833"/>
            <a:ext cx="3360420" cy="622142"/>
            <a:chOff x="0" y="0"/>
            <a:chExt cx="4480560" cy="82952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480560" cy="829523"/>
            </a:xfrm>
            <a:custGeom>
              <a:avLst/>
              <a:gdLst/>
              <a:ahLst/>
              <a:cxnLst/>
              <a:rect r="r" b="b" t="t" l="l"/>
              <a:pathLst>
                <a:path h="829523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829523"/>
                  </a:lnTo>
                  <a:lnTo>
                    <a:pt x="0" y="8295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004" r="0" b="-5048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4480560" cy="839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09"/>
                </a:lnSpc>
              </a:pPr>
              <a:r>
                <a:rPr lang="en-US" sz="317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Python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349240" y="5664708"/>
            <a:ext cx="3360420" cy="754380"/>
            <a:chOff x="0" y="0"/>
            <a:chExt cx="4480560" cy="1005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4805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36" r="0" b="-36737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349240" y="5247392"/>
            <a:ext cx="3360420" cy="936329"/>
            <a:chOff x="0" y="0"/>
            <a:chExt cx="4480560" cy="124843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480560" cy="1248439"/>
            </a:xfrm>
            <a:custGeom>
              <a:avLst/>
              <a:gdLst/>
              <a:ahLst/>
              <a:cxnLst/>
              <a:rect r="r" b="b" t="t" l="l"/>
              <a:pathLst>
                <a:path h="1248439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248439"/>
                  </a:lnTo>
                  <a:lnTo>
                    <a:pt x="0" y="12484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20" r="0" b="-1174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4480560" cy="1277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98"/>
                </a:lnSpc>
              </a:pPr>
              <a:r>
                <a:rPr lang="en-US" sz="2574" b="true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Processing &amp; Machine Learning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417820" y="6473952"/>
            <a:ext cx="3223260" cy="2194560"/>
            <a:chOff x="0" y="0"/>
            <a:chExt cx="4297680" cy="29260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297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416" t="0" r="-37416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5417820" y="6423946"/>
            <a:ext cx="3223260" cy="2277051"/>
            <a:chOff x="0" y="0"/>
            <a:chExt cx="4297680" cy="303606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297680" cy="3036068"/>
            </a:xfrm>
            <a:custGeom>
              <a:avLst/>
              <a:gdLst/>
              <a:ahLst/>
              <a:cxnLst/>
              <a:rect r="r" b="b" t="t" l="l"/>
              <a:pathLst>
                <a:path h="3036068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3036068"/>
                  </a:lnTo>
                  <a:lnTo>
                    <a:pt x="0" y="30360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346" t="0" r="-39346" b="142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4297680" cy="309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499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 cleaning, feature engineering, KPI calculation, and the Isolation Forest anomaly model.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9338300" y="3047119"/>
            <a:ext cx="3865723" cy="6030237"/>
          </a:xfrm>
          <a:custGeom>
            <a:avLst/>
            <a:gdLst/>
            <a:ahLst/>
            <a:cxnLst/>
            <a:rect r="r" b="b" t="t" l="l"/>
            <a:pathLst>
              <a:path h="6030237" w="3865723">
                <a:moveTo>
                  <a:pt x="0" y="0"/>
                </a:moveTo>
                <a:lnTo>
                  <a:pt x="3865723" y="0"/>
                </a:lnTo>
                <a:lnTo>
                  <a:pt x="3865723" y="6030237"/>
                </a:lnTo>
                <a:lnTo>
                  <a:pt x="0" y="60302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0492740" y="3118394"/>
            <a:ext cx="1440180" cy="1440180"/>
            <a:chOff x="0" y="0"/>
            <a:chExt cx="1920240" cy="19202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767060" y="3392714"/>
            <a:ext cx="891540" cy="891540"/>
            <a:chOff x="0" y="0"/>
            <a:chExt cx="1188720" cy="11887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0963199" y="3621124"/>
            <a:ext cx="499300" cy="499300"/>
            <a:chOff x="0" y="0"/>
            <a:chExt cx="665734" cy="665734"/>
          </a:xfrm>
        </p:grpSpPr>
        <p:sp>
          <p:nvSpPr>
            <p:cNvPr name="Freeform 67" id="67" descr="/home/claude/deck/icons/chartbar_FFFFFF.png"/>
            <p:cNvSpPr/>
            <p:nvPr/>
          </p:nvSpPr>
          <p:spPr>
            <a:xfrm flipH="false" flipV="false" rot="0">
              <a:off x="0" y="0"/>
              <a:ext cx="665734" cy="665734"/>
            </a:xfrm>
            <a:custGeom>
              <a:avLst/>
              <a:gdLst/>
              <a:ahLst/>
              <a:cxnLst/>
              <a:rect r="r" b="b" t="t" l="l"/>
              <a:pathLst>
                <a:path h="665734" w="665734">
                  <a:moveTo>
                    <a:pt x="0" y="0"/>
                  </a:moveTo>
                  <a:lnTo>
                    <a:pt x="665734" y="0"/>
                  </a:lnTo>
                  <a:lnTo>
                    <a:pt x="665734" y="665734"/>
                  </a:lnTo>
                  <a:lnTo>
                    <a:pt x="0" y="665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532620" y="5143500"/>
            <a:ext cx="3360420" cy="548640"/>
            <a:chOff x="0" y="0"/>
            <a:chExt cx="448056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8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62" r="0" b="-69263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532639" y="4606199"/>
            <a:ext cx="3360420" cy="622142"/>
            <a:chOff x="0" y="0"/>
            <a:chExt cx="4480560" cy="82952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480560" cy="829523"/>
            </a:xfrm>
            <a:custGeom>
              <a:avLst/>
              <a:gdLst/>
              <a:ahLst/>
              <a:cxnLst/>
              <a:rect r="r" b="b" t="t" l="l"/>
              <a:pathLst>
                <a:path h="829523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829523"/>
                  </a:lnTo>
                  <a:lnTo>
                    <a:pt x="0" y="8295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004" r="0" b="-5048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4480560" cy="839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09"/>
                </a:lnSpc>
              </a:pPr>
              <a:r>
                <a:rPr lang="en-US" sz="317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Power BI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532620" y="5664708"/>
            <a:ext cx="3360420" cy="754380"/>
            <a:chOff x="0" y="0"/>
            <a:chExt cx="4480560" cy="10058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4805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36" r="0" b="-36737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576425" y="5223975"/>
            <a:ext cx="3360420" cy="936329"/>
            <a:chOff x="0" y="0"/>
            <a:chExt cx="4480560" cy="124843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480560" cy="1248439"/>
            </a:xfrm>
            <a:custGeom>
              <a:avLst/>
              <a:gdLst/>
              <a:ahLst/>
              <a:cxnLst/>
              <a:rect r="r" b="b" t="t" l="l"/>
              <a:pathLst>
                <a:path h="1248439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248439"/>
                  </a:lnTo>
                  <a:lnTo>
                    <a:pt x="0" y="12484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20" r="0" b="-1174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4480560" cy="1277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98"/>
                </a:lnSpc>
              </a:pPr>
              <a:r>
                <a:rPr lang="en-US" sz="2574" b="true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Business Intelligence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601200" y="6473952"/>
            <a:ext cx="3223260" cy="2194560"/>
            <a:chOff x="0" y="0"/>
            <a:chExt cx="4297680" cy="29260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297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416" t="0" r="-37416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601200" y="6423946"/>
            <a:ext cx="3223260" cy="2277051"/>
            <a:chOff x="0" y="0"/>
            <a:chExt cx="4297680" cy="303606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297680" cy="3036068"/>
            </a:xfrm>
            <a:custGeom>
              <a:avLst/>
              <a:gdLst/>
              <a:ahLst/>
              <a:cxnLst/>
              <a:rect r="r" b="b" t="t" l="l"/>
              <a:pathLst>
                <a:path h="3036068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3036068"/>
                  </a:lnTo>
                  <a:lnTo>
                    <a:pt x="0" y="30360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346" t="0" r="-39346" b="142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4297680" cy="309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499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Builds 7 interactive dashboard pages with DAX measures, slicers, drill-through &amp; bookmarks.</a:t>
              </a: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13395960" y="2936434"/>
            <a:ext cx="3898697" cy="6081674"/>
          </a:xfrm>
          <a:custGeom>
            <a:avLst/>
            <a:gdLst/>
            <a:ahLst/>
            <a:cxnLst/>
            <a:rect r="r" b="b" t="t" l="l"/>
            <a:pathLst>
              <a:path h="6081674" w="3898697">
                <a:moveTo>
                  <a:pt x="0" y="0"/>
                </a:moveTo>
                <a:lnTo>
                  <a:pt x="3898697" y="0"/>
                </a:lnTo>
                <a:lnTo>
                  <a:pt x="3898697" y="6081673"/>
                </a:lnTo>
                <a:lnTo>
                  <a:pt x="0" y="6081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14676120" y="3118394"/>
            <a:ext cx="1440180" cy="1440180"/>
            <a:chOff x="0" y="0"/>
            <a:chExt cx="1920240" cy="19202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4950440" y="3392714"/>
            <a:ext cx="891540" cy="891540"/>
            <a:chOff x="0" y="0"/>
            <a:chExt cx="1188720" cy="11887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5146579" y="3588853"/>
            <a:ext cx="499300" cy="499300"/>
            <a:chOff x="0" y="0"/>
            <a:chExt cx="665734" cy="665734"/>
          </a:xfrm>
        </p:grpSpPr>
        <p:sp>
          <p:nvSpPr>
            <p:cNvPr name="Freeform 89" id="89" descr="/home/claude/deck/icons/figma_FFFFFF.png"/>
            <p:cNvSpPr/>
            <p:nvPr/>
          </p:nvSpPr>
          <p:spPr>
            <a:xfrm flipH="false" flipV="false" rot="0">
              <a:off x="0" y="0"/>
              <a:ext cx="665734" cy="665734"/>
            </a:xfrm>
            <a:custGeom>
              <a:avLst/>
              <a:gdLst/>
              <a:ahLst/>
              <a:cxnLst/>
              <a:rect r="r" b="b" t="t" l="l"/>
              <a:pathLst>
                <a:path h="665734" w="665734">
                  <a:moveTo>
                    <a:pt x="0" y="0"/>
                  </a:moveTo>
                  <a:lnTo>
                    <a:pt x="665734" y="0"/>
                  </a:lnTo>
                  <a:lnTo>
                    <a:pt x="665734" y="665734"/>
                  </a:lnTo>
                  <a:lnTo>
                    <a:pt x="0" y="665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3716000" y="5143500"/>
            <a:ext cx="3360420" cy="548640"/>
            <a:chOff x="0" y="0"/>
            <a:chExt cx="4480560" cy="7315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48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62" r="0" b="-69263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3727898" y="4556791"/>
            <a:ext cx="3360420" cy="622142"/>
            <a:chOff x="0" y="0"/>
            <a:chExt cx="4480560" cy="82952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480560" cy="829523"/>
            </a:xfrm>
            <a:custGeom>
              <a:avLst/>
              <a:gdLst/>
              <a:ahLst/>
              <a:cxnLst/>
              <a:rect r="r" b="b" t="t" l="l"/>
              <a:pathLst>
                <a:path h="829523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829523"/>
                  </a:lnTo>
                  <a:lnTo>
                    <a:pt x="0" y="8295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004" r="0" b="-5048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4480560" cy="839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09"/>
                </a:lnSpc>
              </a:pPr>
              <a:r>
                <a:rPr lang="en-US" sz="317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Figma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716000" y="5664708"/>
            <a:ext cx="3360420" cy="754380"/>
            <a:chOff x="0" y="0"/>
            <a:chExt cx="4480560" cy="10058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4805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36" r="0" b="-36737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3765998" y="5107591"/>
            <a:ext cx="3360420" cy="782955"/>
            <a:chOff x="0" y="0"/>
            <a:chExt cx="4480560" cy="10439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480560" cy="1043940"/>
            </a:xfrm>
            <a:custGeom>
              <a:avLst/>
              <a:gdLst/>
              <a:ahLst/>
              <a:cxnLst/>
              <a:rect r="r" b="b" t="t" l="l"/>
              <a:pathLst>
                <a:path h="104394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043940"/>
                  </a:lnTo>
                  <a:lnTo>
                    <a:pt x="0" y="1043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629" r="0" b="-33629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448056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98"/>
                </a:lnSpc>
              </a:pPr>
              <a:r>
                <a:rPr lang="en-US" sz="2574" b="true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UI / UX Design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3784580" y="6473952"/>
            <a:ext cx="3223260" cy="2194560"/>
            <a:chOff x="0" y="0"/>
            <a:chExt cx="4297680" cy="292608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297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416" t="0" r="-37416" b="0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3756473" y="6139778"/>
            <a:ext cx="3223260" cy="2724726"/>
            <a:chOff x="0" y="0"/>
            <a:chExt cx="4297680" cy="363296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297680" cy="3632968"/>
            </a:xfrm>
            <a:custGeom>
              <a:avLst/>
              <a:gdLst/>
              <a:ahLst/>
              <a:cxnLst/>
              <a:rect r="r" b="b" t="t" l="l"/>
              <a:pathLst>
                <a:path h="3632968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3632968"/>
                  </a:lnTo>
                  <a:lnTo>
                    <a:pt x="0" y="3632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346" t="0" r="-39346" b="17622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57150"/>
              <a:ext cx="4297680" cy="3690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499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Designs layout, navigation sidebar, color palette &amp; typography before Power BI implementation.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822960" y="9572625"/>
            <a:ext cx="8229600" cy="473595"/>
            <a:chOff x="0" y="0"/>
            <a:chExt cx="10972800" cy="63146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0972800" cy="631461"/>
            </a:xfrm>
            <a:custGeom>
              <a:avLst/>
              <a:gdLst/>
              <a:ahLst/>
              <a:cxnLst/>
              <a:rect r="r" b="b" t="t" l="l"/>
              <a:pathLst>
                <a:path h="631461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31461"/>
                  </a:lnTo>
                  <a:lnTo>
                    <a:pt x="0" y="6314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2129" r="0" b="-285047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10972800" cy="631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8"/>
                </a:lnSpc>
              </a:pPr>
              <a:r>
                <a:rPr lang="en-US" sz="2424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7053103" y="9572625"/>
            <a:ext cx="822960" cy="486351"/>
            <a:chOff x="0" y="0"/>
            <a:chExt cx="1097280" cy="648467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097280" cy="648467"/>
            </a:xfrm>
            <a:custGeom>
              <a:avLst/>
              <a:gdLst/>
              <a:ahLst/>
              <a:cxnLst/>
              <a:rect r="r" b="b" t="t" l="l"/>
              <a:pathLst>
                <a:path h="648467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8467"/>
                  </a:lnTo>
                  <a:lnTo>
                    <a:pt x="0" y="6484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9518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1097280" cy="648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999"/>
                </a:lnSpc>
              </a:pPr>
              <a:r>
                <a:rPr lang="en-US" sz="249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116" id="116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118" id="118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1081" r="0" b="-31081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347" r="0" b="-345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7116893" y="9417628"/>
            <a:ext cx="891540" cy="595052"/>
            <a:chOff x="0" y="0"/>
            <a:chExt cx="1188720" cy="793403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69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CHAPTER 2 · DATA PIPELINE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1110424"/>
            <a:ext cx="14401800" cy="1105048"/>
            <a:chOff x="0" y="0"/>
            <a:chExt cx="19202400" cy="14733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473397"/>
            </a:xfrm>
            <a:custGeom>
              <a:avLst/>
              <a:gdLst/>
              <a:ahLst/>
              <a:cxnLst/>
              <a:rect r="r" b="b" t="t" l="l"/>
              <a:pathLst>
                <a:path h="1473397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473397"/>
                  </a:lnTo>
                  <a:lnTo>
                    <a:pt x="0" y="14733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6751" r="0" b="-20113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202400" cy="1482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Enterpris</a:t>
              </a:r>
              <a:r>
                <a:rPr lang="en-US" sz="5599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 Data Pipeline &amp; Architecture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057400"/>
            <a:ext cx="15087600" cy="685800"/>
            <a:chOff x="0" y="0"/>
            <a:chExt cx="201168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372" r="0" b="-37837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9572625"/>
            <a:ext cx="8229600" cy="497249"/>
            <a:chOff x="0" y="0"/>
            <a:chExt cx="10972800" cy="6629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662999"/>
            </a:xfrm>
            <a:custGeom>
              <a:avLst/>
              <a:gdLst/>
              <a:ahLst/>
              <a:cxnLst/>
              <a:rect r="r" b="b" t="t" l="l"/>
              <a:pathLst>
                <a:path h="66299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99"/>
                  </a:lnTo>
                  <a:lnTo>
                    <a:pt x="0" y="6629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8233" r="0" b="-26673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0972800" cy="672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8"/>
                </a:lnSpc>
              </a:pPr>
              <a:r>
                <a:rPr lang="en-US" sz="2524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7053103" y="9572625"/>
            <a:ext cx="822960" cy="509996"/>
            <a:chOff x="0" y="0"/>
            <a:chExt cx="1097280" cy="67999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" cy="679994"/>
            </a:xfrm>
            <a:custGeom>
              <a:avLst/>
              <a:gdLst/>
              <a:ahLst/>
              <a:cxnLst/>
              <a:rect r="r" b="b" t="t" l="l"/>
              <a:pathLst>
                <a:path h="67999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79994"/>
                  </a:lnTo>
                  <a:lnTo>
                    <a:pt x="0" y="67999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1371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097280" cy="689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19"/>
                </a:lnSpc>
              </a:pPr>
              <a:r>
                <a:rPr lang="en-US" sz="259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08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25" id="25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27" id="27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1081" r="0" b="-31081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47" r="0" b="-345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634445" y="2215472"/>
            <a:ext cx="16830137" cy="6843797"/>
          </a:xfrm>
          <a:custGeom>
            <a:avLst/>
            <a:gdLst/>
            <a:ahLst/>
            <a:cxnLst/>
            <a:rect r="r" b="b" t="t" l="l"/>
            <a:pathLst>
              <a:path h="6843797" w="16830137">
                <a:moveTo>
                  <a:pt x="0" y="0"/>
                </a:moveTo>
                <a:lnTo>
                  <a:pt x="16830138" y="0"/>
                </a:lnTo>
                <a:lnTo>
                  <a:pt x="16830138" y="6843797"/>
                </a:lnTo>
                <a:lnTo>
                  <a:pt x="0" y="68437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9070" r="0" b="-15108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7135475" y="9417628"/>
            <a:ext cx="891540" cy="595052"/>
            <a:chOff x="0" y="0"/>
            <a:chExt cx="1188720" cy="79340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69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CHAPTER 2 · DATA PIPELINE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1110424"/>
            <a:ext cx="14401800" cy="1105048"/>
            <a:chOff x="0" y="0"/>
            <a:chExt cx="19202400" cy="14733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473397"/>
            </a:xfrm>
            <a:custGeom>
              <a:avLst/>
              <a:gdLst/>
              <a:ahLst/>
              <a:cxnLst/>
              <a:rect r="r" b="b" t="t" l="l"/>
              <a:pathLst>
                <a:path h="1473397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473397"/>
                  </a:lnTo>
                  <a:lnTo>
                    <a:pt x="0" y="14733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6751" r="0" b="-20113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202400" cy="1482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 Medallion Architecture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057400"/>
            <a:ext cx="15087600" cy="685800"/>
            <a:chOff x="0" y="0"/>
            <a:chExt cx="201168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372" r="0" b="-37837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2400300"/>
            <a:ext cx="15087600" cy="1032052"/>
            <a:chOff x="0" y="0"/>
            <a:chExt cx="20116800" cy="13760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116800" cy="1376069"/>
            </a:xfrm>
            <a:custGeom>
              <a:avLst/>
              <a:gdLst/>
              <a:ahLst/>
              <a:cxnLst/>
              <a:rect r="r" b="b" t="t" l="l"/>
              <a:pathLst>
                <a:path h="1376069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6069"/>
                  </a:lnTo>
                  <a:lnTo>
                    <a:pt x="0" y="1376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0242" r="0" b="-21946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0116800" cy="1376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9"/>
                </a:lnSpc>
              </a:pPr>
              <a:r>
                <a:rPr lang="en-US" sz="2974" i="true">
                  <a:solidFill>
                    <a:srgbClr val="5B6B63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Raw data is never overwritten (Bronze), cleaning logic is centralized (Silver), and the analytical layer is purpose-built for Power BI (Gold).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47614" y="3699052"/>
            <a:ext cx="5099923" cy="5305663"/>
          </a:xfrm>
          <a:custGeom>
            <a:avLst/>
            <a:gdLst/>
            <a:ahLst/>
            <a:cxnLst/>
            <a:rect r="r" b="b" t="t" l="l"/>
            <a:pathLst>
              <a:path h="5305663" w="5099923">
                <a:moveTo>
                  <a:pt x="0" y="0"/>
                </a:moveTo>
                <a:lnTo>
                  <a:pt x="5099923" y="0"/>
                </a:lnTo>
                <a:lnTo>
                  <a:pt x="5099923" y="5305663"/>
                </a:lnTo>
                <a:lnTo>
                  <a:pt x="0" y="53056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344168" y="4095606"/>
            <a:ext cx="905256" cy="905256"/>
            <a:chOff x="0" y="0"/>
            <a:chExt cx="1207008" cy="12070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70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43326" y="4294765"/>
            <a:ext cx="506920" cy="506920"/>
            <a:chOff x="0" y="0"/>
            <a:chExt cx="675894" cy="675894"/>
          </a:xfrm>
        </p:grpSpPr>
        <p:sp>
          <p:nvSpPr>
            <p:cNvPr name="Freeform 21" id="21" descr="/home/claude/deck/icons/database_FFFFFF.png"/>
            <p:cNvSpPr/>
            <p:nvPr/>
          </p:nvSpPr>
          <p:spPr>
            <a:xfrm flipH="false" flipV="false" rot="0">
              <a:off x="0" y="0"/>
              <a:ext cx="675894" cy="675894"/>
            </a:xfrm>
            <a:custGeom>
              <a:avLst/>
              <a:gdLst/>
              <a:ahLst/>
              <a:cxnLst/>
              <a:rect r="r" b="b" t="t" l="l"/>
              <a:pathLst>
                <a:path h="675894" w="675894">
                  <a:moveTo>
                    <a:pt x="0" y="0"/>
                  </a:moveTo>
                  <a:lnTo>
                    <a:pt x="675894" y="0"/>
                  </a:lnTo>
                  <a:lnTo>
                    <a:pt x="675894" y="675894"/>
                  </a:lnTo>
                  <a:lnTo>
                    <a:pt x="0" y="675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468880" y="4095606"/>
            <a:ext cx="3291840" cy="480060"/>
            <a:chOff x="0" y="0"/>
            <a:chExt cx="438912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9120" cy="640080"/>
            </a:xfrm>
            <a:custGeom>
              <a:avLst/>
              <a:gdLst/>
              <a:ahLst/>
              <a:cxnLst/>
              <a:rect r="r" b="b" t="t" l="l"/>
              <a:pathLst>
                <a:path h="6400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517" r="0" b="-83519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468880" y="4081319"/>
            <a:ext cx="3291840" cy="658759"/>
            <a:chOff x="0" y="0"/>
            <a:chExt cx="4389120" cy="8783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9120" cy="878345"/>
            </a:xfrm>
            <a:custGeom>
              <a:avLst/>
              <a:gdLst/>
              <a:ahLst/>
              <a:cxnLst/>
              <a:rect r="r" b="b" t="t" l="l"/>
              <a:pathLst>
                <a:path h="878345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78345"/>
                  </a:lnTo>
                  <a:lnTo>
                    <a:pt x="0" y="8783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846" r="0" b="-3488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389120" cy="88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19"/>
                </a:lnSpc>
              </a:pPr>
              <a:r>
                <a:rPr lang="en-US" sz="3349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Bronze Layer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468880" y="4561950"/>
            <a:ext cx="3291840" cy="411480"/>
            <a:chOff x="0" y="0"/>
            <a:chExt cx="438912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89120" cy="548640"/>
            </a:xfrm>
            <a:custGeom>
              <a:avLst/>
              <a:gdLst/>
              <a:ahLst/>
              <a:cxnLst/>
              <a:rect r="r" b="b" t="t" l="l"/>
              <a:pathLst>
                <a:path h="548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70" r="0" b="-10577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468880" y="4630599"/>
            <a:ext cx="3291840" cy="509996"/>
            <a:chOff x="0" y="0"/>
            <a:chExt cx="4389120" cy="67999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89120" cy="679994"/>
            </a:xfrm>
            <a:custGeom>
              <a:avLst/>
              <a:gdLst/>
              <a:ahLst/>
              <a:cxnLst/>
              <a:rect r="r" b="b" t="t" l="l"/>
              <a:pathLst>
                <a:path h="679994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79994"/>
                  </a:lnTo>
                  <a:lnTo>
                    <a:pt x="0" y="67999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625" r="0" b="-6891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389120" cy="689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9C6B3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Raw Ingestion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71600" y="5439774"/>
            <a:ext cx="123444" cy="123444"/>
            <a:chOff x="0" y="0"/>
            <a:chExt cx="164592" cy="164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645920" y="5247750"/>
            <a:ext cx="4046220" cy="548640"/>
            <a:chOff x="0" y="0"/>
            <a:chExt cx="539496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602" r="0" b="-93602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645920" y="5226319"/>
            <a:ext cx="4046220" cy="570071"/>
            <a:chOff x="0" y="0"/>
            <a:chExt cx="5394960" cy="76009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94960" cy="760095"/>
            </a:xfrm>
            <a:custGeom>
              <a:avLst/>
              <a:gdLst/>
              <a:ahLst/>
              <a:cxnLst/>
              <a:rect r="r" b="b" t="t" l="l"/>
              <a:pathLst>
                <a:path h="760095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299" r="0" b="-8829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5394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Raw Excel import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71600" y="6153006"/>
            <a:ext cx="123444" cy="123444"/>
            <a:chOff x="0" y="0"/>
            <a:chExt cx="164592" cy="1645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5920" y="5960982"/>
            <a:ext cx="4046220" cy="548640"/>
            <a:chOff x="0" y="0"/>
            <a:chExt cx="539496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602" r="0" b="-93602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5920" y="5939551"/>
            <a:ext cx="4046220" cy="570071"/>
            <a:chOff x="0" y="0"/>
            <a:chExt cx="5394960" cy="76009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94960" cy="760095"/>
            </a:xfrm>
            <a:custGeom>
              <a:avLst/>
              <a:gdLst/>
              <a:ahLst/>
              <a:cxnLst/>
              <a:rect r="r" b="b" t="t" l="l"/>
              <a:pathLst>
                <a:path h="760095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299" r="0" b="-8829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9525"/>
              <a:ext cx="5394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 transformation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71600" y="6866238"/>
            <a:ext cx="123444" cy="123444"/>
            <a:chOff x="0" y="0"/>
            <a:chExt cx="164592" cy="1645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645920" y="6674214"/>
            <a:ext cx="4046220" cy="548640"/>
            <a:chOff x="0" y="0"/>
            <a:chExt cx="539496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602" r="0" b="-93602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5920" y="6652783"/>
            <a:ext cx="4046220" cy="570071"/>
            <a:chOff x="0" y="0"/>
            <a:chExt cx="5394960" cy="76009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94960" cy="760095"/>
            </a:xfrm>
            <a:custGeom>
              <a:avLst/>
              <a:gdLst/>
              <a:ahLst/>
              <a:cxnLst/>
              <a:rect r="r" b="b" t="t" l="l"/>
              <a:pathLst>
                <a:path h="760095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299" r="0" b="-8829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9525"/>
              <a:ext cx="5394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Files/Bronze/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71600" y="7579470"/>
            <a:ext cx="123444" cy="123444"/>
            <a:chOff x="0" y="0"/>
            <a:chExt cx="164592" cy="1645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645920" y="7387446"/>
            <a:ext cx="4046220" cy="548640"/>
            <a:chOff x="0" y="0"/>
            <a:chExt cx="539496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602" r="0" b="-93602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645920" y="7366015"/>
            <a:ext cx="4046220" cy="570071"/>
            <a:chOff x="0" y="0"/>
            <a:chExt cx="5394960" cy="76009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394960" cy="760095"/>
            </a:xfrm>
            <a:custGeom>
              <a:avLst/>
              <a:gdLst/>
              <a:ahLst/>
              <a:cxnLst/>
              <a:rect r="r" b="b" t="t" l="l"/>
              <a:pathLst>
                <a:path h="760095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299" r="0" b="-8829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9525"/>
              <a:ext cx="5394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13,324 rows × 37 cols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103620" y="5974698"/>
            <a:ext cx="411480" cy="411480"/>
            <a:chOff x="0" y="0"/>
            <a:chExt cx="54864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172200" y="6043278"/>
            <a:ext cx="274320" cy="274320"/>
            <a:chOff x="0" y="0"/>
            <a:chExt cx="365760" cy="365760"/>
          </a:xfrm>
        </p:grpSpPr>
        <p:sp>
          <p:nvSpPr>
            <p:cNvPr name="Freeform 63" id="63" descr="/home/claude/deck/icons/chartline_FFFFFF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Freeform 64" id="64"/>
          <p:cNvSpPr/>
          <p:nvPr/>
        </p:nvSpPr>
        <p:spPr>
          <a:xfrm flipH="false" flipV="false" rot="0">
            <a:off x="6571174" y="3699052"/>
            <a:ext cx="5099923" cy="5305663"/>
          </a:xfrm>
          <a:custGeom>
            <a:avLst/>
            <a:gdLst/>
            <a:ahLst/>
            <a:cxnLst/>
            <a:rect r="r" b="b" t="t" l="l"/>
            <a:pathLst>
              <a:path h="5305663" w="5099923">
                <a:moveTo>
                  <a:pt x="0" y="0"/>
                </a:moveTo>
                <a:lnTo>
                  <a:pt x="5099923" y="0"/>
                </a:lnTo>
                <a:lnTo>
                  <a:pt x="5099923" y="5305663"/>
                </a:lnTo>
                <a:lnTo>
                  <a:pt x="0" y="53056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6967728" y="4095606"/>
            <a:ext cx="905256" cy="905256"/>
            <a:chOff x="0" y="0"/>
            <a:chExt cx="1207008" cy="12070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070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8C8C8C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7166886" y="4294765"/>
            <a:ext cx="506920" cy="506920"/>
            <a:chOff x="0" y="0"/>
            <a:chExt cx="675894" cy="675894"/>
          </a:xfrm>
        </p:grpSpPr>
        <p:sp>
          <p:nvSpPr>
            <p:cNvPr name="Freeform 68" id="68" descr="/home/claude/deck/icons/filter_FFFFFF.png"/>
            <p:cNvSpPr/>
            <p:nvPr/>
          </p:nvSpPr>
          <p:spPr>
            <a:xfrm flipH="false" flipV="false" rot="0">
              <a:off x="0" y="0"/>
              <a:ext cx="675894" cy="675894"/>
            </a:xfrm>
            <a:custGeom>
              <a:avLst/>
              <a:gdLst/>
              <a:ahLst/>
              <a:cxnLst/>
              <a:rect r="r" b="b" t="t" l="l"/>
              <a:pathLst>
                <a:path h="675894" w="675894">
                  <a:moveTo>
                    <a:pt x="0" y="0"/>
                  </a:moveTo>
                  <a:lnTo>
                    <a:pt x="675894" y="0"/>
                  </a:lnTo>
                  <a:lnTo>
                    <a:pt x="675894" y="675894"/>
                  </a:lnTo>
                  <a:lnTo>
                    <a:pt x="0" y="675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8092440" y="4095606"/>
            <a:ext cx="3291840" cy="480060"/>
            <a:chOff x="0" y="0"/>
            <a:chExt cx="4389120" cy="6400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389120" cy="640080"/>
            </a:xfrm>
            <a:custGeom>
              <a:avLst/>
              <a:gdLst/>
              <a:ahLst/>
              <a:cxnLst/>
              <a:rect r="r" b="b" t="t" l="l"/>
              <a:pathLst>
                <a:path h="6400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517" r="0" b="-83519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092440" y="4081319"/>
            <a:ext cx="3291840" cy="658759"/>
            <a:chOff x="0" y="0"/>
            <a:chExt cx="4389120" cy="87834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389120" cy="878345"/>
            </a:xfrm>
            <a:custGeom>
              <a:avLst/>
              <a:gdLst/>
              <a:ahLst/>
              <a:cxnLst/>
              <a:rect r="r" b="b" t="t" l="l"/>
              <a:pathLst>
                <a:path h="878345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78345"/>
                  </a:lnTo>
                  <a:lnTo>
                    <a:pt x="0" y="8783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846" r="0" b="-3488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4389120" cy="88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19"/>
                </a:lnSpc>
              </a:pPr>
              <a:r>
                <a:rPr lang="en-US" sz="3349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Silver Layer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092440" y="4561950"/>
            <a:ext cx="3291840" cy="411480"/>
            <a:chOff x="0" y="0"/>
            <a:chExt cx="438912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389120" cy="548640"/>
            </a:xfrm>
            <a:custGeom>
              <a:avLst/>
              <a:gdLst/>
              <a:ahLst/>
              <a:cxnLst/>
              <a:rect r="r" b="b" t="t" l="l"/>
              <a:pathLst>
                <a:path h="548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70" r="0" b="-105773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8092440" y="4630599"/>
            <a:ext cx="3291840" cy="509996"/>
            <a:chOff x="0" y="0"/>
            <a:chExt cx="4389120" cy="67999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389120" cy="679994"/>
            </a:xfrm>
            <a:custGeom>
              <a:avLst/>
              <a:gdLst/>
              <a:ahLst/>
              <a:cxnLst/>
              <a:rect r="r" b="b" t="t" l="l"/>
              <a:pathLst>
                <a:path h="679994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79994"/>
                  </a:lnTo>
                  <a:lnTo>
                    <a:pt x="0" y="67999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625" r="0" b="-6891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4389120" cy="689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8C8C8C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Clean &amp; Enrich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995160" y="5439774"/>
            <a:ext cx="123444" cy="123444"/>
            <a:chOff x="0" y="0"/>
            <a:chExt cx="164592" cy="1645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8C8C8C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7269480" y="5247750"/>
            <a:ext cx="4046220" cy="548640"/>
            <a:chOff x="0" y="0"/>
            <a:chExt cx="5394960" cy="7315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602" r="0" b="-93602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7269480" y="5226319"/>
            <a:ext cx="4046220" cy="570071"/>
            <a:chOff x="0" y="0"/>
            <a:chExt cx="5394960" cy="76009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394960" cy="760095"/>
            </a:xfrm>
            <a:custGeom>
              <a:avLst/>
              <a:gdLst/>
              <a:ahLst/>
              <a:cxnLst/>
              <a:rect r="r" b="b" t="t" l="l"/>
              <a:pathLst>
                <a:path h="760095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299" r="0" b="-8829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9525"/>
              <a:ext cx="5394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 cleaning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6995160" y="6153006"/>
            <a:ext cx="123444" cy="123444"/>
            <a:chOff x="0" y="0"/>
            <a:chExt cx="164592" cy="1645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8C8C8C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7269480" y="5960982"/>
            <a:ext cx="4046220" cy="548640"/>
            <a:chOff x="0" y="0"/>
            <a:chExt cx="5394960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602" r="0" b="-93602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7269480" y="5939551"/>
            <a:ext cx="4046220" cy="570071"/>
            <a:chOff x="0" y="0"/>
            <a:chExt cx="5394960" cy="76009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394960" cy="760095"/>
            </a:xfrm>
            <a:custGeom>
              <a:avLst/>
              <a:gdLst/>
              <a:ahLst/>
              <a:cxnLst/>
              <a:rect r="r" b="b" t="t" l="l"/>
              <a:pathLst>
                <a:path h="760095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299" r="0" b="-88299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9525"/>
              <a:ext cx="5394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Feature engineering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6995160" y="6866238"/>
            <a:ext cx="123444" cy="123444"/>
            <a:chOff x="0" y="0"/>
            <a:chExt cx="164592" cy="16459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8C8C8C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269480" y="6674214"/>
            <a:ext cx="4046220" cy="548640"/>
            <a:chOff x="0" y="0"/>
            <a:chExt cx="5394960" cy="7315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602" r="0" b="-93602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7269480" y="6652783"/>
            <a:ext cx="4046220" cy="570071"/>
            <a:chOff x="0" y="0"/>
            <a:chExt cx="5394960" cy="76009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394960" cy="760095"/>
            </a:xfrm>
            <a:custGeom>
              <a:avLst/>
              <a:gdLst/>
              <a:ahLst/>
              <a:cxnLst/>
              <a:rect r="r" b="b" t="t" l="l"/>
              <a:pathLst>
                <a:path h="760095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299" r="0" b="-88299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9525"/>
              <a:ext cx="5394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KPI derivation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6995160" y="7579470"/>
            <a:ext cx="123444" cy="123444"/>
            <a:chOff x="0" y="0"/>
            <a:chExt cx="164592" cy="16459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8C8C8C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7269480" y="7387446"/>
            <a:ext cx="4046220" cy="548640"/>
            <a:chOff x="0" y="0"/>
            <a:chExt cx="5394960" cy="73152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602" r="0" b="-93602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7269480" y="7366015"/>
            <a:ext cx="4046220" cy="570071"/>
            <a:chOff x="0" y="0"/>
            <a:chExt cx="5394960" cy="76009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394960" cy="760095"/>
            </a:xfrm>
            <a:custGeom>
              <a:avLst/>
              <a:gdLst/>
              <a:ahLst/>
              <a:cxnLst/>
              <a:rect r="r" b="b" t="t" l="l"/>
              <a:pathLst>
                <a:path h="760095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299" r="0" b="-88299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9525"/>
              <a:ext cx="5394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13,324 rows x 35 cols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1727180" y="5974698"/>
            <a:ext cx="411480" cy="411480"/>
            <a:chOff x="0" y="0"/>
            <a:chExt cx="548640" cy="5486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1795760" y="6043278"/>
            <a:ext cx="274320" cy="274320"/>
            <a:chOff x="0" y="0"/>
            <a:chExt cx="365760" cy="365760"/>
          </a:xfrm>
        </p:grpSpPr>
        <p:sp>
          <p:nvSpPr>
            <p:cNvPr name="Freeform 110" id="110" descr="/home/claude/deck/icons/chartline_FFFFFF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Freeform 111" id="111"/>
          <p:cNvSpPr/>
          <p:nvPr/>
        </p:nvSpPr>
        <p:spPr>
          <a:xfrm flipH="false" flipV="false" rot="0">
            <a:off x="12194734" y="3699052"/>
            <a:ext cx="5099923" cy="5305663"/>
          </a:xfrm>
          <a:custGeom>
            <a:avLst/>
            <a:gdLst/>
            <a:ahLst/>
            <a:cxnLst/>
            <a:rect r="r" b="b" t="t" l="l"/>
            <a:pathLst>
              <a:path h="5305663" w="5099923">
                <a:moveTo>
                  <a:pt x="0" y="0"/>
                </a:moveTo>
                <a:lnTo>
                  <a:pt x="5099923" y="0"/>
                </a:lnTo>
                <a:lnTo>
                  <a:pt x="5099923" y="5305663"/>
                </a:lnTo>
                <a:lnTo>
                  <a:pt x="0" y="53056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2" id="112"/>
          <p:cNvGrpSpPr/>
          <p:nvPr/>
        </p:nvGrpSpPr>
        <p:grpSpPr>
          <a:xfrm rot="0">
            <a:off x="12591288" y="4095606"/>
            <a:ext cx="905256" cy="905256"/>
            <a:chOff x="0" y="0"/>
            <a:chExt cx="1207008" cy="120700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2070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C99A3E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2790446" y="4294765"/>
            <a:ext cx="506920" cy="506920"/>
            <a:chOff x="0" y="0"/>
            <a:chExt cx="675894" cy="675894"/>
          </a:xfrm>
        </p:grpSpPr>
        <p:sp>
          <p:nvSpPr>
            <p:cNvPr name="Freeform 115" id="115" descr="/home/claude/deck/icons/cube_FFFFFF.png"/>
            <p:cNvSpPr/>
            <p:nvPr/>
          </p:nvSpPr>
          <p:spPr>
            <a:xfrm flipH="false" flipV="false" rot="0">
              <a:off x="0" y="0"/>
              <a:ext cx="675894" cy="675894"/>
            </a:xfrm>
            <a:custGeom>
              <a:avLst/>
              <a:gdLst/>
              <a:ahLst/>
              <a:cxnLst/>
              <a:rect r="r" b="b" t="t" l="l"/>
              <a:pathLst>
                <a:path h="675894" w="675894">
                  <a:moveTo>
                    <a:pt x="0" y="0"/>
                  </a:moveTo>
                  <a:lnTo>
                    <a:pt x="675894" y="0"/>
                  </a:lnTo>
                  <a:lnTo>
                    <a:pt x="675894" y="675894"/>
                  </a:lnTo>
                  <a:lnTo>
                    <a:pt x="0" y="675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3716000" y="4095606"/>
            <a:ext cx="3291840" cy="480060"/>
            <a:chOff x="0" y="0"/>
            <a:chExt cx="4389120" cy="64008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389120" cy="640080"/>
            </a:xfrm>
            <a:custGeom>
              <a:avLst/>
              <a:gdLst/>
              <a:ahLst/>
              <a:cxnLst/>
              <a:rect r="r" b="b" t="t" l="l"/>
              <a:pathLst>
                <a:path h="6400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517" r="0" b="-83519"/>
              </a:stretch>
            </a:blip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3716000" y="4081319"/>
            <a:ext cx="3291840" cy="658759"/>
            <a:chOff x="0" y="0"/>
            <a:chExt cx="4389120" cy="878345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389120" cy="878345"/>
            </a:xfrm>
            <a:custGeom>
              <a:avLst/>
              <a:gdLst/>
              <a:ahLst/>
              <a:cxnLst/>
              <a:rect r="r" b="b" t="t" l="l"/>
              <a:pathLst>
                <a:path h="878345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78345"/>
                  </a:lnTo>
                  <a:lnTo>
                    <a:pt x="0" y="8783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846" r="0" b="-34888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9525"/>
              <a:ext cx="4389120" cy="88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19"/>
                </a:lnSpc>
              </a:pPr>
              <a:r>
                <a:rPr lang="en-US" sz="3349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Gold Layer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3716000" y="4561950"/>
            <a:ext cx="3291840" cy="411480"/>
            <a:chOff x="0" y="0"/>
            <a:chExt cx="4389120" cy="5486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389120" cy="548640"/>
            </a:xfrm>
            <a:custGeom>
              <a:avLst/>
              <a:gdLst/>
              <a:ahLst/>
              <a:cxnLst/>
              <a:rect r="r" b="b" t="t" l="l"/>
              <a:pathLst>
                <a:path h="548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70" r="0" b="-105773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3716000" y="4630599"/>
            <a:ext cx="3291840" cy="509996"/>
            <a:chOff x="0" y="0"/>
            <a:chExt cx="4389120" cy="679994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389120" cy="679994"/>
            </a:xfrm>
            <a:custGeom>
              <a:avLst/>
              <a:gdLst/>
              <a:ahLst/>
              <a:cxnLst/>
              <a:rect r="r" b="b" t="t" l="l"/>
              <a:pathLst>
                <a:path h="679994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79994"/>
                  </a:lnTo>
                  <a:lnTo>
                    <a:pt x="0" y="67999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625" r="0" b="-68912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9525"/>
              <a:ext cx="4389120" cy="689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C99A3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Analytics-Ready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2618720" y="5439774"/>
            <a:ext cx="123444" cy="123444"/>
            <a:chOff x="0" y="0"/>
            <a:chExt cx="164592" cy="16459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C99A3E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2893040" y="5247750"/>
            <a:ext cx="4046220" cy="548640"/>
            <a:chOff x="0" y="0"/>
            <a:chExt cx="5394960" cy="73152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602" r="0" b="-93602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2893040" y="5226319"/>
            <a:ext cx="4046220" cy="570071"/>
            <a:chOff x="0" y="0"/>
            <a:chExt cx="5394960" cy="760095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5394960" cy="760095"/>
            </a:xfrm>
            <a:custGeom>
              <a:avLst/>
              <a:gdLst/>
              <a:ahLst/>
              <a:cxnLst/>
              <a:rect r="r" b="b" t="t" l="l"/>
              <a:pathLst>
                <a:path h="760095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299" r="0" b="-88299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9525"/>
              <a:ext cx="5394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Star schema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2618720" y="6153006"/>
            <a:ext cx="123444" cy="123444"/>
            <a:chOff x="0" y="0"/>
            <a:chExt cx="164592" cy="16459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C99A3E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2893040" y="5960982"/>
            <a:ext cx="4046220" cy="548640"/>
            <a:chOff x="0" y="0"/>
            <a:chExt cx="5394960" cy="73152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602" r="0" b="-93602"/>
              </a:stretch>
            </a:blip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2893040" y="5939551"/>
            <a:ext cx="4046220" cy="570071"/>
            <a:chOff x="0" y="0"/>
            <a:chExt cx="5394960" cy="760095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394960" cy="760095"/>
            </a:xfrm>
            <a:custGeom>
              <a:avLst/>
              <a:gdLst/>
              <a:ahLst/>
              <a:cxnLst/>
              <a:rect r="r" b="b" t="t" l="l"/>
              <a:pathLst>
                <a:path h="760095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299" r="0" b="-88299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9525"/>
              <a:ext cx="5394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 dimensions + 1 fact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2618720" y="6866238"/>
            <a:ext cx="123444" cy="123444"/>
            <a:chOff x="0" y="0"/>
            <a:chExt cx="164592" cy="16459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C99A3E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2893040" y="6674214"/>
            <a:ext cx="4046220" cy="548640"/>
            <a:chOff x="0" y="0"/>
            <a:chExt cx="5394960" cy="73152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539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602" r="0" b="-93602"/>
              </a:stretch>
            </a:blip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2893040" y="6652783"/>
            <a:ext cx="4046220" cy="570071"/>
            <a:chOff x="0" y="0"/>
            <a:chExt cx="5394960" cy="760095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394960" cy="760095"/>
            </a:xfrm>
            <a:custGeom>
              <a:avLst/>
              <a:gdLst/>
              <a:ahLst/>
              <a:cxnLst/>
              <a:rect r="r" b="b" t="t" l="l"/>
              <a:pathLst>
                <a:path h="760095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299" r="0" b="-88299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9525"/>
              <a:ext cx="5394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Delta format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2618720" y="7579470"/>
            <a:ext cx="123444" cy="123444"/>
            <a:chOff x="0" y="0"/>
            <a:chExt cx="164592" cy="164592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C99A3E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2893040" y="7470504"/>
            <a:ext cx="4046220" cy="465582"/>
            <a:chOff x="0" y="0"/>
            <a:chExt cx="5394960" cy="620776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5394960" cy="620776"/>
            </a:xfrm>
            <a:custGeom>
              <a:avLst/>
              <a:gdLst/>
              <a:ahLst/>
              <a:cxnLst/>
              <a:rect r="r" b="b" t="t" l="l"/>
              <a:pathLst>
                <a:path h="620776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620776"/>
                  </a:lnTo>
                  <a:lnTo>
                    <a:pt x="0" y="620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220" r="0" b="-119220"/>
              </a:stretch>
            </a:blip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12893040" y="7449073"/>
            <a:ext cx="4046220" cy="535938"/>
            <a:chOff x="0" y="0"/>
            <a:chExt cx="5394960" cy="714584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5394960" cy="714584"/>
            </a:xfrm>
            <a:custGeom>
              <a:avLst/>
              <a:gdLst/>
              <a:ahLst/>
              <a:cxnLst/>
              <a:rect r="r" b="b" t="t" l="l"/>
              <a:pathLst>
                <a:path h="714584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714584"/>
                  </a:lnTo>
                  <a:lnTo>
                    <a:pt x="0" y="7145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672" r="0" b="-92543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9525"/>
              <a:ext cx="5394960" cy="7050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13,324 rows x 35 cols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822960" y="9572625"/>
            <a:ext cx="8229600" cy="497249"/>
            <a:chOff x="0" y="0"/>
            <a:chExt cx="10972800" cy="662999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0972800" cy="662999"/>
            </a:xfrm>
            <a:custGeom>
              <a:avLst/>
              <a:gdLst/>
              <a:ahLst/>
              <a:cxnLst/>
              <a:rect r="r" b="b" t="t" l="l"/>
              <a:pathLst>
                <a:path h="66299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99"/>
                  </a:lnTo>
                  <a:lnTo>
                    <a:pt x="0" y="6629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8233" r="0" b="-266731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9525"/>
              <a:ext cx="10972800" cy="672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8"/>
                </a:lnSpc>
              </a:pPr>
              <a:r>
                <a:rPr lang="en-US" sz="2524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7053103" y="9572625"/>
            <a:ext cx="822960" cy="509996"/>
            <a:chOff x="0" y="0"/>
            <a:chExt cx="1097280" cy="679994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097280" cy="679994"/>
            </a:xfrm>
            <a:custGeom>
              <a:avLst/>
              <a:gdLst/>
              <a:ahLst/>
              <a:cxnLst/>
              <a:rect r="r" b="b" t="t" l="l"/>
              <a:pathLst>
                <a:path h="67999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79994"/>
                  </a:lnTo>
                  <a:lnTo>
                    <a:pt x="0" y="67999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13713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9525"/>
              <a:ext cx="1097280" cy="689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19"/>
                </a:lnSpc>
              </a:pPr>
              <a:r>
                <a:rPr lang="en-US" sz="259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08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165" id="165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167" id="167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1081" r="0" b="-31081"/>
              </a:stretch>
            </a:blip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170" id="170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347" r="0" b="-345"/>
              </a:stretch>
            </a:blip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7164050" y="9417628"/>
            <a:ext cx="891540" cy="595052"/>
            <a:chOff x="0" y="0"/>
            <a:chExt cx="1188720" cy="793403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352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CHAPTER 3 · DATA ENGINEERING &amp; ANALYSIS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1198715"/>
            <a:ext cx="14401800" cy="1190104"/>
            <a:chOff x="0" y="0"/>
            <a:chExt cx="19202400" cy="15868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586805"/>
            </a:xfrm>
            <a:custGeom>
              <a:avLst/>
              <a:gdLst/>
              <a:ahLst/>
              <a:cxnLst/>
              <a:rect r="r" b="b" t="t" l="l"/>
              <a:pathLst>
                <a:path h="1586805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586805"/>
                  </a:lnTo>
                  <a:lnTo>
                    <a:pt x="0" y="15868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1975" r="0" b="-1796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58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Cleaning Across Bronze &amp; Silver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537460"/>
            <a:ext cx="6446520" cy="6652260"/>
            <a:chOff x="0" y="0"/>
            <a:chExt cx="8595360" cy="8869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95360" cy="8869680"/>
            </a:xfrm>
            <a:custGeom>
              <a:avLst/>
              <a:gdLst/>
              <a:ahLst/>
              <a:cxnLst/>
              <a:rect r="r" b="b" t="t" l="l"/>
              <a:pathLst>
                <a:path h="8869680" w="859536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8339328" y="0"/>
                  </a:lnTo>
                  <a:cubicBezTo>
                    <a:pt x="8480806" y="0"/>
                    <a:pt x="8595360" y="114681"/>
                    <a:pt x="8595360" y="256032"/>
                  </a:cubicBezTo>
                  <a:lnTo>
                    <a:pt x="8595360" y="8613648"/>
                  </a:lnTo>
                  <a:cubicBezTo>
                    <a:pt x="8595360" y="8755126"/>
                    <a:pt x="8480679" y="8869680"/>
                    <a:pt x="8339328" y="8869680"/>
                  </a:cubicBezTo>
                  <a:lnTo>
                    <a:pt x="256032" y="8869680"/>
                  </a:lnTo>
                  <a:cubicBezTo>
                    <a:pt x="114681" y="8869680"/>
                    <a:pt x="0" y="8754999"/>
                    <a:pt x="0" y="861364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2880360"/>
            <a:ext cx="5486400" cy="548640"/>
            <a:chOff x="0" y="0"/>
            <a:chExt cx="7315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715" r="0" b="-14471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2731836"/>
            <a:ext cx="5486400" cy="658759"/>
            <a:chOff x="0" y="0"/>
            <a:chExt cx="7315200" cy="8783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0" cy="878345"/>
            </a:xfrm>
            <a:custGeom>
              <a:avLst/>
              <a:gdLst/>
              <a:ahLst/>
              <a:cxnLst/>
              <a:rect r="r" b="b" t="t" l="l"/>
              <a:pathLst>
                <a:path h="878345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78345"/>
                  </a:lnTo>
                  <a:lnTo>
                    <a:pt x="0" y="8783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552" r="0" b="-10500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7315200" cy="88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19"/>
                </a:lnSpc>
              </a:pPr>
              <a:r>
                <a:rPr lang="en-US" sz="334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Bronze → Silver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1600" y="3649909"/>
            <a:ext cx="219456" cy="269188"/>
            <a:chOff x="0" y="0"/>
            <a:chExt cx="292608" cy="35891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2608" cy="358918"/>
            </a:xfrm>
            <a:custGeom>
              <a:avLst/>
              <a:gdLst/>
              <a:ahLst/>
              <a:cxnLst/>
              <a:rect r="r" b="b" t="t" l="l"/>
              <a:pathLst>
                <a:path h="358918" w="292608">
                  <a:moveTo>
                    <a:pt x="0" y="179459"/>
                  </a:moveTo>
                  <a:cubicBezTo>
                    <a:pt x="0" y="80383"/>
                    <a:pt x="65532" y="0"/>
                    <a:pt x="146304" y="0"/>
                  </a:cubicBezTo>
                  <a:cubicBezTo>
                    <a:pt x="227076" y="0"/>
                    <a:pt x="292608" y="80383"/>
                    <a:pt x="292608" y="179459"/>
                  </a:cubicBezTo>
                  <a:cubicBezTo>
                    <a:pt x="292608" y="278535"/>
                    <a:pt x="227076" y="358918"/>
                    <a:pt x="146304" y="358918"/>
                  </a:cubicBezTo>
                  <a:cubicBezTo>
                    <a:pt x="65532" y="358918"/>
                    <a:pt x="0" y="278535"/>
                    <a:pt x="0" y="179459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755648" y="3168425"/>
            <a:ext cx="5486400" cy="521208"/>
            <a:chOff x="0" y="0"/>
            <a:chExt cx="7315200" cy="6949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0" cy="694944"/>
            </a:xfrm>
            <a:custGeom>
              <a:avLst/>
              <a:gdLst/>
              <a:ahLst/>
              <a:cxnLst/>
              <a:rect r="r" b="b" t="t" l="l"/>
              <a:pathLst>
                <a:path h="6949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963" r="0" b="-154963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755648" y="3438554"/>
            <a:ext cx="5486400" cy="639322"/>
            <a:chOff x="0" y="0"/>
            <a:chExt cx="7315200" cy="8524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0" cy="852429"/>
            </a:xfrm>
            <a:custGeom>
              <a:avLst/>
              <a:gdLst/>
              <a:ahLst/>
              <a:cxnLst/>
              <a:rect r="r" b="b" t="t" l="l"/>
              <a:pathLst>
                <a:path h="852429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52429"/>
                  </a:lnTo>
                  <a:lnTo>
                    <a:pt x="0" y="8524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96" r="0" b="-11709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71600" y="4356528"/>
            <a:ext cx="219456" cy="269188"/>
            <a:chOff x="0" y="0"/>
            <a:chExt cx="292608" cy="35891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2608" cy="358918"/>
            </a:xfrm>
            <a:custGeom>
              <a:avLst/>
              <a:gdLst/>
              <a:ahLst/>
              <a:cxnLst/>
              <a:rect r="r" b="b" t="t" l="l"/>
              <a:pathLst>
                <a:path h="358918" w="292608">
                  <a:moveTo>
                    <a:pt x="0" y="179459"/>
                  </a:moveTo>
                  <a:cubicBezTo>
                    <a:pt x="0" y="80383"/>
                    <a:pt x="65532" y="0"/>
                    <a:pt x="146304" y="0"/>
                  </a:cubicBezTo>
                  <a:cubicBezTo>
                    <a:pt x="227076" y="0"/>
                    <a:pt x="292608" y="80383"/>
                    <a:pt x="292608" y="179459"/>
                  </a:cubicBezTo>
                  <a:cubicBezTo>
                    <a:pt x="292608" y="278535"/>
                    <a:pt x="227076" y="358918"/>
                    <a:pt x="146304" y="358918"/>
                  </a:cubicBezTo>
                  <a:cubicBezTo>
                    <a:pt x="65532" y="358918"/>
                    <a:pt x="0" y="278535"/>
                    <a:pt x="0" y="179459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755648" y="3329554"/>
            <a:ext cx="5486400" cy="1076717"/>
            <a:chOff x="0" y="0"/>
            <a:chExt cx="7315200" cy="14356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0" cy="1435623"/>
            </a:xfrm>
            <a:custGeom>
              <a:avLst/>
              <a:gdLst/>
              <a:ahLst/>
              <a:cxnLst/>
              <a:rect r="r" b="b" t="t" l="l"/>
              <a:pathLst>
                <a:path h="1435623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35623"/>
                  </a:lnTo>
                  <a:lnTo>
                    <a:pt x="0" y="14356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4087" r="0" b="-2448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7315200" cy="1445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3"/>
                </a:lnSpc>
              </a:pPr>
              <a:r>
                <a:rPr lang="en-US" sz="2519">
                  <a:solidFill>
                    <a:srgbClr val="E4EFE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Import raw DailySales.xlsx via Pandas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755648" y="4145173"/>
            <a:ext cx="5486400" cy="665610"/>
            <a:chOff x="0" y="0"/>
            <a:chExt cx="7315200" cy="8874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0" cy="887480"/>
            </a:xfrm>
            <a:custGeom>
              <a:avLst/>
              <a:gdLst/>
              <a:ahLst/>
              <a:cxnLst/>
              <a:rect r="r" b="b" t="t" l="l"/>
              <a:pathLst>
                <a:path h="8874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87480"/>
                  </a:lnTo>
                  <a:lnTo>
                    <a:pt x="0" y="887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846" r="0" b="-10137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7315200" cy="897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3"/>
                </a:lnSpc>
              </a:pPr>
              <a:r>
                <a:rPr lang="en-US" sz="2519">
                  <a:solidFill>
                    <a:srgbClr val="E4EFE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Verify records with head() &amp; info()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71600" y="5063147"/>
            <a:ext cx="219456" cy="269188"/>
            <a:chOff x="0" y="0"/>
            <a:chExt cx="292608" cy="35891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2608" cy="358918"/>
            </a:xfrm>
            <a:custGeom>
              <a:avLst/>
              <a:gdLst/>
              <a:ahLst/>
              <a:cxnLst/>
              <a:rect r="r" b="b" t="t" l="l"/>
              <a:pathLst>
                <a:path h="358918" w="292608">
                  <a:moveTo>
                    <a:pt x="0" y="179459"/>
                  </a:moveTo>
                  <a:cubicBezTo>
                    <a:pt x="0" y="80383"/>
                    <a:pt x="65532" y="0"/>
                    <a:pt x="146304" y="0"/>
                  </a:cubicBezTo>
                  <a:cubicBezTo>
                    <a:pt x="227076" y="0"/>
                    <a:pt x="292608" y="80383"/>
                    <a:pt x="292608" y="179459"/>
                  </a:cubicBezTo>
                  <a:cubicBezTo>
                    <a:pt x="292608" y="278535"/>
                    <a:pt x="227076" y="358918"/>
                    <a:pt x="146304" y="358918"/>
                  </a:cubicBezTo>
                  <a:cubicBezTo>
                    <a:pt x="65532" y="358918"/>
                    <a:pt x="0" y="278535"/>
                    <a:pt x="0" y="179459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55648" y="4878080"/>
            <a:ext cx="5486400" cy="639322"/>
            <a:chOff x="0" y="0"/>
            <a:chExt cx="7315200" cy="85242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0" cy="852429"/>
            </a:xfrm>
            <a:custGeom>
              <a:avLst/>
              <a:gdLst/>
              <a:ahLst/>
              <a:cxnLst/>
              <a:rect r="r" b="b" t="t" l="l"/>
              <a:pathLst>
                <a:path h="852429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52429"/>
                  </a:lnTo>
                  <a:lnTo>
                    <a:pt x="0" y="8524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96" r="0" b="-117096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755648" y="4713856"/>
            <a:ext cx="5486400" cy="1076717"/>
            <a:chOff x="0" y="0"/>
            <a:chExt cx="7315200" cy="143562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0" cy="1435623"/>
            </a:xfrm>
            <a:custGeom>
              <a:avLst/>
              <a:gdLst/>
              <a:ahLst/>
              <a:cxnLst/>
              <a:rect r="r" b="b" t="t" l="l"/>
              <a:pathLst>
                <a:path h="1435623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35623"/>
                  </a:lnTo>
                  <a:lnTo>
                    <a:pt x="0" y="14356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4087" r="0" b="-2448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7315200" cy="1445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3"/>
                </a:lnSpc>
              </a:pPr>
              <a:r>
                <a:rPr lang="en-US" sz="2519">
                  <a:solidFill>
                    <a:srgbClr val="E4EFE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Confirm shape: 13,324 rows × 37 cols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71600" y="5769766"/>
            <a:ext cx="219456" cy="269188"/>
            <a:chOff x="0" y="0"/>
            <a:chExt cx="292608" cy="35891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2608" cy="358918"/>
            </a:xfrm>
            <a:custGeom>
              <a:avLst/>
              <a:gdLst/>
              <a:ahLst/>
              <a:cxnLst/>
              <a:rect r="r" b="b" t="t" l="l"/>
              <a:pathLst>
                <a:path h="358918" w="292608">
                  <a:moveTo>
                    <a:pt x="0" y="179459"/>
                  </a:moveTo>
                  <a:cubicBezTo>
                    <a:pt x="0" y="80383"/>
                    <a:pt x="65532" y="0"/>
                    <a:pt x="146304" y="0"/>
                  </a:cubicBezTo>
                  <a:cubicBezTo>
                    <a:pt x="227076" y="0"/>
                    <a:pt x="292608" y="80383"/>
                    <a:pt x="292608" y="179459"/>
                  </a:cubicBezTo>
                  <a:cubicBezTo>
                    <a:pt x="292608" y="278535"/>
                    <a:pt x="227076" y="358918"/>
                    <a:pt x="146304" y="358918"/>
                  </a:cubicBezTo>
                  <a:cubicBezTo>
                    <a:pt x="65532" y="358918"/>
                    <a:pt x="0" y="278535"/>
                    <a:pt x="0" y="179459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755648" y="5584700"/>
            <a:ext cx="5486400" cy="639322"/>
            <a:chOff x="0" y="0"/>
            <a:chExt cx="7315200" cy="85242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15200" cy="852429"/>
            </a:xfrm>
            <a:custGeom>
              <a:avLst/>
              <a:gdLst/>
              <a:ahLst/>
              <a:cxnLst/>
              <a:rect r="r" b="b" t="t" l="l"/>
              <a:pathLst>
                <a:path h="852429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52429"/>
                  </a:lnTo>
                  <a:lnTo>
                    <a:pt x="0" y="8524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96" r="0" b="-11709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755648" y="5558412"/>
            <a:ext cx="5486400" cy="665610"/>
            <a:chOff x="0" y="0"/>
            <a:chExt cx="7315200" cy="887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0" cy="887480"/>
            </a:xfrm>
            <a:custGeom>
              <a:avLst/>
              <a:gdLst/>
              <a:ahLst/>
              <a:cxnLst/>
              <a:rect r="r" b="b" t="t" l="l"/>
              <a:pathLst>
                <a:path h="8874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87480"/>
                  </a:lnTo>
                  <a:lnTo>
                    <a:pt x="0" y="887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846" r="0" b="-10137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7315200" cy="897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3"/>
                </a:lnSpc>
              </a:pPr>
              <a:r>
                <a:rPr lang="en-US" sz="2519">
                  <a:solidFill>
                    <a:srgbClr val="E4EFE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Validate schema via columns list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71600" y="6476386"/>
            <a:ext cx="219456" cy="269188"/>
            <a:chOff x="0" y="0"/>
            <a:chExt cx="292608" cy="35891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92608" cy="358918"/>
            </a:xfrm>
            <a:custGeom>
              <a:avLst/>
              <a:gdLst/>
              <a:ahLst/>
              <a:cxnLst/>
              <a:rect r="r" b="b" t="t" l="l"/>
              <a:pathLst>
                <a:path h="358918" w="292608">
                  <a:moveTo>
                    <a:pt x="0" y="179459"/>
                  </a:moveTo>
                  <a:cubicBezTo>
                    <a:pt x="0" y="80383"/>
                    <a:pt x="65532" y="0"/>
                    <a:pt x="146304" y="0"/>
                  </a:cubicBezTo>
                  <a:cubicBezTo>
                    <a:pt x="227076" y="0"/>
                    <a:pt x="292608" y="80383"/>
                    <a:pt x="292608" y="179459"/>
                  </a:cubicBezTo>
                  <a:cubicBezTo>
                    <a:pt x="292608" y="278535"/>
                    <a:pt x="227076" y="358918"/>
                    <a:pt x="146304" y="358918"/>
                  </a:cubicBezTo>
                  <a:cubicBezTo>
                    <a:pt x="65532" y="358918"/>
                    <a:pt x="0" y="278535"/>
                    <a:pt x="0" y="179459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755648" y="6291319"/>
            <a:ext cx="5486400" cy="639322"/>
            <a:chOff x="0" y="0"/>
            <a:chExt cx="7315200" cy="85242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0" cy="852429"/>
            </a:xfrm>
            <a:custGeom>
              <a:avLst/>
              <a:gdLst/>
              <a:ahLst/>
              <a:cxnLst/>
              <a:rect r="r" b="b" t="t" l="l"/>
              <a:pathLst>
                <a:path h="852429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52429"/>
                  </a:lnTo>
                  <a:lnTo>
                    <a:pt x="0" y="8524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96" r="0" b="-117096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755648" y="6265031"/>
            <a:ext cx="5486400" cy="665610"/>
            <a:chOff x="0" y="0"/>
            <a:chExt cx="7315200" cy="8874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0" cy="887480"/>
            </a:xfrm>
            <a:custGeom>
              <a:avLst/>
              <a:gdLst/>
              <a:ahLst/>
              <a:cxnLst/>
              <a:rect r="r" b="b" t="t" l="l"/>
              <a:pathLst>
                <a:path h="8874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87480"/>
                  </a:lnTo>
                  <a:lnTo>
                    <a:pt x="0" y="887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846" r="0" b="-10137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7315200" cy="897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3"/>
                </a:lnSpc>
              </a:pPr>
              <a:r>
                <a:rPr lang="en-US" sz="2519">
                  <a:solidFill>
                    <a:srgbClr val="E4EFE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Export clean raw_data.csv baseline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71600" y="7183005"/>
            <a:ext cx="219456" cy="269188"/>
            <a:chOff x="0" y="0"/>
            <a:chExt cx="292608" cy="35891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2608" cy="358918"/>
            </a:xfrm>
            <a:custGeom>
              <a:avLst/>
              <a:gdLst/>
              <a:ahLst/>
              <a:cxnLst/>
              <a:rect r="r" b="b" t="t" l="l"/>
              <a:pathLst>
                <a:path h="358918" w="292608">
                  <a:moveTo>
                    <a:pt x="0" y="179459"/>
                  </a:moveTo>
                  <a:cubicBezTo>
                    <a:pt x="0" y="80383"/>
                    <a:pt x="65532" y="0"/>
                    <a:pt x="146304" y="0"/>
                  </a:cubicBezTo>
                  <a:cubicBezTo>
                    <a:pt x="227076" y="0"/>
                    <a:pt x="292608" y="80383"/>
                    <a:pt x="292608" y="179459"/>
                  </a:cubicBezTo>
                  <a:cubicBezTo>
                    <a:pt x="292608" y="278535"/>
                    <a:pt x="227076" y="358918"/>
                    <a:pt x="146304" y="358918"/>
                  </a:cubicBezTo>
                  <a:cubicBezTo>
                    <a:pt x="65532" y="358918"/>
                    <a:pt x="0" y="278535"/>
                    <a:pt x="0" y="179459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755648" y="6997938"/>
            <a:ext cx="5486400" cy="639322"/>
            <a:chOff x="0" y="0"/>
            <a:chExt cx="7315200" cy="85242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15200" cy="852429"/>
            </a:xfrm>
            <a:custGeom>
              <a:avLst/>
              <a:gdLst/>
              <a:ahLst/>
              <a:cxnLst/>
              <a:rect r="r" b="b" t="t" l="l"/>
              <a:pathLst>
                <a:path h="852429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52429"/>
                  </a:lnTo>
                  <a:lnTo>
                    <a:pt x="0" y="8524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96" r="0" b="-117096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55648" y="6971650"/>
            <a:ext cx="5486400" cy="665610"/>
            <a:chOff x="0" y="0"/>
            <a:chExt cx="7315200" cy="8874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15200" cy="887480"/>
            </a:xfrm>
            <a:custGeom>
              <a:avLst/>
              <a:gdLst/>
              <a:ahLst/>
              <a:cxnLst/>
              <a:rect r="r" b="b" t="t" l="l"/>
              <a:pathLst>
                <a:path h="8874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87480"/>
                  </a:lnTo>
                  <a:lnTo>
                    <a:pt x="0" y="887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846" r="0" b="-10137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7315200" cy="897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3"/>
                </a:lnSpc>
              </a:pPr>
              <a:r>
                <a:rPr lang="en-US" sz="2519">
                  <a:solidFill>
                    <a:srgbClr val="E4EFE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Handle missing values &amp; duplicates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71600" y="7889624"/>
            <a:ext cx="219456" cy="269188"/>
            <a:chOff x="0" y="0"/>
            <a:chExt cx="292608" cy="35891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92608" cy="358918"/>
            </a:xfrm>
            <a:custGeom>
              <a:avLst/>
              <a:gdLst/>
              <a:ahLst/>
              <a:cxnLst/>
              <a:rect r="r" b="b" t="t" l="l"/>
              <a:pathLst>
                <a:path h="358918" w="292608">
                  <a:moveTo>
                    <a:pt x="0" y="179459"/>
                  </a:moveTo>
                  <a:cubicBezTo>
                    <a:pt x="0" y="80383"/>
                    <a:pt x="65532" y="0"/>
                    <a:pt x="146304" y="0"/>
                  </a:cubicBezTo>
                  <a:cubicBezTo>
                    <a:pt x="227076" y="0"/>
                    <a:pt x="292608" y="80383"/>
                    <a:pt x="292608" y="179459"/>
                  </a:cubicBezTo>
                  <a:cubicBezTo>
                    <a:pt x="292608" y="278535"/>
                    <a:pt x="227076" y="358918"/>
                    <a:pt x="146304" y="358918"/>
                  </a:cubicBezTo>
                  <a:cubicBezTo>
                    <a:pt x="65532" y="358918"/>
                    <a:pt x="0" y="278535"/>
                    <a:pt x="0" y="179459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755648" y="7704557"/>
            <a:ext cx="5486400" cy="639322"/>
            <a:chOff x="0" y="0"/>
            <a:chExt cx="7315200" cy="85242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315200" cy="852429"/>
            </a:xfrm>
            <a:custGeom>
              <a:avLst/>
              <a:gdLst/>
              <a:ahLst/>
              <a:cxnLst/>
              <a:rect r="r" b="b" t="t" l="l"/>
              <a:pathLst>
                <a:path h="852429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52429"/>
                  </a:lnTo>
                  <a:lnTo>
                    <a:pt x="0" y="8524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96" r="0" b="-117096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755648" y="7678269"/>
            <a:ext cx="5486400" cy="665610"/>
            <a:chOff x="0" y="0"/>
            <a:chExt cx="7315200" cy="8874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315200" cy="887480"/>
            </a:xfrm>
            <a:custGeom>
              <a:avLst/>
              <a:gdLst/>
              <a:ahLst/>
              <a:cxnLst/>
              <a:rect r="r" b="b" t="t" l="l"/>
              <a:pathLst>
                <a:path h="8874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87480"/>
                  </a:lnTo>
                  <a:lnTo>
                    <a:pt x="0" y="887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846" r="0" b="-10137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7315200" cy="897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3"/>
                </a:lnSpc>
              </a:pPr>
              <a:r>
                <a:rPr lang="en-US" sz="2519">
                  <a:solidFill>
                    <a:srgbClr val="E4EFE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Standardize text fields &amp; data types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71600" y="8596243"/>
            <a:ext cx="219456" cy="269188"/>
            <a:chOff x="0" y="0"/>
            <a:chExt cx="292608" cy="35891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92608" cy="358918"/>
            </a:xfrm>
            <a:custGeom>
              <a:avLst/>
              <a:gdLst/>
              <a:ahLst/>
              <a:cxnLst/>
              <a:rect r="r" b="b" t="t" l="l"/>
              <a:pathLst>
                <a:path h="358918" w="292608">
                  <a:moveTo>
                    <a:pt x="0" y="179459"/>
                  </a:moveTo>
                  <a:cubicBezTo>
                    <a:pt x="0" y="80383"/>
                    <a:pt x="65532" y="0"/>
                    <a:pt x="146304" y="0"/>
                  </a:cubicBezTo>
                  <a:cubicBezTo>
                    <a:pt x="227076" y="0"/>
                    <a:pt x="292608" y="80383"/>
                    <a:pt x="292608" y="179459"/>
                  </a:cubicBezTo>
                  <a:cubicBezTo>
                    <a:pt x="292608" y="278535"/>
                    <a:pt x="227076" y="358918"/>
                    <a:pt x="146304" y="358918"/>
                  </a:cubicBezTo>
                  <a:cubicBezTo>
                    <a:pt x="65532" y="358918"/>
                    <a:pt x="0" y="278535"/>
                    <a:pt x="0" y="179459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755648" y="8411176"/>
            <a:ext cx="5486400" cy="639322"/>
            <a:chOff x="0" y="0"/>
            <a:chExt cx="7315200" cy="85242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315200" cy="852429"/>
            </a:xfrm>
            <a:custGeom>
              <a:avLst/>
              <a:gdLst/>
              <a:ahLst/>
              <a:cxnLst/>
              <a:rect r="r" b="b" t="t" l="l"/>
              <a:pathLst>
                <a:path h="852429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52429"/>
                  </a:lnTo>
                  <a:lnTo>
                    <a:pt x="0" y="8524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96" r="0" b="-117096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755648" y="8384888"/>
            <a:ext cx="5486400" cy="665610"/>
            <a:chOff x="0" y="0"/>
            <a:chExt cx="7315200" cy="8874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315200" cy="887480"/>
            </a:xfrm>
            <a:custGeom>
              <a:avLst/>
              <a:gdLst/>
              <a:ahLst/>
              <a:cxnLst/>
              <a:rect r="r" b="b" t="t" l="l"/>
              <a:pathLst>
                <a:path h="8874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87480"/>
                  </a:lnTo>
                  <a:lnTo>
                    <a:pt x="0" y="887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846" r="0" b="-10137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7315200" cy="897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3"/>
                </a:lnSpc>
              </a:pPr>
              <a:r>
                <a:rPr lang="en-US" sz="2519">
                  <a:solidFill>
                    <a:srgbClr val="E4EFE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Engineer new business features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818120" y="2537460"/>
            <a:ext cx="9464040" cy="548640"/>
            <a:chOff x="0" y="0"/>
            <a:chExt cx="1261872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61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883" r="0" b="-285881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7818120" y="2523172"/>
            <a:ext cx="9464040" cy="609171"/>
            <a:chOff x="0" y="0"/>
            <a:chExt cx="12618720" cy="81222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2618720" cy="812228"/>
            </a:xfrm>
            <a:custGeom>
              <a:avLst/>
              <a:gdLst/>
              <a:ahLst/>
              <a:cxnLst/>
              <a:rect r="r" b="b" t="t" l="l"/>
              <a:pathLst>
                <a:path h="812228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812228"/>
                  </a:lnTo>
                  <a:lnTo>
                    <a:pt x="0" y="8122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6513" r="0" b="-24892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9525"/>
              <a:ext cx="12618720" cy="80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Anomalies Detected &amp; Remediated</a:t>
              </a: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0">
            <a:off x="7805614" y="3279334"/>
            <a:ext cx="9489043" cy="1369171"/>
          </a:xfrm>
          <a:custGeom>
            <a:avLst/>
            <a:gdLst/>
            <a:ahLst/>
            <a:cxnLst/>
            <a:rect r="r" b="b" t="t" l="l"/>
            <a:pathLst>
              <a:path h="1369171" w="9489043">
                <a:moveTo>
                  <a:pt x="0" y="0"/>
                </a:moveTo>
                <a:lnTo>
                  <a:pt x="9489043" y="0"/>
                </a:lnTo>
                <a:lnTo>
                  <a:pt x="9489043" y="1369171"/>
                </a:lnTo>
                <a:lnTo>
                  <a:pt x="0" y="13691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1" id="81"/>
          <p:cNvGrpSpPr/>
          <p:nvPr/>
        </p:nvGrpSpPr>
        <p:grpSpPr>
          <a:xfrm rot="0">
            <a:off x="8092440" y="3552444"/>
            <a:ext cx="822960" cy="822960"/>
            <a:chOff x="0" y="0"/>
            <a:chExt cx="1097280" cy="10972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D64545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8277606" y="3737610"/>
            <a:ext cx="452628" cy="452628"/>
            <a:chOff x="0" y="0"/>
            <a:chExt cx="603504" cy="603504"/>
          </a:xfrm>
        </p:grpSpPr>
        <p:sp>
          <p:nvSpPr>
            <p:cNvPr name="Freeform 84" id="84" descr="/home/claude/deck/icons/warning_FFFFFF.png"/>
            <p:cNvSpPr/>
            <p:nvPr/>
          </p:nvSpPr>
          <p:spPr>
            <a:xfrm flipH="false" flipV="false" rot="0">
              <a:off x="0" y="0"/>
              <a:ext cx="603504" cy="603504"/>
            </a:xfrm>
            <a:custGeom>
              <a:avLst/>
              <a:gdLst/>
              <a:ahLst/>
              <a:cxnLst/>
              <a:rect r="r" b="b" t="t" l="l"/>
              <a:pathLst>
                <a:path h="603504" w="603504">
                  <a:moveTo>
                    <a:pt x="0" y="0"/>
                  </a:moveTo>
                  <a:lnTo>
                    <a:pt x="603504" y="0"/>
                  </a:lnTo>
                  <a:lnTo>
                    <a:pt x="603504" y="603504"/>
                  </a:lnTo>
                  <a:lnTo>
                    <a:pt x="0" y="60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189720" y="3429000"/>
            <a:ext cx="3154680" cy="480060"/>
            <a:chOff x="0" y="0"/>
            <a:chExt cx="4206240" cy="6400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206240" cy="640080"/>
            </a:xfrm>
            <a:custGeom>
              <a:avLst/>
              <a:gdLst/>
              <a:ahLst/>
              <a:cxnLst/>
              <a:rect r="r" b="b" t="t" l="l"/>
              <a:pathLst>
                <a:path h="6400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956" r="0" b="-77954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189720" y="3429000"/>
            <a:ext cx="3154680" cy="546612"/>
            <a:chOff x="0" y="0"/>
            <a:chExt cx="4206240" cy="72881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206240" cy="728816"/>
            </a:xfrm>
            <a:custGeom>
              <a:avLst/>
              <a:gdLst/>
              <a:ahLst/>
              <a:cxnLst/>
              <a:rect r="r" b="b" t="t" l="l"/>
              <a:pathLst>
                <a:path h="72881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28816"/>
                  </a:lnTo>
                  <a:lnTo>
                    <a:pt x="0" y="7288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542" r="0" b="-5636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4206240" cy="728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9"/>
                </a:lnSpc>
              </a:pPr>
              <a:r>
                <a:rPr lang="en-US" sz="277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PPC_Cost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189720" y="3922776"/>
            <a:ext cx="3154680" cy="617220"/>
            <a:chOff x="0" y="0"/>
            <a:chExt cx="4206240" cy="82296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206240" cy="822960"/>
            </a:xfrm>
            <a:custGeom>
              <a:avLst/>
              <a:gdLst/>
              <a:ahLst/>
              <a:cxnLst/>
              <a:rect r="r" b="b" t="t" l="l"/>
              <a:pathLst>
                <a:path h="8229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21" r="0" b="-49520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189720" y="3887057"/>
            <a:ext cx="3154680" cy="833402"/>
            <a:chOff x="0" y="0"/>
            <a:chExt cx="4206240" cy="111120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206240" cy="1111202"/>
            </a:xfrm>
            <a:custGeom>
              <a:avLst/>
              <a:gdLst/>
              <a:ahLst/>
              <a:cxnLst/>
              <a:rect r="r" b="b" t="t" l="l"/>
              <a:pathLst>
                <a:path h="1111202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111202"/>
                  </a:lnTo>
                  <a:lnTo>
                    <a:pt x="0" y="11112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583" r="0" b="-1292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4206240" cy="11397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8"/>
                </a:lnSpc>
              </a:pPr>
              <a:r>
                <a:rPr lang="en-US" sz="2324" i="true">
                  <a:solidFill>
                    <a:srgbClr val="5B6B63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Missing/null on organic sales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893040" y="3593592"/>
            <a:ext cx="754380" cy="754380"/>
            <a:chOff x="0" y="0"/>
            <a:chExt cx="1005840" cy="1005840"/>
          </a:xfrm>
        </p:grpSpPr>
        <p:sp>
          <p:nvSpPr>
            <p:cNvPr name="Freeform 96" id="96" descr="/home/claude/deck/icons/checkcircle_2D6A4F.png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3784580" y="3429000"/>
            <a:ext cx="3291840" cy="1097280"/>
            <a:chOff x="0" y="0"/>
            <a:chExt cx="4389120" cy="14630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389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3784580" y="3386138"/>
            <a:ext cx="3291840" cy="1140142"/>
            <a:chOff x="0" y="0"/>
            <a:chExt cx="4389120" cy="152019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389120" cy="1520190"/>
            </a:xfrm>
            <a:custGeom>
              <a:avLst/>
              <a:gdLst/>
              <a:ahLst/>
              <a:cxnLst/>
              <a:rect r="r" b="b" t="t" l="l"/>
              <a:pathLst>
                <a:path h="152019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57" r="0" b="-6257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4389120" cy="1558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69"/>
                </a:lnSpc>
              </a:pPr>
              <a:r>
                <a:rPr lang="en-US" sz="236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Imputed with 0.00 to reflect zero ad spend</a:t>
              </a:r>
            </a:p>
          </p:txBody>
        </p:sp>
      </p:grpSp>
      <p:sp>
        <p:nvSpPr>
          <p:cNvPr name="Freeform 102" id="102"/>
          <p:cNvSpPr/>
          <p:nvPr/>
        </p:nvSpPr>
        <p:spPr>
          <a:xfrm flipH="false" flipV="false" rot="0">
            <a:off x="7805614" y="4829242"/>
            <a:ext cx="9489043" cy="1369171"/>
          </a:xfrm>
          <a:custGeom>
            <a:avLst/>
            <a:gdLst/>
            <a:ahLst/>
            <a:cxnLst/>
            <a:rect r="r" b="b" t="t" l="l"/>
            <a:pathLst>
              <a:path h="1369171" w="9489043">
                <a:moveTo>
                  <a:pt x="0" y="0"/>
                </a:moveTo>
                <a:lnTo>
                  <a:pt x="9489043" y="0"/>
                </a:lnTo>
                <a:lnTo>
                  <a:pt x="9489043" y="1369171"/>
                </a:lnTo>
                <a:lnTo>
                  <a:pt x="0" y="13691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8092440" y="5102352"/>
            <a:ext cx="822960" cy="822960"/>
            <a:chOff x="0" y="0"/>
            <a:chExt cx="1097280" cy="109728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D64545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8277606" y="5287518"/>
            <a:ext cx="452628" cy="452628"/>
            <a:chOff x="0" y="0"/>
            <a:chExt cx="603504" cy="603504"/>
          </a:xfrm>
        </p:grpSpPr>
        <p:sp>
          <p:nvSpPr>
            <p:cNvPr name="Freeform 106" id="106" descr="/home/claude/deck/icons/warning_FFFFFF.png"/>
            <p:cNvSpPr/>
            <p:nvPr/>
          </p:nvSpPr>
          <p:spPr>
            <a:xfrm flipH="false" flipV="false" rot="0">
              <a:off x="0" y="0"/>
              <a:ext cx="603504" cy="603504"/>
            </a:xfrm>
            <a:custGeom>
              <a:avLst/>
              <a:gdLst/>
              <a:ahLst/>
              <a:cxnLst/>
              <a:rect r="r" b="b" t="t" l="l"/>
              <a:pathLst>
                <a:path h="603504" w="603504">
                  <a:moveTo>
                    <a:pt x="0" y="0"/>
                  </a:moveTo>
                  <a:lnTo>
                    <a:pt x="603504" y="0"/>
                  </a:lnTo>
                  <a:lnTo>
                    <a:pt x="603504" y="603504"/>
                  </a:lnTo>
                  <a:lnTo>
                    <a:pt x="0" y="60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189720" y="4978908"/>
            <a:ext cx="3154680" cy="480060"/>
            <a:chOff x="0" y="0"/>
            <a:chExt cx="4206240" cy="6400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206240" cy="640080"/>
            </a:xfrm>
            <a:custGeom>
              <a:avLst/>
              <a:gdLst/>
              <a:ahLst/>
              <a:cxnLst/>
              <a:rect r="r" b="b" t="t" l="l"/>
              <a:pathLst>
                <a:path h="6400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956" r="0" b="-77954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189720" y="4978908"/>
            <a:ext cx="3154680" cy="546612"/>
            <a:chOff x="0" y="0"/>
            <a:chExt cx="4206240" cy="72881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206240" cy="728816"/>
            </a:xfrm>
            <a:custGeom>
              <a:avLst/>
              <a:gdLst/>
              <a:ahLst/>
              <a:cxnLst/>
              <a:rect r="r" b="b" t="t" l="l"/>
              <a:pathLst>
                <a:path h="72881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28816"/>
                  </a:lnTo>
                  <a:lnTo>
                    <a:pt x="0" y="7288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542" r="0" b="-56366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4206240" cy="728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9"/>
                </a:lnSpc>
              </a:pPr>
              <a:r>
                <a:rPr lang="en-US" sz="277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Promo_Amount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189720" y="5472684"/>
            <a:ext cx="3154680" cy="617220"/>
            <a:chOff x="0" y="0"/>
            <a:chExt cx="4206240" cy="82296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206240" cy="822960"/>
            </a:xfrm>
            <a:custGeom>
              <a:avLst/>
              <a:gdLst/>
              <a:ahLst/>
              <a:cxnLst/>
              <a:rect r="r" b="b" t="t" l="l"/>
              <a:pathLst>
                <a:path h="8229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21" r="0" b="-49520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9189720" y="5436965"/>
            <a:ext cx="3154680" cy="833402"/>
            <a:chOff x="0" y="0"/>
            <a:chExt cx="4206240" cy="111120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206240" cy="1111202"/>
            </a:xfrm>
            <a:custGeom>
              <a:avLst/>
              <a:gdLst/>
              <a:ahLst/>
              <a:cxnLst/>
              <a:rect r="r" b="b" t="t" l="l"/>
              <a:pathLst>
                <a:path h="1111202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111202"/>
                  </a:lnTo>
                  <a:lnTo>
                    <a:pt x="0" y="11112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583" r="0" b="-12929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28575"/>
              <a:ext cx="4206240" cy="11397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8"/>
                </a:lnSpc>
              </a:pPr>
              <a:r>
                <a:rPr lang="en-US" sz="2324" i="true">
                  <a:solidFill>
                    <a:srgbClr val="5B6B63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Unrecorded discount fields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2893040" y="5143500"/>
            <a:ext cx="754380" cy="754380"/>
            <a:chOff x="0" y="0"/>
            <a:chExt cx="1005840" cy="1005840"/>
          </a:xfrm>
        </p:grpSpPr>
        <p:sp>
          <p:nvSpPr>
            <p:cNvPr name="Freeform 118" id="118" descr="/home/claude/deck/icons/checkcircle_2D6A4F.png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3784580" y="4978908"/>
            <a:ext cx="3291840" cy="1097280"/>
            <a:chOff x="0" y="0"/>
            <a:chExt cx="4389120" cy="146304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389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3784580" y="4936046"/>
            <a:ext cx="3291840" cy="1140143"/>
            <a:chOff x="0" y="0"/>
            <a:chExt cx="4389120" cy="152019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389120" cy="1520190"/>
            </a:xfrm>
            <a:custGeom>
              <a:avLst/>
              <a:gdLst/>
              <a:ahLst/>
              <a:cxnLst/>
              <a:rect r="r" b="b" t="t" l="l"/>
              <a:pathLst>
                <a:path h="152019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57" r="0" b="-6257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4389120" cy="1558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69"/>
                </a:lnSpc>
              </a:pPr>
              <a:r>
                <a:rPr lang="en-US" sz="236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Imputed with 0.00 for full-price units</a:t>
              </a:r>
            </a:p>
          </p:txBody>
        </p:sp>
      </p:grpSp>
      <p:sp>
        <p:nvSpPr>
          <p:cNvPr name="Freeform 124" id="124"/>
          <p:cNvSpPr/>
          <p:nvPr/>
        </p:nvSpPr>
        <p:spPr>
          <a:xfrm flipH="false" flipV="false" rot="0">
            <a:off x="7805614" y="6379150"/>
            <a:ext cx="9489043" cy="1369171"/>
          </a:xfrm>
          <a:custGeom>
            <a:avLst/>
            <a:gdLst/>
            <a:ahLst/>
            <a:cxnLst/>
            <a:rect r="r" b="b" t="t" l="l"/>
            <a:pathLst>
              <a:path h="1369171" w="9489043">
                <a:moveTo>
                  <a:pt x="0" y="0"/>
                </a:moveTo>
                <a:lnTo>
                  <a:pt x="9489043" y="0"/>
                </a:lnTo>
                <a:lnTo>
                  <a:pt x="9489043" y="1369171"/>
                </a:lnTo>
                <a:lnTo>
                  <a:pt x="0" y="13691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5" id="125"/>
          <p:cNvGrpSpPr/>
          <p:nvPr/>
        </p:nvGrpSpPr>
        <p:grpSpPr>
          <a:xfrm rot="0">
            <a:off x="8092440" y="6652260"/>
            <a:ext cx="822960" cy="822960"/>
            <a:chOff x="0" y="0"/>
            <a:chExt cx="1097280" cy="109728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D64545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8277606" y="6837426"/>
            <a:ext cx="452628" cy="452628"/>
            <a:chOff x="0" y="0"/>
            <a:chExt cx="603504" cy="603504"/>
          </a:xfrm>
        </p:grpSpPr>
        <p:sp>
          <p:nvSpPr>
            <p:cNvPr name="Freeform 128" id="128" descr="/home/claude/deck/icons/warning_FFFFFF.png"/>
            <p:cNvSpPr/>
            <p:nvPr/>
          </p:nvSpPr>
          <p:spPr>
            <a:xfrm flipH="false" flipV="false" rot="0">
              <a:off x="0" y="0"/>
              <a:ext cx="603504" cy="603504"/>
            </a:xfrm>
            <a:custGeom>
              <a:avLst/>
              <a:gdLst/>
              <a:ahLst/>
              <a:cxnLst/>
              <a:rect r="r" b="b" t="t" l="l"/>
              <a:pathLst>
                <a:path h="603504" w="603504">
                  <a:moveTo>
                    <a:pt x="0" y="0"/>
                  </a:moveTo>
                  <a:lnTo>
                    <a:pt x="603504" y="0"/>
                  </a:lnTo>
                  <a:lnTo>
                    <a:pt x="603504" y="603504"/>
                  </a:lnTo>
                  <a:lnTo>
                    <a:pt x="0" y="60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9189720" y="6528816"/>
            <a:ext cx="3154680" cy="480060"/>
            <a:chOff x="0" y="0"/>
            <a:chExt cx="4206240" cy="64008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4206240" cy="640080"/>
            </a:xfrm>
            <a:custGeom>
              <a:avLst/>
              <a:gdLst/>
              <a:ahLst/>
              <a:cxnLst/>
              <a:rect r="r" b="b" t="t" l="l"/>
              <a:pathLst>
                <a:path h="6400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956" r="0" b="-77954"/>
              </a:stretch>
            </a:blip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9189720" y="6528816"/>
            <a:ext cx="3154680" cy="546612"/>
            <a:chOff x="0" y="0"/>
            <a:chExt cx="4206240" cy="728816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206240" cy="728816"/>
            </a:xfrm>
            <a:custGeom>
              <a:avLst/>
              <a:gdLst/>
              <a:ahLst/>
              <a:cxnLst/>
              <a:rect r="r" b="b" t="t" l="l"/>
              <a:pathLst>
                <a:path h="72881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28816"/>
                  </a:lnTo>
                  <a:lnTo>
                    <a:pt x="0" y="7288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542" r="0" b="-5636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0"/>
              <a:ext cx="4206240" cy="728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9"/>
                </a:lnSpc>
              </a:pPr>
              <a:r>
                <a:rPr lang="en-US" sz="277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Transaction_ID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189720" y="7022592"/>
            <a:ext cx="3154680" cy="617220"/>
            <a:chOff x="0" y="0"/>
            <a:chExt cx="4206240" cy="82296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206240" cy="822960"/>
            </a:xfrm>
            <a:custGeom>
              <a:avLst/>
              <a:gdLst/>
              <a:ahLst/>
              <a:cxnLst/>
              <a:rect r="r" b="b" t="t" l="l"/>
              <a:pathLst>
                <a:path h="8229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21" r="0" b="-49520"/>
              </a:stretch>
            </a:blip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9189720" y="6986873"/>
            <a:ext cx="3154680" cy="833402"/>
            <a:chOff x="0" y="0"/>
            <a:chExt cx="4206240" cy="1111202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4206240" cy="1111202"/>
            </a:xfrm>
            <a:custGeom>
              <a:avLst/>
              <a:gdLst/>
              <a:ahLst/>
              <a:cxnLst/>
              <a:rect r="r" b="b" t="t" l="l"/>
              <a:pathLst>
                <a:path h="1111202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111202"/>
                  </a:lnTo>
                  <a:lnTo>
                    <a:pt x="0" y="11112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583" r="0" b="-12929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28575"/>
              <a:ext cx="4206240" cy="11397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8"/>
                </a:lnSpc>
              </a:pPr>
              <a:r>
                <a:rPr lang="en-US" sz="2324" i="true">
                  <a:solidFill>
                    <a:srgbClr val="5B6B63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Duplicate entry attempts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2893040" y="6693408"/>
            <a:ext cx="754380" cy="754380"/>
            <a:chOff x="0" y="0"/>
            <a:chExt cx="1005840" cy="1005840"/>
          </a:xfrm>
        </p:grpSpPr>
        <p:sp>
          <p:nvSpPr>
            <p:cNvPr name="Freeform 140" id="140" descr="/home/claude/deck/icons/checkcircle_2D6A4F.png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13784580" y="6528816"/>
            <a:ext cx="3291840" cy="1097280"/>
            <a:chOff x="0" y="0"/>
            <a:chExt cx="4389120" cy="146304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4389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3784580" y="6485954"/>
            <a:ext cx="3291840" cy="1140143"/>
            <a:chOff x="0" y="0"/>
            <a:chExt cx="4389120" cy="152019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4389120" cy="1520190"/>
            </a:xfrm>
            <a:custGeom>
              <a:avLst/>
              <a:gdLst/>
              <a:ahLst/>
              <a:cxnLst/>
              <a:rect r="r" b="b" t="t" l="l"/>
              <a:pathLst>
                <a:path h="152019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57" r="0" b="-6257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4389120" cy="1558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69"/>
                </a:lnSpc>
              </a:pPr>
              <a:r>
                <a:rPr lang="en-US" sz="236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Deduplicated, earliest timestamp kept</a:t>
              </a:r>
            </a:p>
          </p:txBody>
        </p:sp>
      </p:grpSp>
      <p:sp>
        <p:nvSpPr>
          <p:cNvPr name="Freeform 146" id="146"/>
          <p:cNvSpPr/>
          <p:nvPr/>
        </p:nvSpPr>
        <p:spPr>
          <a:xfrm flipH="false" flipV="false" rot="0">
            <a:off x="7805614" y="7929058"/>
            <a:ext cx="9489043" cy="1369171"/>
          </a:xfrm>
          <a:custGeom>
            <a:avLst/>
            <a:gdLst/>
            <a:ahLst/>
            <a:cxnLst/>
            <a:rect r="r" b="b" t="t" l="l"/>
            <a:pathLst>
              <a:path h="1369171" w="9489043">
                <a:moveTo>
                  <a:pt x="0" y="0"/>
                </a:moveTo>
                <a:lnTo>
                  <a:pt x="9489043" y="0"/>
                </a:lnTo>
                <a:lnTo>
                  <a:pt x="9489043" y="1369171"/>
                </a:lnTo>
                <a:lnTo>
                  <a:pt x="0" y="13691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7" id="147"/>
          <p:cNvGrpSpPr/>
          <p:nvPr/>
        </p:nvGrpSpPr>
        <p:grpSpPr>
          <a:xfrm rot="0">
            <a:off x="8092440" y="8202168"/>
            <a:ext cx="822960" cy="822960"/>
            <a:chOff x="0" y="0"/>
            <a:chExt cx="1097280" cy="109728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D64545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8277606" y="8387334"/>
            <a:ext cx="452628" cy="452628"/>
            <a:chOff x="0" y="0"/>
            <a:chExt cx="603504" cy="603504"/>
          </a:xfrm>
        </p:grpSpPr>
        <p:sp>
          <p:nvSpPr>
            <p:cNvPr name="Freeform 150" id="150" descr="/home/claude/deck/icons/warning_FFFFFF.png"/>
            <p:cNvSpPr/>
            <p:nvPr/>
          </p:nvSpPr>
          <p:spPr>
            <a:xfrm flipH="false" flipV="false" rot="0">
              <a:off x="0" y="0"/>
              <a:ext cx="603504" cy="603504"/>
            </a:xfrm>
            <a:custGeom>
              <a:avLst/>
              <a:gdLst/>
              <a:ahLst/>
              <a:cxnLst/>
              <a:rect r="r" b="b" t="t" l="l"/>
              <a:pathLst>
                <a:path h="603504" w="603504">
                  <a:moveTo>
                    <a:pt x="0" y="0"/>
                  </a:moveTo>
                  <a:lnTo>
                    <a:pt x="603504" y="0"/>
                  </a:lnTo>
                  <a:lnTo>
                    <a:pt x="603504" y="603504"/>
                  </a:lnTo>
                  <a:lnTo>
                    <a:pt x="0" y="60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189720" y="8078724"/>
            <a:ext cx="3154680" cy="480060"/>
            <a:chOff x="0" y="0"/>
            <a:chExt cx="4206240" cy="64008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4206240" cy="640080"/>
            </a:xfrm>
            <a:custGeom>
              <a:avLst/>
              <a:gdLst/>
              <a:ahLst/>
              <a:cxnLst/>
              <a:rect r="r" b="b" t="t" l="l"/>
              <a:pathLst>
                <a:path h="6400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956" r="0" b="-77954"/>
              </a:stretch>
            </a:blip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9189720" y="8078724"/>
            <a:ext cx="3154680" cy="546612"/>
            <a:chOff x="0" y="0"/>
            <a:chExt cx="4206240" cy="72881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4206240" cy="728816"/>
            </a:xfrm>
            <a:custGeom>
              <a:avLst/>
              <a:gdLst/>
              <a:ahLst/>
              <a:cxnLst/>
              <a:rect r="r" b="b" t="t" l="l"/>
              <a:pathLst>
                <a:path h="72881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28816"/>
                  </a:lnTo>
                  <a:lnTo>
                    <a:pt x="0" y="7288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542" r="0" b="-56366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0"/>
              <a:ext cx="4206240" cy="728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9"/>
                </a:lnSpc>
              </a:pPr>
              <a:r>
                <a:rPr lang="en-US" sz="277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Refund_Amount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9189720" y="8572500"/>
            <a:ext cx="3154680" cy="617220"/>
            <a:chOff x="0" y="0"/>
            <a:chExt cx="4206240" cy="82296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4206240" cy="822960"/>
            </a:xfrm>
            <a:custGeom>
              <a:avLst/>
              <a:gdLst/>
              <a:ahLst/>
              <a:cxnLst/>
              <a:rect r="r" b="b" t="t" l="l"/>
              <a:pathLst>
                <a:path h="8229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21" r="0" b="-49520"/>
              </a:stretch>
            </a:blip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9189720" y="8536781"/>
            <a:ext cx="3154680" cy="833402"/>
            <a:chOff x="0" y="0"/>
            <a:chExt cx="4206240" cy="1111202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4206240" cy="1111202"/>
            </a:xfrm>
            <a:custGeom>
              <a:avLst/>
              <a:gdLst/>
              <a:ahLst/>
              <a:cxnLst/>
              <a:rect r="r" b="b" t="t" l="l"/>
              <a:pathLst>
                <a:path h="1111202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111202"/>
                  </a:lnTo>
                  <a:lnTo>
                    <a:pt x="0" y="11112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583" r="0" b="-12929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28575"/>
              <a:ext cx="4206240" cy="11397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8"/>
                </a:lnSpc>
              </a:pPr>
              <a:r>
                <a:rPr lang="en-US" sz="2324" i="true">
                  <a:solidFill>
                    <a:srgbClr val="5B6B63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Inconsistent sign entry (±)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2893040" y="8243316"/>
            <a:ext cx="754380" cy="754380"/>
            <a:chOff x="0" y="0"/>
            <a:chExt cx="1005840" cy="1005840"/>
          </a:xfrm>
        </p:grpSpPr>
        <p:sp>
          <p:nvSpPr>
            <p:cNvPr name="Freeform 162" id="162" descr="/home/claude/deck/icons/checkcircle_2D6A4F.png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784580" y="8078724"/>
            <a:ext cx="3291840" cy="1097280"/>
            <a:chOff x="0" y="0"/>
            <a:chExt cx="4389120" cy="14630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4389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784580" y="8035862"/>
            <a:ext cx="3291840" cy="1283572"/>
            <a:chOff x="0" y="0"/>
            <a:chExt cx="4389120" cy="171143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4389120" cy="1711430"/>
            </a:xfrm>
            <a:custGeom>
              <a:avLst/>
              <a:gdLst/>
              <a:ahLst/>
              <a:cxnLst/>
              <a:rect r="r" b="b" t="t" l="l"/>
              <a:pathLst>
                <a:path h="171143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11430"/>
                  </a:lnTo>
                  <a:lnTo>
                    <a:pt x="0" y="17114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558" r="0" b="5615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38100"/>
              <a:ext cx="4389120" cy="1749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69"/>
                </a:lnSpc>
              </a:pPr>
              <a:r>
                <a:rPr lang="en-US" sz="236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Standardized to absolute positive values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822960" y="9572625"/>
            <a:ext cx="8229600" cy="459467"/>
            <a:chOff x="0" y="0"/>
            <a:chExt cx="10972800" cy="612622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0972800" cy="612622"/>
            </a:xfrm>
            <a:custGeom>
              <a:avLst/>
              <a:gdLst/>
              <a:ahLst/>
              <a:cxnLst/>
              <a:rect r="r" b="b" t="t" l="l"/>
              <a:pathLst>
                <a:path h="61262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12622"/>
                  </a:lnTo>
                  <a:lnTo>
                    <a:pt x="0" y="6126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1112" r="0" b="-296888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0"/>
              <a:ext cx="10972800" cy="6126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8"/>
                </a:lnSpc>
              </a:pPr>
              <a:r>
                <a:rPr lang="en-US" sz="2324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7053103" y="9572625"/>
            <a:ext cx="822960" cy="472231"/>
            <a:chOff x="0" y="0"/>
            <a:chExt cx="1097280" cy="629641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1097280" cy="629641"/>
            </a:xfrm>
            <a:custGeom>
              <a:avLst/>
              <a:gdLst/>
              <a:ahLst/>
              <a:cxnLst/>
              <a:rect r="r" b="b" t="t" l="l"/>
              <a:pathLst>
                <a:path h="629641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29641"/>
                  </a:lnTo>
                  <a:lnTo>
                    <a:pt x="0" y="6296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6813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9525"/>
              <a:ext cx="1097280" cy="6201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39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10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179" id="179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181" id="181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1081" r="0" b="-31081"/>
              </a:stretch>
            </a:blip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184" id="184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347" r="0" b="-345"/>
              </a:stretch>
            </a:blipFill>
          </p:spPr>
        </p:sp>
      </p:grpSp>
      <p:grpSp>
        <p:nvGrpSpPr>
          <p:cNvPr name="Group 186" id="186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9525"/>
              <a:ext cx="29260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17135475" y="9417628"/>
            <a:ext cx="891540" cy="595052"/>
            <a:chOff x="0" y="0"/>
            <a:chExt cx="1188720" cy="793403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95" id="195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630400" cy="716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352">
                  <a:solidFill>
                    <a:srgbClr val="7FB0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CHAPTER 2 · DATA MODEL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51535" y="-710145"/>
            <a:ext cx="14401800" cy="4404792"/>
            <a:chOff x="0" y="0"/>
            <a:chExt cx="19202400" cy="58730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5873055"/>
            </a:xfrm>
            <a:custGeom>
              <a:avLst/>
              <a:gdLst/>
              <a:ahLst/>
              <a:cxnLst/>
              <a:rect r="r" b="b" t="t" l="l"/>
              <a:pathLst>
                <a:path h="5873055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873055"/>
                  </a:lnTo>
                  <a:lnTo>
                    <a:pt x="0" y="58730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868" r="0" b="2445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202400" cy="588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433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Gold Layer: The Star Schema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057400"/>
            <a:ext cx="15087600" cy="548640"/>
            <a:chOff x="0" y="0"/>
            <a:chExt cx="201168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465" r="0" b="-48546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2028825"/>
            <a:ext cx="16504463" cy="907995"/>
            <a:chOff x="0" y="0"/>
            <a:chExt cx="22005950" cy="12106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005950" cy="1210660"/>
            </a:xfrm>
            <a:custGeom>
              <a:avLst/>
              <a:gdLst/>
              <a:ahLst/>
              <a:cxnLst/>
              <a:rect r="r" b="b" t="t" l="l"/>
              <a:pathLst>
                <a:path h="1210660" w="22005950">
                  <a:moveTo>
                    <a:pt x="0" y="0"/>
                  </a:moveTo>
                  <a:lnTo>
                    <a:pt x="22005950" y="0"/>
                  </a:lnTo>
                  <a:lnTo>
                    <a:pt x="22005950" y="1210660"/>
                  </a:lnTo>
                  <a:lnTo>
                    <a:pt x="0" y="12106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85" r="8584" b="-25555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005950" cy="1258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9"/>
                </a:lnSpc>
              </a:pPr>
              <a:r>
                <a:rPr lang="en-US" sz="2574" i="true">
                  <a:solidFill>
                    <a:srgbClr val="5B6B6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One central Fact Table surrounded by dimension tables, joined via surrogate keys. All tables saved in Delta format for ACID compliance.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20840" y="4251960"/>
            <a:ext cx="4800600" cy="3223260"/>
            <a:chOff x="0" y="0"/>
            <a:chExt cx="6400800" cy="4297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00800" cy="4297680"/>
            </a:xfrm>
            <a:custGeom>
              <a:avLst/>
              <a:gdLst/>
              <a:ahLst/>
              <a:cxnLst/>
              <a:rect r="r" b="b" t="t" l="l"/>
              <a:pathLst>
                <a:path h="4297680" w="6400800">
                  <a:moveTo>
                    <a:pt x="0" y="316671"/>
                  </a:moveTo>
                  <a:cubicBezTo>
                    <a:pt x="0" y="141842"/>
                    <a:pt x="114681" y="0"/>
                    <a:pt x="256032" y="0"/>
                  </a:cubicBezTo>
                  <a:lnTo>
                    <a:pt x="6144768" y="0"/>
                  </a:lnTo>
                  <a:cubicBezTo>
                    <a:pt x="6286119" y="0"/>
                    <a:pt x="6400800" y="141842"/>
                    <a:pt x="6400800" y="316671"/>
                  </a:cubicBezTo>
                  <a:lnTo>
                    <a:pt x="6400800" y="3981009"/>
                  </a:lnTo>
                  <a:cubicBezTo>
                    <a:pt x="6400800" y="4155838"/>
                    <a:pt x="6286119" y="4297680"/>
                    <a:pt x="6144768" y="4297680"/>
                  </a:cubicBezTo>
                  <a:lnTo>
                    <a:pt x="256032" y="4297680"/>
                  </a:lnTo>
                  <a:cubicBezTo>
                    <a:pt x="114681" y="4297680"/>
                    <a:pt x="0" y="4155838"/>
                    <a:pt x="0" y="3981009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063740" y="4594860"/>
            <a:ext cx="754380" cy="754380"/>
            <a:chOff x="0" y="0"/>
            <a:chExt cx="100584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229704" y="4760824"/>
            <a:ext cx="422434" cy="422434"/>
            <a:chOff x="0" y="0"/>
            <a:chExt cx="563245" cy="563245"/>
          </a:xfrm>
        </p:grpSpPr>
        <p:sp>
          <p:nvSpPr>
            <p:cNvPr name="Freeform 22" id="22" descr="/home/claude/deck/icons/sitemap_1B4332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023860" y="4636008"/>
            <a:ext cx="3291840" cy="617220"/>
            <a:chOff x="0" y="0"/>
            <a:chExt cx="4389120" cy="822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0" cy="822960"/>
            </a:xfrm>
            <a:custGeom>
              <a:avLst/>
              <a:gdLst/>
              <a:ahLst/>
              <a:cxnLst/>
              <a:rect r="r" b="b" t="t" l="l"/>
              <a:pathLst>
                <a:path h="8229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47" r="0" b="-53848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023860" y="3875621"/>
            <a:ext cx="3291840" cy="2192858"/>
            <a:chOff x="0" y="0"/>
            <a:chExt cx="4389120" cy="29238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89120" cy="2923810"/>
            </a:xfrm>
            <a:custGeom>
              <a:avLst/>
              <a:gdLst/>
              <a:ahLst/>
              <a:cxnLst/>
              <a:rect r="r" b="b" t="t" l="l"/>
              <a:pathLst>
                <a:path h="292381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923810"/>
                  </a:lnTo>
                  <a:lnTo>
                    <a:pt x="0" y="29238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51" r="0" b="563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4389120" cy="2933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fact_transactions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063740" y="5486400"/>
            <a:ext cx="4114800" cy="1234440"/>
            <a:chOff x="0" y="0"/>
            <a:chExt cx="5486400" cy="1645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86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5" r="0" b="-14905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063740" y="5436394"/>
            <a:ext cx="4457700" cy="1915925"/>
            <a:chOff x="0" y="0"/>
            <a:chExt cx="5943600" cy="255456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943600" cy="2554566"/>
            </a:xfrm>
            <a:custGeom>
              <a:avLst/>
              <a:gdLst/>
              <a:ahLst/>
              <a:cxnLst/>
              <a:rect r="r" b="b" t="t" l="l"/>
              <a:pathLst>
                <a:path h="2554566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554566"/>
                  </a:lnTo>
                  <a:lnTo>
                    <a:pt x="0" y="25545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27" r="7692" b="2463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14300"/>
              <a:ext cx="5943600" cy="2668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35"/>
                </a:lnSpc>
              </a:pPr>
              <a:r>
                <a:rPr lang="en-US" sz="2594">
                  <a:solidFill>
                    <a:srgbClr val="CFE3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Clicks · COGS · FBA Fees · Net Profit · Net ROI · Orders · PPC Cost · Refunded · Revenue · Sessions · Units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91540" y="2537460"/>
            <a:ext cx="5212080" cy="2194560"/>
            <a:chOff x="0" y="0"/>
            <a:chExt cx="6949440" cy="2926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949439" cy="2926080"/>
            </a:xfrm>
            <a:custGeom>
              <a:avLst/>
              <a:gdLst/>
              <a:ahLst/>
              <a:cxnLst/>
              <a:rect r="r" b="b" t="t" l="l"/>
              <a:pathLst>
                <a:path h="2926080" w="6949439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6693408" y="0"/>
                  </a:lnTo>
                  <a:cubicBezTo>
                    <a:pt x="6834759" y="0"/>
                    <a:pt x="6949439" y="114681"/>
                    <a:pt x="6949439" y="256032"/>
                  </a:cubicBezTo>
                  <a:lnTo>
                    <a:pt x="6949439" y="2670048"/>
                  </a:lnTo>
                  <a:cubicBezTo>
                    <a:pt x="6949439" y="2811399"/>
                    <a:pt x="6834759" y="2926080"/>
                    <a:pt x="6693408" y="2926080"/>
                  </a:cubicBezTo>
                  <a:lnTo>
                    <a:pt x="256032" y="2926080"/>
                  </a:lnTo>
                  <a:cubicBezTo>
                    <a:pt x="114681" y="2926080"/>
                    <a:pt x="0" y="2811399"/>
                    <a:pt x="0" y="2670048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93292" y="2839212"/>
            <a:ext cx="685800" cy="685800"/>
            <a:chOff x="0" y="0"/>
            <a:chExt cx="91440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47597" y="2993517"/>
            <a:ext cx="377190" cy="377190"/>
            <a:chOff x="0" y="0"/>
            <a:chExt cx="502920" cy="502920"/>
          </a:xfrm>
        </p:grpSpPr>
        <p:sp>
          <p:nvSpPr>
            <p:cNvPr name="Freeform 38" id="38" descr="/home/claude/deck/icons/chartline_FFFFFF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057400" y="2784348"/>
            <a:ext cx="3840480" cy="548640"/>
            <a:chOff x="0" y="0"/>
            <a:chExt cx="512064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00" r="0" b="-8630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085975" y="2088477"/>
            <a:ext cx="3840480" cy="2231466"/>
            <a:chOff x="0" y="0"/>
            <a:chExt cx="5120640" cy="297528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20640" cy="2975289"/>
            </a:xfrm>
            <a:custGeom>
              <a:avLst/>
              <a:gdLst/>
              <a:ahLst/>
              <a:cxnLst/>
              <a:rect r="r" b="b" t="t" l="l"/>
              <a:pathLst>
                <a:path h="2975289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975289"/>
                  </a:lnTo>
                  <a:lnTo>
                    <a:pt x="0" y="29752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081" r="0" b="5401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5120640" cy="2994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59"/>
                </a:lnSpc>
              </a:pPr>
              <a:r>
                <a:rPr lang="en-US" sz="3049" b="true">
                  <a:solidFill>
                    <a:srgbClr val="1B433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dim_date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93292" y="3607308"/>
            <a:ext cx="4608576" cy="1028700"/>
            <a:chOff x="0" y="0"/>
            <a:chExt cx="6144768" cy="1371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144768" cy="1371600"/>
            </a:xfrm>
            <a:custGeom>
              <a:avLst/>
              <a:gdLst/>
              <a:ahLst/>
              <a:cxnLst/>
              <a:rect r="r" b="b" t="t" l="l"/>
              <a:pathLst>
                <a:path h="13716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32" r="0" b="-37232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93292" y="3597783"/>
            <a:ext cx="4608576" cy="1071562"/>
            <a:chOff x="0" y="0"/>
            <a:chExt cx="6144768" cy="14287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144768" cy="1428750"/>
            </a:xfrm>
            <a:custGeom>
              <a:avLst/>
              <a:gdLst/>
              <a:ahLst/>
              <a:cxnLst/>
              <a:rect r="r" b="b" t="t" l="l"/>
              <a:pathLst>
                <a:path h="142875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428750"/>
                  </a:lnTo>
                  <a:lnTo>
                    <a:pt x="0" y="1428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801" r="0" b="-3380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0"/>
              <a:ext cx="6144768" cy="1524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45"/>
                </a:lnSpc>
              </a:pPr>
              <a:r>
                <a:rPr lang="en-US" sz="256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Date_ID · Year · Quarter · Month · Day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138660" y="2537460"/>
            <a:ext cx="5212080" cy="2194560"/>
            <a:chOff x="0" y="0"/>
            <a:chExt cx="6949440" cy="29260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949439" cy="2926080"/>
            </a:xfrm>
            <a:custGeom>
              <a:avLst/>
              <a:gdLst/>
              <a:ahLst/>
              <a:cxnLst/>
              <a:rect r="r" b="b" t="t" l="l"/>
              <a:pathLst>
                <a:path h="2926080" w="6949439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6693408" y="0"/>
                  </a:lnTo>
                  <a:cubicBezTo>
                    <a:pt x="6834759" y="0"/>
                    <a:pt x="6949439" y="114681"/>
                    <a:pt x="6949439" y="256032"/>
                  </a:cubicBezTo>
                  <a:lnTo>
                    <a:pt x="6949439" y="2670048"/>
                  </a:lnTo>
                  <a:cubicBezTo>
                    <a:pt x="6949439" y="2811399"/>
                    <a:pt x="6834759" y="2926080"/>
                    <a:pt x="6693408" y="2926080"/>
                  </a:cubicBezTo>
                  <a:lnTo>
                    <a:pt x="256032" y="2926080"/>
                  </a:lnTo>
                  <a:cubicBezTo>
                    <a:pt x="114681" y="2926080"/>
                    <a:pt x="0" y="2811399"/>
                    <a:pt x="0" y="2670048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440412" y="2839212"/>
            <a:ext cx="685800" cy="685800"/>
            <a:chOff x="0" y="0"/>
            <a:chExt cx="914400" cy="914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594717" y="2993517"/>
            <a:ext cx="377190" cy="377190"/>
            <a:chOff x="0" y="0"/>
            <a:chExt cx="502920" cy="502920"/>
          </a:xfrm>
        </p:grpSpPr>
        <p:sp>
          <p:nvSpPr>
            <p:cNvPr name="Freeform 54" id="54" descr="/home/claude/deck/icons/globe_FFFFFF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3304520" y="2784348"/>
            <a:ext cx="3840480" cy="548640"/>
            <a:chOff x="0" y="0"/>
            <a:chExt cx="512064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00" r="0" b="-8630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3333095" y="2088477"/>
            <a:ext cx="3840480" cy="2231466"/>
            <a:chOff x="0" y="0"/>
            <a:chExt cx="5120640" cy="297528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120640" cy="2975289"/>
            </a:xfrm>
            <a:custGeom>
              <a:avLst/>
              <a:gdLst/>
              <a:ahLst/>
              <a:cxnLst/>
              <a:rect r="r" b="b" t="t" l="l"/>
              <a:pathLst>
                <a:path h="2975289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975289"/>
                  </a:lnTo>
                  <a:lnTo>
                    <a:pt x="0" y="29752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081" r="0" b="5401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5120640" cy="2994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59"/>
                </a:lnSpc>
              </a:pPr>
              <a:r>
                <a:rPr lang="en-US" sz="3049" b="true">
                  <a:solidFill>
                    <a:srgbClr val="1B433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dim_market_account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440412" y="3607308"/>
            <a:ext cx="4608576" cy="1028700"/>
            <a:chOff x="0" y="0"/>
            <a:chExt cx="6144768" cy="13716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144768" cy="1371600"/>
            </a:xfrm>
            <a:custGeom>
              <a:avLst/>
              <a:gdLst/>
              <a:ahLst/>
              <a:cxnLst/>
              <a:rect r="r" b="b" t="t" l="l"/>
              <a:pathLst>
                <a:path h="13716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32" r="0" b="-37232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440412" y="3597783"/>
            <a:ext cx="4608576" cy="1071562"/>
            <a:chOff x="0" y="0"/>
            <a:chExt cx="6144768" cy="142875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144768" cy="1428750"/>
            </a:xfrm>
            <a:custGeom>
              <a:avLst/>
              <a:gdLst/>
              <a:ahLst/>
              <a:cxnLst/>
              <a:rect r="r" b="b" t="t" l="l"/>
              <a:pathLst>
                <a:path h="142875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428750"/>
                  </a:lnTo>
                  <a:lnTo>
                    <a:pt x="0" y="1428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801" r="0" b="-338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0"/>
              <a:ext cx="6144768" cy="1524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45"/>
                </a:lnSpc>
              </a:pPr>
              <a:r>
                <a:rPr lang="en-US" sz="256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Market_ID · Account Title · Market Place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91540" y="6377940"/>
            <a:ext cx="5212080" cy="2194560"/>
            <a:chOff x="0" y="0"/>
            <a:chExt cx="6949440" cy="29260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949439" cy="2926080"/>
            </a:xfrm>
            <a:custGeom>
              <a:avLst/>
              <a:gdLst/>
              <a:ahLst/>
              <a:cxnLst/>
              <a:rect r="r" b="b" t="t" l="l"/>
              <a:pathLst>
                <a:path h="2926080" w="6949439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6693408" y="0"/>
                  </a:lnTo>
                  <a:cubicBezTo>
                    <a:pt x="6834759" y="0"/>
                    <a:pt x="6949439" y="114681"/>
                    <a:pt x="6949439" y="256032"/>
                  </a:cubicBezTo>
                  <a:lnTo>
                    <a:pt x="6949439" y="2670048"/>
                  </a:lnTo>
                  <a:cubicBezTo>
                    <a:pt x="6949439" y="2811399"/>
                    <a:pt x="6834759" y="2926080"/>
                    <a:pt x="6693408" y="2926080"/>
                  </a:cubicBezTo>
                  <a:lnTo>
                    <a:pt x="256032" y="2926080"/>
                  </a:lnTo>
                  <a:cubicBezTo>
                    <a:pt x="114681" y="2926080"/>
                    <a:pt x="0" y="2811399"/>
                    <a:pt x="0" y="2670048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93292" y="6679692"/>
            <a:ext cx="685800" cy="685800"/>
            <a:chOff x="0" y="0"/>
            <a:chExt cx="914400" cy="914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347597" y="6833997"/>
            <a:ext cx="377190" cy="377190"/>
            <a:chOff x="0" y="0"/>
            <a:chExt cx="502920" cy="502920"/>
          </a:xfrm>
        </p:grpSpPr>
        <p:sp>
          <p:nvSpPr>
            <p:cNvPr name="Freeform 70" id="70" descr="/home/claude/deck/icons/boxes_FFFFFF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2057400" y="6624828"/>
            <a:ext cx="3840480" cy="548640"/>
            <a:chOff x="0" y="0"/>
            <a:chExt cx="512064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00" r="0" b="-8630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2085975" y="5928957"/>
            <a:ext cx="3840480" cy="2231466"/>
            <a:chOff x="0" y="0"/>
            <a:chExt cx="5120640" cy="297528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120640" cy="2975289"/>
            </a:xfrm>
            <a:custGeom>
              <a:avLst/>
              <a:gdLst/>
              <a:ahLst/>
              <a:cxnLst/>
              <a:rect r="r" b="b" t="t" l="l"/>
              <a:pathLst>
                <a:path h="2975289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975289"/>
                  </a:lnTo>
                  <a:lnTo>
                    <a:pt x="0" y="29752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081" r="0" b="5401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5120640" cy="2994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59"/>
                </a:lnSpc>
              </a:pPr>
              <a:r>
                <a:rPr lang="en-US" sz="3049" b="true">
                  <a:solidFill>
                    <a:srgbClr val="1B433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dim_product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193292" y="7447788"/>
            <a:ext cx="4608576" cy="1028700"/>
            <a:chOff x="0" y="0"/>
            <a:chExt cx="6144768" cy="13716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144768" cy="1371600"/>
            </a:xfrm>
            <a:custGeom>
              <a:avLst/>
              <a:gdLst/>
              <a:ahLst/>
              <a:cxnLst/>
              <a:rect r="r" b="b" t="t" l="l"/>
              <a:pathLst>
                <a:path h="13716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32" r="0" b="-37232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193292" y="7438263"/>
            <a:ext cx="4608576" cy="1071562"/>
            <a:chOff x="0" y="0"/>
            <a:chExt cx="6144768" cy="142875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144768" cy="1428750"/>
            </a:xfrm>
            <a:custGeom>
              <a:avLst/>
              <a:gdLst/>
              <a:ahLst/>
              <a:cxnLst/>
              <a:rect r="r" b="b" t="t" l="l"/>
              <a:pathLst>
                <a:path h="142875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428750"/>
                  </a:lnTo>
                  <a:lnTo>
                    <a:pt x="0" y="1428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801" r="0" b="-3380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0"/>
              <a:ext cx="6144768" cy="1524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45"/>
                </a:lnSpc>
              </a:pPr>
              <a:r>
                <a:rPr lang="en-US" sz="256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SKU_ID · ASIN · Brand · FNSKU · Title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138660" y="6377940"/>
            <a:ext cx="5212080" cy="2194560"/>
            <a:chOff x="0" y="0"/>
            <a:chExt cx="6949440" cy="29260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949439" cy="2926080"/>
            </a:xfrm>
            <a:custGeom>
              <a:avLst/>
              <a:gdLst/>
              <a:ahLst/>
              <a:cxnLst/>
              <a:rect r="r" b="b" t="t" l="l"/>
              <a:pathLst>
                <a:path h="2926080" w="6949439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6693408" y="0"/>
                  </a:lnTo>
                  <a:cubicBezTo>
                    <a:pt x="6834759" y="0"/>
                    <a:pt x="6949439" y="114681"/>
                    <a:pt x="6949439" y="256032"/>
                  </a:cubicBezTo>
                  <a:lnTo>
                    <a:pt x="6949439" y="2670048"/>
                  </a:lnTo>
                  <a:cubicBezTo>
                    <a:pt x="6949439" y="2811399"/>
                    <a:pt x="6834759" y="2926080"/>
                    <a:pt x="6693408" y="2926080"/>
                  </a:cubicBezTo>
                  <a:lnTo>
                    <a:pt x="256032" y="2926080"/>
                  </a:lnTo>
                  <a:cubicBezTo>
                    <a:pt x="114681" y="2926080"/>
                    <a:pt x="0" y="2811399"/>
                    <a:pt x="0" y="2670048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440412" y="6679692"/>
            <a:ext cx="685800" cy="685800"/>
            <a:chOff x="0" y="0"/>
            <a:chExt cx="914400" cy="9144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2594717" y="6833997"/>
            <a:ext cx="377190" cy="377190"/>
            <a:chOff x="0" y="0"/>
            <a:chExt cx="502920" cy="502920"/>
          </a:xfrm>
        </p:grpSpPr>
        <p:sp>
          <p:nvSpPr>
            <p:cNvPr name="Freeform 86" id="86" descr="/home/claude/deck/icons/brain_FFFFFF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3304520" y="6624828"/>
            <a:ext cx="3840480" cy="548640"/>
            <a:chOff x="0" y="0"/>
            <a:chExt cx="5120640" cy="7315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00" r="0" b="-8630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333095" y="5928957"/>
            <a:ext cx="3840480" cy="2231466"/>
            <a:chOff x="0" y="0"/>
            <a:chExt cx="5120640" cy="297528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120640" cy="2975289"/>
            </a:xfrm>
            <a:custGeom>
              <a:avLst/>
              <a:gdLst/>
              <a:ahLst/>
              <a:cxnLst/>
              <a:rect r="r" b="b" t="t" l="l"/>
              <a:pathLst>
                <a:path h="2975289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975289"/>
                  </a:lnTo>
                  <a:lnTo>
                    <a:pt x="0" y="29752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081" r="0" b="5401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5120640" cy="2994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59"/>
                </a:lnSpc>
              </a:pPr>
              <a:r>
                <a:rPr lang="en-US" sz="3049" b="true">
                  <a:solidFill>
                    <a:srgbClr val="1B433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ML prediction tables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440412" y="7447788"/>
            <a:ext cx="4608576" cy="1028700"/>
            <a:chOff x="0" y="0"/>
            <a:chExt cx="6144768" cy="13716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144768" cy="1371600"/>
            </a:xfrm>
            <a:custGeom>
              <a:avLst/>
              <a:gdLst/>
              <a:ahLst/>
              <a:cxnLst/>
              <a:rect r="r" b="b" t="t" l="l"/>
              <a:pathLst>
                <a:path h="13716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32" r="0" b="-37232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2440412" y="7438263"/>
            <a:ext cx="4608576" cy="1071562"/>
            <a:chOff x="0" y="0"/>
            <a:chExt cx="6144768" cy="142875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144768" cy="1428750"/>
            </a:xfrm>
            <a:custGeom>
              <a:avLst/>
              <a:gdLst/>
              <a:ahLst/>
              <a:cxnLst/>
              <a:rect r="r" b="b" t="t" l="l"/>
              <a:pathLst>
                <a:path h="142875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428750"/>
                  </a:lnTo>
                  <a:lnTo>
                    <a:pt x="0" y="1428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801" r="0" b="-33801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0"/>
              <a:ext cx="6144768" cy="1524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45"/>
                </a:lnSpc>
              </a:pPr>
              <a:r>
                <a:rPr lang="en-US" sz="256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predicted_revenue · sku_risk_dashboard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DEPI  |  Enterprise E-Commerce Intelligence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7053103" y="9572625"/>
            <a:ext cx="822960" cy="440055"/>
            <a:chOff x="0" y="0"/>
            <a:chExt cx="1097280" cy="5867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9728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09728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108" id="108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110" id="110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31081" r="0" b="-31081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47" r="0" b="-345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292608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11/07/2026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7106900" y="9417628"/>
            <a:ext cx="891540" cy="595052"/>
            <a:chOff x="0" y="0"/>
            <a:chExt cx="1188720" cy="793403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69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CHAPTER 4 · MACHINE LEARNING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23839" y="925830"/>
            <a:ext cx="16915943" cy="1105048"/>
            <a:chOff x="0" y="0"/>
            <a:chExt cx="22554590" cy="14733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554591" cy="1473397"/>
            </a:xfrm>
            <a:custGeom>
              <a:avLst/>
              <a:gdLst/>
              <a:ahLst/>
              <a:cxnLst/>
              <a:rect r="r" b="b" t="t" l="l"/>
              <a:pathLst>
                <a:path h="1473397" w="22554591">
                  <a:moveTo>
                    <a:pt x="0" y="0"/>
                  </a:moveTo>
                  <a:lnTo>
                    <a:pt x="22554591" y="0"/>
                  </a:lnTo>
                  <a:lnTo>
                    <a:pt x="22554591" y="1473397"/>
                  </a:lnTo>
                  <a:lnTo>
                    <a:pt x="0" y="14733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6751" r="14862" b="-20113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554590" cy="1482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Isolation Forest: Detecting the Unexpected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057400"/>
            <a:ext cx="16322040" cy="1028700"/>
            <a:chOff x="0" y="0"/>
            <a:chExt cx="21762720" cy="1371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62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947" r="0" b="-25894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1985962"/>
            <a:ext cx="16504463" cy="1361948"/>
            <a:chOff x="0" y="0"/>
            <a:chExt cx="22005950" cy="18159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005950" cy="1815931"/>
            </a:xfrm>
            <a:custGeom>
              <a:avLst/>
              <a:gdLst/>
              <a:ahLst/>
              <a:cxnLst/>
              <a:rect r="r" b="b" t="t" l="l"/>
              <a:pathLst>
                <a:path h="1815931" w="22005950">
                  <a:moveTo>
                    <a:pt x="0" y="0"/>
                  </a:moveTo>
                  <a:lnTo>
                    <a:pt x="22005950" y="0"/>
                  </a:lnTo>
                  <a:lnTo>
                    <a:pt x="22005950" y="1815931"/>
                  </a:lnTo>
                  <a:lnTo>
                    <a:pt x="0" y="18159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3126" r="1105" b="-17390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2005950" cy="1873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400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Traditional BI explains what already happened. This AI module goes further — an unsupervised Isolation Forest model detects abnormal sales patterns, revenue fluctuations, and unusual operational behavior, enabling proactive decisions before problems escalate.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3497580"/>
            <a:ext cx="2120074" cy="2606040"/>
            <a:chOff x="0" y="0"/>
            <a:chExt cx="2826766" cy="3474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26766" cy="3474720"/>
            </a:xfrm>
            <a:custGeom>
              <a:avLst/>
              <a:gdLst/>
              <a:ahLst/>
              <a:cxnLst/>
              <a:rect r="r" b="b" t="t" l="l"/>
              <a:pathLst>
                <a:path h="3474720" w="2826766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2570734" y="0"/>
                  </a:lnTo>
                  <a:cubicBezTo>
                    <a:pt x="2712085" y="0"/>
                    <a:pt x="2826766" y="114681"/>
                    <a:pt x="2826766" y="256032"/>
                  </a:cubicBezTo>
                  <a:lnTo>
                    <a:pt x="2826766" y="3218688"/>
                  </a:lnTo>
                  <a:cubicBezTo>
                    <a:pt x="2826766" y="3360039"/>
                    <a:pt x="2712085" y="3474720"/>
                    <a:pt x="2570734" y="3474720"/>
                  </a:cubicBezTo>
                  <a:lnTo>
                    <a:pt x="256032" y="3474720"/>
                  </a:lnTo>
                  <a:cubicBezTo>
                    <a:pt x="114681" y="3474720"/>
                    <a:pt x="0" y="3360039"/>
                    <a:pt x="0" y="3218688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77267" y="3799332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831572" y="3953637"/>
            <a:ext cx="377190" cy="377190"/>
            <a:chOff x="0" y="0"/>
            <a:chExt cx="502920" cy="502920"/>
          </a:xfrm>
        </p:grpSpPr>
        <p:sp>
          <p:nvSpPr>
            <p:cNvPr name="Freeform 22" id="22" descr="/home/claude/deck/icons/database_FFFFFF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69848" y="4663440"/>
            <a:ext cx="1900647" cy="1303020"/>
            <a:chOff x="0" y="0"/>
            <a:chExt cx="2534196" cy="1737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34158" cy="1737360"/>
            </a:xfrm>
            <a:custGeom>
              <a:avLst/>
              <a:gdLst/>
              <a:ahLst/>
              <a:cxnLst/>
              <a:rect r="r" b="b" t="t" l="l"/>
              <a:pathLst>
                <a:path h="1737360" w="2534158">
                  <a:moveTo>
                    <a:pt x="0" y="0"/>
                  </a:moveTo>
                  <a:lnTo>
                    <a:pt x="2534158" y="0"/>
                  </a:lnTo>
                  <a:lnTo>
                    <a:pt x="2534158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22" t="0" r="-38023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69848" y="4627721"/>
            <a:ext cx="1900647" cy="1338739"/>
            <a:chOff x="0" y="0"/>
            <a:chExt cx="2534196" cy="178498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34196" cy="1784985"/>
            </a:xfrm>
            <a:custGeom>
              <a:avLst/>
              <a:gdLst/>
              <a:ahLst/>
              <a:cxnLst/>
              <a:rect r="r" b="b" t="t" l="l"/>
              <a:pathLst>
                <a:path h="1784985" w="2534196">
                  <a:moveTo>
                    <a:pt x="0" y="0"/>
                  </a:moveTo>
                  <a:lnTo>
                    <a:pt x="2534196" y="0"/>
                  </a:lnTo>
                  <a:lnTo>
                    <a:pt x="2534196" y="1784985"/>
                  </a:lnTo>
                  <a:lnTo>
                    <a:pt x="0" y="17849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371" t="0" r="-40371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534196" cy="1813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92"/>
                </a:lnSpc>
              </a:pPr>
              <a:r>
                <a:rPr lang="en-US" sz="249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Load Gold Dataset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093939" y="4567428"/>
            <a:ext cx="219456" cy="219456"/>
            <a:chOff x="0" y="0"/>
            <a:chExt cx="292608" cy="292608"/>
          </a:xfrm>
        </p:grpSpPr>
        <p:sp>
          <p:nvSpPr>
            <p:cNvPr name="Freeform 29" id="29" descr="/home/claude/deck/icons/chartline_7FB069.png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"/>
                  </a:lnTo>
                  <a:lnTo>
                    <a:pt x="0" y="292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327111" y="3497580"/>
            <a:ext cx="2120074" cy="2606040"/>
            <a:chOff x="0" y="0"/>
            <a:chExt cx="2826766" cy="3474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26766" cy="3474720"/>
            </a:xfrm>
            <a:custGeom>
              <a:avLst/>
              <a:gdLst/>
              <a:ahLst/>
              <a:cxnLst/>
              <a:rect r="r" b="b" t="t" l="l"/>
              <a:pathLst>
                <a:path h="3474720" w="2826766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2570734" y="0"/>
                  </a:lnTo>
                  <a:cubicBezTo>
                    <a:pt x="2712085" y="0"/>
                    <a:pt x="2826766" y="114681"/>
                    <a:pt x="2826766" y="256032"/>
                  </a:cubicBezTo>
                  <a:lnTo>
                    <a:pt x="2826766" y="3218688"/>
                  </a:lnTo>
                  <a:cubicBezTo>
                    <a:pt x="2826766" y="3360039"/>
                    <a:pt x="2712085" y="3474720"/>
                    <a:pt x="2570734" y="3474720"/>
                  </a:cubicBezTo>
                  <a:lnTo>
                    <a:pt x="256032" y="3474720"/>
                  </a:lnTo>
                  <a:cubicBezTo>
                    <a:pt x="114681" y="3474720"/>
                    <a:pt x="0" y="3360039"/>
                    <a:pt x="0" y="3218688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044258" y="3799332"/>
            <a:ext cx="685800" cy="685800"/>
            <a:chOff x="0" y="0"/>
            <a:chExt cx="9144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198563" y="3953637"/>
            <a:ext cx="377190" cy="377190"/>
            <a:chOff x="0" y="0"/>
            <a:chExt cx="502920" cy="502920"/>
          </a:xfrm>
        </p:grpSpPr>
        <p:sp>
          <p:nvSpPr>
            <p:cNvPr name="Freeform 35" id="35" descr="/home/claude/deck/icons/filter_FFFFFF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436839" y="4663440"/>
            <a:ext cx="1900647" cy="1303020"/>
            <a:chOff x="0" y="0"/>
            <a:chExt cx="2534196" cy="1737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34158" cy="1737360"/>
            </a:xfrm>
            <a:custGeom>
              <a:avLst/>
              <a:gdLst/>
              <a:ahLst/>
              <a:cxnLst/>
              <a:rect r="r" b="b" t="t" l="l"/>
              <a:pathLst>
                <a:path h="1737360" w="2534158">
                  <a:moveTo>
                    <a:pt x="0" y="0"/>
                  </a:moveTo>
                  <a:lnTo>
                    <a:pt x="2534158" y="0"/>
                  </a:lnTo>
                  <a:lnTo>
                    <a:pt x="2534158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22" t="0" r="-38023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436839" y="4627721"/>
            <a:ext cx="1900647" cy="1338739"/>
            <a:chOff x="0" y="0"/>
            <a:chExt cx="2534196" cy="178498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34196" cy="1784985"/>
            </a:xfrm>
            <a:custGeom>
              <a:avLst/>
              <a:gdLst/>
              <a:ahLst/>
              <a:cxnLst/>
              <a:rect r="r" b="b" t="t" l="l"/>
              <a:pathLst>
                <a:path h="1784985" w="2534196">
                  <a:moveTo>
                    <a:pt x="0" y="0"/>
                  </a:moveTo>
                  <a:lnTo>
                    <a:pt x="2534196" y="0"/>
                  </a:lnTo>
                  <a:lnTo>
                    <a:pt x="2534196" y="1784985"/>
                  </a:lnTo>
                  <a:lnTo>
                    <a:pt x="0" y="17849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371" t="0" r="-4037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2534196" cy="1813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92"/>
                </a:lnSpc>
              </a:pPr>
              <a:r>
                <a:rPr lang="en-US" sz="249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Preprocess &amp; Select Features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460930" y="4567428"/>
            <a:ext cx="219456" cy="219456"/>
            <a:chOff x="0" y="0"/>
            <a:chExt cx="292608" cy="292608"/>
          </a:xfrm>
        </p:grpSpPr>
        <p:sp>
          <p:nvSpPr>
            <p:cNvPr name="Freeform 42" id="42" descr="/home/claude/deck/icons/chartline_7FB069.png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"/>
                  </a:lnTo>
                  <a:lnTo>
                    <a:pt x="0" y="292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694102" y="3497580"/>
            <a:ext cx="2120074" cy="2606040"/>
            <a:chOff x="0" y="0"/>
            <a:chExt cx="2826766" cy="34747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826766" cy="3474720"/>
            </a:xfrm>
            <a:custGeom>
              <a:avLst/>
              <a:gdLst/>
              <a:ahLst/>
              <a:cxnLst/>
              <a:rect r="r" b="b" t="t" l="l"/>
              <a:pathLst>
                <a:path h="3474720" w="2826766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2570734" y="0"/>
                  </a:lnTo>
                  <a:cubicBezTo>
                    <a:pt x="2712085" y="0"/>
                    <a:pt x="2826766" y="114681"/>
                    <a:pt x="2826766" y="256032"/>
                  </a:cubicBezTo>
                  <a:lnTo>
                    <a:pt x="2826766" y="3218688"/>
                  </a:lnTo>
                  <a:cubicBezTo>
                    <a:pt x="2826766" y="3360039"/>
                    <a:pt x="2712085" y="3474720"/>
                    <a:pt x="2570734" y="3474720"/>
                  </a:cubicBezTo>
                  <a:lnTo>
                    <a:pt x="256032" y="3474720"/>
                  </a:lnTo>
                  <a:cubicBezTo>
                    <a:pt x="114681" y="3474720"/>
                    <a:pt x="0" y="3360039"/>
                    <a:pt x="0" y="3218688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411249" y="3799332"/>
            <a:ext cx="685800" cy="685800"/>
            <a:chOff x="0" y="0"/>
            <a:chExt cx="91440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565554" y="3953637"/>
            <a:ext cx="377190" cy="377190"/>
            <a:chOff x="0" y="0"/>
            <a:chExt cx="502920" cy="502920"/>
          </a:xfrm>
        </p:grpSpPr>
        <p:sp>
          <p:nvSpPr>
            <p:cNvPr name="Freeform 48" id="48" descr="/home/claude/deck/icons/cogs_FFFFFF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5803830" y="4663440"/>
            <a:ext cx="1900647" cy="1303020"/>
            <a:chOff x="0" y="0"/>
            <a:chExt cx="2534196" cy="17373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534158" cy="1737360"/>
            </a:xfrm>
            <a:custGeom>
              <a:avLst/>
              <a:gdLst/>
              <a:ahLst/>
              <a:cxnLst/>
              <a:rect r="r" b="b" t="t" l="l"/>
              <a:pathLst>
                <a:path h="1737360" w="2534158">
                  <a:moveTo>
                    <a:pt x="0" y="0"/>
                  </a:moveTo>
                  <a:lnTo>
                    <a:pt x="2534158" y="0"/>
                  </a:lnTo>
                  <a:lnTo>
                    <a:pt x="2534158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22" t="0" r="-38023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5803830" y="4627721"/>
            <a:ext cx="1900647" cy="1338739"/>
            <a:chOff x="0" y="0"/>
            <a:chExt cx="2534196" cy="178498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34196" cy="1784985"/>
            </a:xfrm>
            <a:custGeom>
              <a:avLst/>
              <a:gdLst/>
              <a:ahLst/>
              <a:cxnLst/>
              <a:rect r="r" b="b" t="t" l="l"/>
              <a:pathLst>
                <a:path h="1784985" w="2534196">
                  <a:moveTo>
                    <a:pt x="0" y="0"/>
                  </a:moveTo>
                  <a:lnTo>
                    <a:pt x="2534196" y="0"/>
                  </a:lnTo>
                  <a:lnTo>
                    <a:pt x="2534196" y="1784985"/>
                  </a:lnTo>
                  <a:lnTo>
                    <a:pt x="0" y="17849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371" t="0" r="-40371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2534196" cy="1813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92"/>
                </a:lnSpc>
              </a:pPr>
              <a:r>
                <a:rPr lang="en-US" sz="249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Prepare Numerical Inputs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827921" y="4567428"/>
            <a:ext cx="219456" cy="219456"/>
            <a:chOff x="0" y="0"/>
            <a:chExt cx="292608" cy="292608"/>
          </a:xfrm>
        </p:grpSpPr>
        <p:sp>
          <p:nvSpPr>
            <p:cNvPr name="Freeform 55" id="55" descr="/home/claude/deck/icons/chartline_7FB069.png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"/>
                  </a:lnTo>
                  <a:lnTo>
                    <a:pt x="0" y="292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061093" y="3497580"/>
            <a:ext cx="2120074" cy="2606040"/>
            <a:chOff x="0" y="0"/>
            <a:chExt cx="2826766" cy="34747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826766" cy="3474720"/>
            </a:xfrm>
            <a:custGeom>
              <a:avLst/>
              <a:gdLst/>
              <a:ahLst/>
              <a:cxnLst/>
              <a:rect r="r" b="b" t="t" l="l"/>
              <a:pathLst>
                <a:path h="3474720" w="2826766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2570734" y="0"/>
                  </a:lnTo>
                  <a:cubicBezTo>
                    <a:pt x="2712085" y="0"/>
                    <a:pt x="2826766" y="114681"/>
                    <a:pt x="2826766" y="256032"/>
                  </a:cubicBezTo>
                  <a:lnTo>
                    <a:pt x="2826766" y="3218688"/>
                  </a:lnTo>
                  <a:cubicBezTo>
                    <a:pt x="2826766" y="3360039"/>
                    <a:pt x="2712085" y="3474720"/>
                    <a:pt x="2570734" y="3474720"/>
                  </a:cubicBezTo>
                  <a:lnTo>
                    <a:pt x="256032" y="3474720"/>
                  </a:lnTo>
                  <a:cubicBezTo>
                    <a:pt x="114681" y="3474720"/>
                    <a:pt x="0" y="3360039"/>
                    <a:pt x="0" y="321868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778240" y="3799332"/>
            <a:ext cx="685800" cy="685800"/>
            <a:chOff x="0" y="0"/>
            <a:chExt cx="91440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932545" y="3953637"/>
            <a:ext cx="377190" cy="377190"/>
            <a:chOff x="0" y="0"/>
            <a:chExt cx="502920" cy="502920"/>
          </a:xfrm>
        </p:grpSpPr>
        <p:sp>
          <p:nvSpPr>
            <p:cNvPr name="Freeform 61" id="61" descr="/home/claude/deck/icons/brain_1B4332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170821" y="4663440"/>
            <a:ext cx="1900647" cy="1303020"/>
            <a:chOff x="0" y="0"/>
            <a:chExt cx="2534196" cy="17373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534158" cy="1737360"/>
            </a:xfrm>
            <a:custGeom>
              <a:avLst/>
              <a:gdLst/>
              <a:ahLst/>
              <a:cxnLst/>
              <a:rect r="r" b="b" t="t" l="l"/>
              <a:pathLst>
                <a:path h="1737360" w="2534158">
                  <a:moveTo>
                    <a:pt x="0" y="0"/>
                  </a:moveTo>
                  <a:lnTo>
                    <a:pt x="2534158" y="0"/>
                  </a:lnTo>
                  <a:lnTo>
                    <a:pt x="2534158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22" t="0" r="-38023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170821" y="4627721"/>
            <a:ext cx="1900647" cy="1338739"/>
            <a:chOff x="0" y="0"/>
            <a:chExt cx="2534196" cy="178498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534196" cy="1784985"/>
            </a:xfrm>
            <a:custGeom>
              <a:avLst/>
              <a:gdLst/>
              <a:ahLst/>
              <a:cxnLst/>
              <a:rect r="r" b="b" t="t" l="l"/>
              <a:pathLst>
                <a:path h="1784985" w="2534196">
                  <a:moveTo>
                    <a:pt x="0" y="0"/>
                  </a:moveTo>
                  <a:lnTo>
                    <a:pt x="2534196" y="0"/>
                  </a:lnTo>
                  <a:lnTo>
                    <a:pt x="2534196" y="1784985"/>
                  </a:lnTo>
                  <a:lnTo>
                    <a:pt x="0" y="17849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371" t="0" r="-40371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2534196" cy="1813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92"/>
                </a:lnSpc>
              </a:pPr>
              <a:r>
                <a:rPr lang="en-US" sz="2494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Train Isolation Forest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194903" y="4567428"/>
            <a:ext cx="219456" cy="219456"/>
            <a:chOff x="0" y="0"/>
            <a:chExt cx="292608" cy="292608"/>
          </a:xfrm>
        </p:grpSpPr>
        <p:sp>
          <p:nvSpPr>
            <p:cNvPr name="Freeform 68" id="68" descr="/home/claude/deck/icons/chartline_7FB069.png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"/>
                  </a:lnTo>
                  <a:lnTo>
                    <a:pt x="0" y="292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0428075" y="3497580"/>
            <a:ext cx="2120074" cy="2606040"/>
            <a:chOff x="0" y="0"/>
            <a:chExt cx="2826766" cy="34747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826766" cy="3474720"/>
            </a:xfrm>
            <a:custGeom>
              <a:avLst/>
              <a:gdLst/>
              <a:ahLst/>
              <a:cxnLst/>
              <a:rect r="r" b="b" t="t" l="l"/>
              <a:pathLst>
                <a:path h="3474720" w="2826766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2570734" y="0"/>
                  </a:lnTo>
                  <a:cubicBezTo>
                    <a:pt x="2712085" y="0"/>
                    <a:pt x="2826766" y="114681"/>
                    <a:pt x="2826766" y="256032"/>
                  </a:cubicBezTo>
                  <a:lnTo>
                    <a:pt x="2826766" y="3218688"/>
                  </a:lnTo>
                  <a:cubicBezTo>
                    <a:pt x="2826766" y="3360039"/>
                    <a:pt x="2712085" y="3474720"/>
                    <a:pt x="2570734" y="3474720"/>
                  </a:cubicBezTo>
                  <a:lnTo>
                    <a:pt x="256032" y="3474720"/>
                  </a:lnTo>
                  <a:cubicBezTo>
                    <a:pt x="114681" y="3474720"/>
                    <a:pt x="0" y="3360039"/>
                    <a:pt x="0" y="3218688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145231" y="3799332"/>
            <a:ext cx="685800" cy="685800"/>
            <a:chOff x="0" y="0"/>
            <a:chExt cx="914400" cy="914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299536" y="3953637"/>
            <a:ext cx="377190" cy="377190"/>
            <a:chOff x="0" y="0"/>
            <a:chExt cx="502920" cy="502920"/>
          </a:xfrm>
        </p:grpSpPr>
        <p:sp>
          <p:nvSpPr>
            <p:cNvPr name="Freeform 74" id="74" descr="/home/claude/deck/icons/searchdollar_FFFFFF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537803" y="4663440"/>
            <a:ext cx="1900647" cy="1303020"/>
            <a:chOff x="0" y="0"/>
            <a:chExt cx="2534196" cy="17373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534158" cy="1737360"/>
            </a:xfrm>
            <a:custGeom>
              <a:avLst/>
              <a:gdLst/>
              <a:ahLst/>
              <a:cxnLst/>
              <a:rect r="r" b="b" t="t" l="l"/>
              <a:pathLst>
                <a:path h="1737360" w="2534158">
                  <a:moveTo>
                    <a:pt x="0" y="0"/>
                  </a:moveTo>
                  <a:lnTo>
                    <a:pt x="2534158" y="0"/>
                  </a:lnTo>
                  <a:lnTo>
                    <a:pt x="2534158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22" t="0" r="-38023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537803" y="4627721"/>
            <a:ext cx="1900647" cy="1338739"/>
            <a:chOff x="0" y="0"/>
            <a:chExt cx="2534196" cy="178498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534196" cy="1784985"/>
            </a:xfrm>
            <a:custGeom>
              <a:avLst/>
              <a:gdLst/>
              <a:ahLst/>
              <a:cxnLst/>
              <a:rect r="r" b="b" t="t" l="l"/>
              <a:pathLst>
                <a:path h="1784985" w="2534196">
                  <a:moveTo>
                    <a:pt x="0" y="0"/>
                  </a:moveTo>
                  <a:lnTo>
                    <a:pt x="2534196" y="0"/>
                  </a:lnTo>
                  <a:lnTo>
                    <a:pt x="2534196" y="1784985"/>
                  </a:lnTo>
                  <a:lnTo>
                    <a:pt x="0" y="17849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371" t="0" r="-40371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2534196" cy="1813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92"/>
                </a:lnSpc>
              </a:pPr>
              <a:r>
                <a:rPr lang="en-US" sz="249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Predict Anomalies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561894" y="4567428"/>
            <a:ext cx="219456" cy="219456"/>
            <a:chOff x="0" y="0"/>
            <a:chExt cx="292608" cy="292608"/>
          </a:xfrm>
        </p:grpSpPr>
        <p:sp>
          <p:nvSpPr>
            <p:cNvPr name="Freeform 81" id="81" descr="/home/claude/deck/icons/chartline_7FB069.png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"/>
                  </a:lnTo>
                  <a:lnTo>
                    <a:pt x="0" y="292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795066" y="3497580"/>
            <a:ext cx="2120074" cy="2606040"/>
            <a:chOff x="0" y="0"/>
            <a:chExt cx="2826766" cy="34747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826766" cy="3474720"/>
            </a:xfrm>
            <a:custGeom>
              <a:avLst/>
              <a:gdLst/>
              <a:ahLst/>
              <a:cxnLst/>
              <a:rect r="r" b="b" t="t" l="l"/>
              <a:pathLst>
                <a:path h="3474720" w="2826766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2570734" y="0"/>
                  </a:lnTo>
                  <a:cubicBezTo>
                    <a:pt x="2712085" y="0"/>
                    <a:pt x="2826766" y="114681"/>
                    <a:pt x="2826766" y="256032"/>
                  </a:cubicBezTo>
                  <a:lnTo>
                    <a:pt x="2826766" y="3218688"/>
                  </a:lnTo>
                  <a:cubicBezTo>
                    <a:pt x="2826766" y="3360039"/>
                    <a:pt x="2712085" y="3474720"/>
                    <a:pt x="2570734" y="3474720"/>
                  </a:cubicBezTo>
                  <a:lnTo>
                    <a:pt x="256032" y="3474720"/>
                  </a:lnTo>
                  <a:cubicBezTo>
                    <a:pt x="114681" y="3474720"/>
                    <a:pt x="0" y="3360039"/>
                    <a:pt x="0" y="3218688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512222" y="3799332"/>
            <a:ext cx="685800" cy="685800"/>
            <a:chOff x="0" y="0"/>
            <a:chExt cx="914400" cy="9144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666527" y="3953637"/>
            <a:ext cx="377190" cy="377190"/>
            <a:chOff x="0" y="0"/>
            <a:chExt cx="502920" cy="502920"/>
          </a:xfrm>
        </p:grpSpPr>
        <p:sp>
          <p:nvSpPr>
            <p:cNvPr name="Freeform 87" id="87" descr="/home/claude/deck/icons/checkcircle_FFFFFF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2904794" y="4663440"/>
            <a:ext cx="1900647" cy="1303020"/>
            <a:chOff x="0" y="0"/>
            <a:chExt cx="2534196" cy="173736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534158" cy="1737360"/>
            </a:xfrm>
            <a:custGeom>
              <a:avLst/>
              <a:gdLst/>
              <a:ahLst/>
              <a:cxnLst/>
              <a:rect r="r" b="b" t="t" l="l"/>
              <a:pathLst>
                <a:path h="1737360" w="2534158">
                  <a:moveTo>
                    <a:pt x="0" y="0"/>
                  </a:moveTo>
                  <a:lnTo>
                    <a:pt x="2534158" y="0"/>
                  </a:lnTo>
                  <a:lnTo>
                    <a:pt x="2534158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22" t="0" r="-38023" b="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904794" y="4627721"/>
            <a:ext cx="1900647" cy="1338739"/>
            <a:chOff x="0" y="0"/>
            <a:chExt cx="2534196" cy="178498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534196" cy="1784985"/>
            </a:xfrm>
            <a:custGeom>
              <a:avLst/>
              <a:gdLst/>
              <a:ahLst/>
              <a:cxnLst/>
              <a:rect r="r" b="b" t="t" l="l"/>
              <a:pathLst>
                <a:path h="1784985" w="2534196">
                  <a:moveTo>
                    <a:pt x="0" y="0"/>
                  </a:moveTo>
                  <a:lnTo>
                    <a:pt x="2534196" y="0"/>
                  </a:lnTo>
                  <a:lnTo>
                    <a:pt x="2534196" y="1784985"/>
                  </a:lnTo>
                  <a:lnTo>
                    <a:pt x="0" y="17849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371" t="0" r="-40371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2534196" cy="1813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92"/>
                </a:lnSpc>
              </a:pPr>
              <a:r>
                <a:rPr lang="en-US" sz="249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Evaluate Results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928885" y="4567428"/>
            <a:ext cx="219456" cy="219456"/>
            <a:chOff x="0" y="0"/>
            <a:chExt cx="292608" cy="292608"/>
          </a:xfrm>
        </p:grpSpPr>
        <p:sp>
          <p:nvSpPr>
            <p:cNvPr name="Freeform 94" id="94" descr="/home/claude/deck/icons/chartline_7FB069.png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"/>
                  </a:lnTo>
                  <a:lnTo>
                    <a:pt x="0" y="292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5162057" y="3497580"/>
            <a:ext cx="2120074" cy="2606040"/>
            <a:chOff x="0" y="0"/>
            <a:chExt cx="2826766" cy="34747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826766" cy="3474720"/>
            </a:xfrm>
            <a:custGeom>
              <a:avLst/>
              <a:gdLst/>
              <a:ahLst/>
              <a:cxnLst/>
              <a:rect r="r" b="b" t="t" l="l"/>
              <a:pathLst>
                <a:path h="3474720" w="2826766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2570734" y="0"/>
                  </a:lnTo>
                  <a:cubicBezTo>
                    <a:pt x="2712085" y="0"/>
                    <a:pt x="2826766" y="114681"/>
                    <a:pt x="2826766" y="256032"/>
                  </a:cubicBezTo>
                  <a:lnTo>
                    <a:pt x="2826766" y="3218688"/>
                  </a:lnTo>
                  <a:cubicBezTo>
                    <a:pt x="2826766" y="3360039"/>
                    <a:pt x="2712085" y="3474720"/>
                    <a:pt x="2570734" y="3474720"/>
                  </a:cubicBezTo>
                  <a:lnTo>
                    <a:pt x="256032" y="3474720"/>
                  </a:lnTo>
                  <a:cubicBezTo>
                    <a:pt x="114681" y="3474720"/>
                    <a:pt x="0" y="3360039"/>
                    <a:pt x="0" y="3218688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5879213" y="3799332"/>
            <a:ext cx="685800" cy="685800"/>
            <a:chOff x="0" y="0"/>
            <a:chExt cx="914400" cy="9144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6033518" y="3953637"/>
            <a:ext cx="377190" cy="377190"/>
            <a:chOff x="0" y="0"/>
            <a:chExt cx="502920" cy="502920"/>
          </a:xfrm>
        </p:grpSpPr>
        <p:sp>
          <p:nvSpPr>
            <p:cNvPr name="Freeform 100" id="100" descr="/home/claude/deck/icons/rocket_FFFFFF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5271785" y="4663440"/>
            <a:ext cx="1900647" cy="1303020"/>
            <a:chOff x="0" y="0"/>
            <a:chExt cx="2534196" cy="173736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534158" cy="1737360"/>
            </a:xfrm>
            <a:custGeom>
              <a:avLst/>
              <a:gdLst/>
              <a:ahLst/>
              <a:cxnLst/>
              <a:rect r="r" b="b" t="t" l="l"/>
              <a:pathLst>
                <a:path h="1737360" w="2534158">
                  <a:moveTo>
                    <a:pt x="0" y="0"/>
                  </a:moveTo>
                  <a:lnTo>
                    <a:pt x="2534158" y="0"/>
                  </a:lnTo>
                  <a:lnTo>
                    <a:pt x="2534158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22" t="0" r="-38023" b="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5271785" y="4627721"/>
            <a:ext cx="1900647" cy="1338739"/>
            <a:chOff x="0" y="0"/>
            <a:chExt cx="2534196" cy="178498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534196" cy="1784985"/>
            </a:xfrm>
            <a:custGeom>
              <a:avLst/>
              <a:gdLst/>
              <a:ahLst/>
              <a:cxnLst/>
              <a:rect r="r" b="b" t="t" l="l"/>
              <a:pathLst>
                <a:path h="1784985" w="2534196">
                  <a:moveTo>
                    <a:pt x="0" y="0"/>
                  </a:moveTo>
                  <a:lnTo>
                    <a:pt x="2534196" y="0"/>
                  </a:lnTo>
                  <a:lnTo>
                    <a:pt x="2534196" y="1784985"/>
                  </a:lnTo>
                  <a:lnTo>
                    <a:pt x="0" y="17849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371" t="0" r="-40371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28575"/>
              <a:ext cx="2534196" cy="1813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92"/>
                </a:lnSpc>
              </a:pPr>
              <a:r>
                <a:rPr lang="en-US" sz="2494" b="true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Export for Reporting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60120" y="6515100"/>
            <a:ext cx="16322040" cy="2743200"/>
            <a:chOff x="0" y="0"/>
            <a:chExt cx="21762720" cy="36576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17627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21762720">
                  <a:moveTo>
                    <a:pt x="0" y="276791"/>
                  </a:moveTo>
                  <a:cubicBezTo>
                    <a:pt x="0" y="123979"/>
                    <a:pt x="114681" y="0"/>
                    <a:pt x="256032" y="0"/>
                  </a:cubicBezTo>
                  <a:lnTo>
                    <a:pt x="21506687" y="0"/>
                  </a:lnTo>
                  <a:cubicBezTo>
                    <a:pt x="21648038" y="0"/>
                    <a:pt x="21762720" y="123979"/>
                    <a:pt x="21762720" y="276791"/>
                  </a:cubicBezTo>
                  <a:lnTo>
                    <a:pt x="21762720" y="3380809"/>
                  </a:lnTo>
                  <a:cubicBezTo>
                    <a:pt x="21762720" y="3533620"/>
                    <a:pt x="21648038" y="3657600"/>
                    <a:pt x="21506687" y="3657600"/>
                  </a:cubicBezTo>
                  <a:lnTo>
                    <a:pt x="256032" y="3657600"/>
                  </a:lnTo>
                  <a:cubicBezTo>
                    <a:pt x="114681" y="3657600"/>
                    <a:pt x="0" y="3533620"/>
                    <a:pt x="0" y="3380809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371600" y="6926580"/>
            <a:ext cx="1028700" cy="1028700"/>
            <a:chOff x="0" y="0"/>
            <a:chExt cx="1371600" cy="13716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C99A3E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597914" y="7152894"/>
            <a:ext cx="576072" cy="576072"/>
            <a:chOff x="0" y="0"/>
            <a:chExt cx="768096" cy="768096"/>
          </a:xfrm>
        </p:grpSpPr>
        <p:sp>
          <p:nvSpPr>
            <p:cNvPr name="Freeform 111" id="111" descr="/home/claude/deck/icons/lightbulb_FFFFFF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2743200" y="6830568"/>
            <a:ext cx="13441680" cy="548640"/>
            <a:chOff x="0" y="0"/>
            <a:chExt cx="17922240" cy="73152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7922239" cy="731520"/>
            </a:xfrm>
            <a:custGeom>
              <a:avLst/>
              <a:gdLst/>
              <a:ahLst/>
              <a:cxnLst/>
              <a:rect r="r" b="b" t="t" l="l"/>
              <a:pathLst>
                <a:path h="73152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052" r="0" b="-427050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2743200" y="6760853"/>
            <a:ext cx="13441680" cy="645787"/>
            <a:chOff x="0" y="0"/>
            <a:chExt cx="17922240" cy="86105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7922239" cy="861050"/>
            </a:xfrm>
            <a:custGeom>
              <a:avLst/>
              <a:gdLst/>
              <a:ahLst/>
              <a:cxnLst/>
              <a:rect r="r" b="b" t="t" l="l"/>
              <a:pathLst>
                <a:path h="86105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861050"/>
                  </a:lnTo>
                  <a:lnTo>
                    <a:pt x="0" y="8610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1985" r="0" b="-349154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9525"/>
              <a:ext cx="17922240" cy="87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29"/>
                </a:lnSpc>
              </a:pPr>
              <a:r>
                <a:rPr lang="en-US" sz="3274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Why Isolation Forest?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2743200" y="7406640"/>
            <a:ext cx="13441680" cy="1508760"/>
            <a:chOff x="0" y="0"/>
            <a:chExt cx="17922240" cy="201168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7922239" cy="2011680"/>
            </a:xfrm>
            <a:custGeom>
              <a:avLst/>
              <a:gdLst/>
              <a:ahLst/>
              <a:cxnLst/>
              <a:rect r="r" b="b" t="t" l="l"/>
              <a:pathLst>
                <a:path h="201168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473" r="0" b="-123472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2743200" y="7342346"/>
            <a:ext cx="13441680" cy="1809632"/>
            <a:chOff x="0" y="0"/>
            <a:chExt cx="17922240" cy="241284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7922239" cy="2412842"/>
            </a:xfrm>
            <a:custGeom>
              <a:avLst/>
              <a:gdLst/>
              <a:ahLst/>
              <a:cxnLst/>
              <a:rect r="r" b="b" t="t" l="l"/>
              <a:pathLst>
                <a:path h="2412842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2412842"/>
                  </a:lnTo>
                  <a:lnTo>
                    <a:pt x="0" y="24128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268" r="0" b="-88195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57150"/>
              <a:ext cx="17922240" cy="2469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400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Unsupervised — no labeled training data required. It isolates records that differ from normal patterns: the easier a transaction is to isolate, the more likely it's an anomaly. Highly efficient on large datasets and excellent at surfacing rare, unexpected business events like refund spikes or conversion drops.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822960" y="9572625"/>
            <a:ext cx="8229600" cy="497249"/>
            <a:chOff x="0" y="0"/>
            <a:chExt cx="10972800" cy="662999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0972800" cy="662999"/>
            </a:xfrm>
            <a:custGeom>
              <a:avLst/>
              <a:gdLst/>
              <a:ahLst/>
              <a:cxnLst/>
              <a:rect r="r" b="b" t="t" l="l"/>
              <a:pathLst>
                <a:path h="66299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99"/>
                  </a:lnTo>
                  <a:lnTo>
                    <a:pt x="0" y="6629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8233" r="0" b="-266731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9525"/>
              <a:ext cx="10972800" cy="672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8"/>
                </a:lnSpc>
              </a:pPr>
              <a:r>
                <a:rPr lang="en-US" sz="2524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7053103" y="9572625"/>
            <a:ext cx="822960" cy="509996"/>
            <a:chOff x="0" y="0"/>
            <a:chExt cx="1097280" cy="679994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097280" cy="679994"/>
            </a:xfrm>
            <a:custGeom>
              <a:avLst/>
              <a:gdLst/>
              <a:ahLst/>
              <a:cxnLst/>
              <a:rect r="r" b="b" t="t" l="l"/>
              <a:pathLst>
                <a:path h="67999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79994"/>
                  </a:lnTo>
                  <a:lnTo>
                    <a:pt x="0" y="67999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13713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9525"/>
              <a:ext cx="1097280" cy="689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19"/>
                </a:lnSpc>
              </a:pPr>
              <a:r>
                <a:rPr lang="en-US" sz="259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133" id="133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135" id="135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31081" r="0" b="-31081"/>
              </a:stretch>
            </a:blip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138" id="138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347" r="0" b="-345"/>
              </a:stretch>
            </a:blip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17105757" y="9417628"/>
            <a:ext cx="891540" cy="595052"/>
            <a:chOff x="0" y="0"/>
            <a:chExt cx="1188720" cy="793403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69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CHAPTER 4 · MODEL DETAILS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91540" y="1180192"/>
            <a:ext cx="16322040" cy="1043638"/>
            <a:chOff x="0" y="0"/>
            <a:chExt cx="21762720" cy="13915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62720" cy="1391517"/>
            </a:xfrm>
            <a:custGeom>
              <a:avLst/>
              <a:gdLst/>
              <a:ahLst/>
              <a:cxnLst/>
              <a:rect r="r" b="b" t="t" l="l"/>
              <a:pathLst>
                <a:path h="1391517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391517"/>
                  </a:lnTo>
                  <a:lnTo>
                    <a:pt x="0" y="13915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8917" r="11764" b="-21885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762720" cy="1391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59"/>
                </a:lnSpc>
              </a:pPr>
              <a:r>
                <a:rPr lang="en-US" sz="5299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Signals the Model Watches, and What It Delivers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331720"/>
            <a:ext cx="6858000" cy="480060"/>
            <a:chOff x="0" y="0"/>
            <a:chExt cx="914400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164" r="0" b="-22816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2298833"/>
            <a:ext cx="6858000" cy="558435"/>
            <a:chOff x="0" y="0"/>
            <a:chExt cx="9144000" cy="7445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0" cy="744580"/>
            </a:xfrm>
            <a:custGeom>
              <a:avLst/>
              <a:gdLst/>
              <a:ahLst/>
              <a:cxnLst/>
              <a:rect r="r" b="b" t="t" l="l"/>
              <a:pathLst>
                <a:path h="7445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44580"/>
                  </a:lnTo>
                  <a:lnTo>
                    <a:pt x="0" y="744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5668" r="0" b="-18291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9144000" cy="735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9"/>
                </a:lnSpc>
              </a:pPr>
              <a:r>
                <a:rPr lang="en-US" sz="2824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Selected Features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43451" y="2932271"/>
            <a:ext cx="1564005" cy="581978"/>
          </a:xfrm>
          <a:custGeom>
            <a:avLst/>
            <a:gdLst/>
            <a:ahLst/>
            <a:cxnLst/>
            <a:rect r="r" b="b" t="t" l="l"/>
            <a:pathLst>
              <a:path h="581978" w="1564005">
                <a:moveTo>
                  <a:pt x="0" y="0"/>
                </a:moveTo>
                <a:lnTo>
                  <a:pt x="1564005" y="0"/>
                </a:lnTo>
                <a:lnTo>
                  <a:pt x="1564005" y="581978"/>
                </a:lnTo>
                <a:lnTo>
                  <a:pt x="0" y="5819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60120" y="2948940"/>
            <a:ext cx="1530706" cy="548640"/>
            <a:chOff x="0" y="0"/>
            <a:chExt cx="2040941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40890" cy="731520"/>
            </a:xfrm>
            <a:custGeom>
              <a:avLst/>
              <a:gdLst/>
              <a:ahLst/>
              <a:cxnLst/>
              <a:rect r="r" b="b" t="t" l="l"/>
              <a:pathLst>
                <a:path h="731520" w="2040890">
                  <a:moveTo>
                    <a:pt x="0" y="0"/>
                  </a:moveTo>
                  <a:lnTo>
                    <a:pt x="2040890" y="0"/>
                  </a:lnTo>
                  <a:lnTo>
                    <a:pt x="204089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4" r="-2" b="-432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0120" y="2934652"/>
            <a:ext cx="1530706" cy="562928"/>
            <a:chOff x="0" y="0"/>
            <a:chExt cx="2040941" cy="7505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40941" cy="750570"/>
            </a:xfrm>
            <a:custGeom>
              <a:avLst/>
              <a:gdLst/>
              <a:ahLst/>
              <a:cxnLst/>
              <a:rect r="r" b="b" t="t" l="l"/>
              <a:pathLst>
                <a:path h="750570" w="2040941">
                  <a:moveTo>
                    <a:pt x="0" y="0"/>
                  </a:moveTo>
                  <a:lnTo>
                    <a:pt x="2040941" y="0"/>
                  </a:lnTo>
                  <a:lnTo>
                    <a:pt x="2040941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83" r="0" b="-298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040941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48"/>
                </a:lnSpc>
              </a:pPr>
              <a:r>
                <a:rPr lang="en-US" sz="2374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Revenue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2693613" y="2932271"/>
            <a:ext cx="1443323" cy="581978"/>
          </a:xfrm>
          <a:custGeom>
            <a:avLst/>
            <a:gdLst/>
            <a:ahLst/>
            <a:cxnLst/>
            <a:rect r="r" b="b" t="t" l="l"/>
            <a:pathLst>
              <a:path h="581978" w="1443323">
                <a:moveTo>
                  <a:pt x="0" y="0"/>
                </a:moveTo>
                <a:lnTo>
                  <a:pt x="1443323" y="0"/>
                </a:lnTo>
                <a:lnTo>
                  <a:pt x="1443323" y="581978"/>
                </a:lnTo>
                <a:lnTo>
                  <a:pt x="0" y="5819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2710282" y="2948940"/>
            <a:ext cx="1410005" cy="548640"/>
            <a:chOff x="0" y="0"/>
            <a:chExt cx="1880006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79981" cy="731520"/>
            </a:xfrm>
            <a:custGeom>
              <a:avLst/>
              <a:gdLst/>
              <a:ahLst/>
              <a:cxnLst/>
              <a:rect r="r" b="b" t="t" l="l"/>
              <a:pathLst>
                <a:path h="731520" w="1879981">
                  <a:moveTo>
                    <a:pt x="0" y="0"/>
                  </a:moveTo>
                  <a:lnTo>
                    <a:pt x="1879981" y="0"/>
                  </a:lnTo>
                  <a:lnTo>
                    <a:pt x="187998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" r="-1" b="-41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710282" y="2934652"/>
            <a:ext cx="1410005" cy="562928"/>
            <a:chOff x="0" y="0"/>
            <a:chExt cx="1880006" cy="7505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80007" cy="750570"/>
            </a:xfrm>
            <a:custGeom>
              <a:avLst/>
              <a:gdLst/>
              <a:ahLst/>
              <a:cxnLst/>
              <a:rect r="r" b="b" t="t" l="l"/>
              <a:pathLst>
                <a:path h="750570" w="1880007">
                  <a:moveTo>
                    <a:pt x="0" y="0"/>
                  </a:moveTo>
                  <a:lnTo>
                    <a:pt x="1880007" y="0"/>
                  </a:lnTo>
                  <a:lnTo>
                    <a:pt x="1880007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23" t="0" r="-122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880006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48"/>
                </a:lnSpc>
              </a:pPr>
              <a:r>
                <a:rPr lang="en-US" sz="2374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Orders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4323074" y="2932271"/>
            <a:ext cx="1322641" cy="581978"/>
          </a:xfrm>
          <a:custGeom>
            <a:avLst/>
            <a:gdLst/>
            <a:ahLst/>
            <a:cxnLst/>
            <a:rect r="r" b="b" t="t" l="l"/>
            <a:pathLst>
              <a:path h="581978" w="1322641">
                <a:moveTo>
                  <a:pt x="0" y="0"/>
                </a:moveTo>
                <a:lnTo>
                  <a:pt x="1322641" y="0"/>
                </a:lnTo>
                <a:lnTo>
                  <a:pt x="1322641" y="581978"/>
                </a:lnTo>
                <a:lnTo>
                  <a:pt x="0" y="5819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4339742" y="2948940"/>
            <a:ext cx="1289304" cy="548640"/>
            <a:chOff x="0" y="0"/>
            <a:chExt cx="1719072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19072" cy="731520"/>
            </a:xfrm>
            <a:custGeom>
              <a:avLst/>
              <a:gdLst/>
              <a:ahLst/>
              <a:cxnLst/>
              <a:rect r="r" b="b" t="t" l="l"/>
              <a:pathLst>
                <a:path h="731520" w="1719072">
                  <a:moveTo>
                    <a:pt x="0" y="0"/>
                  </a:moveTo>
                  <a:lnTo>
                    <a:pt x="1719072" y="0"/>
                  </a:lnTo>
                  <a:lnTo>
                    <a:pt x="17190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5" t="0" r="-4635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339742" y="2934652"/>
            <a:ext cx="1289304" cy="562928"/>
            <a:chOff x="0" y="0"/>
            <a:chExt cx="1719072" cy="7505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19072" cy="750570"/>
            </a:xfrm>
            <a:custGeom>
              <a:avLst/>
              <a:gdLst/>
              <a:ahLst/>
              <a:cxnLst/>
              <a:rect r="r" b="b" t="t" l="l"/>
              <a:pathLst>
                <a:path h="750570" w="1719072">
                  <a:moveTo>
                    <a:pt x="0" y="0"/>
                  </a:moveTo>
                  <a:lnTo>
                    <a:pt x="1719072" y="0"/>
                  </a:lnTo>
                  <a:lnTo>
                    <a:pt x="1719072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019" t="0" r="-601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719072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48"/>
                </a:lnSpc>
              </a:pPr>
              <a:r>
                <a:rPr lang="en-US" sz="2374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Units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5831834" y="2932271"/>
            <a:ext cx="1926145" cy="581978"/>
          </a:xfrm>
          <a:custGeom>
            <a:avLst/>
            <a:gdLst/>
            <a:ahLst/>
            <a:cxnLst/>
            <a:rect r="r" b="b" t="t" l="l"/>
            <a:pathLst>
              <a:path h="581978" w="1926145">
                <a:moveTo>
                  <a:pt x="0" y="0"/>
                </a:moveTo>
                <a:lnTo>
                  <a:pt x="1926145" y="0"/>
                </a:lnTo>
                <a:lnTo>
                  <a:pt x="1926145" y="581978"/>
                </a:lnTo>
                <a:lnTo>
                  <a:pt x="0" y="5819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5848502" y="2948940"/>
            <a:ext cx="1892808" cy="548640"/>
            <a:chOff x="0" y="0"/>
            <a:chExt cx="2523744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23744" cy="731520"/>
            </a:xfrm>
            <a:custGeom>
              <a:avLst/>
              <a:gdLst/>
              <a:ahLst/>
              <a:cxnLst/>
              <a:rect r="r" b="b" t="t" l="l"/>
              <a:pathLst>
                <a:path h="731520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77" r="0" b="-17175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848502" y="2934652"/>
            <a:ext cx="2131383" cy="562928"/>
            <a:chOff x="0" y="0"/>
            <a:chExt cx="2841844" cy="7505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841844" cy="750570"/>
            </a:xfrm>
            <a:custGeom>
              <a:avLst/>
              <a:gdLst/>
              <a:ahLst/>
              <a:cxnLst/>
              <a:rect r="r" b="b" t="t" l="l"/>
              <a:pathLst>
                <a:path h="750570" w="2841844">
                  <a:moveTo>
                    <a:pt x="0" y="0"/>
                  </a:moveTo>
                  <a:lnTo>
                    <a:pt x="2841844" y="0"/>
                  </a:lnTo>
                  <a:lnTo>
                    <a:pt x="2841844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17" r="11193" b="-1551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841844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48"/>
                </a:lnSpc>
              </a:pPr>
              <a:r>
                <a:rPr lang="en-US" sz="2374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Net Profit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943451" y="3645503"/>
            <a:ext cx="1926146" cy="581977"/>
          </a:xfrm>
          <a:custGeom>
            <a:avLst/>
            <a:gdLst/>
            <a:ahLst/>
            <a:cxnLst/>
            <a:rect r="r" b="b" t="t" l="l"/>
            <a:pathLst>
              <a:path h="581977" w="1926146">
                <a:moveTo>
                  <a:pt x="0" y="0"/>
                </a:moveTo>
                <a:lnTo>
                  <a:pt x="1926146" y="0"/>
                </a:lnTo>
                <a:lnTo>
                  <a:pt x="1926146" y="581978"/>
                </a:lnTo>
                <a:lnTo>
                  <a:pt x="0" y="5819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960120" y="3662172"/>
            <a:ext cx="1892808" cy="548640"/>
            <a:chOff x="0" y="0"/>
            <a:chExt cx="2523744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23744" cy="731520"/>
            </a:xfrm>
            <a:custGeom>
              <a:avLst/>
              <a:gdLst/>
              <a:ahLst/>
              <a:cxnLst/>
              <a:rect r="r" b="b" t="t" l="l"/>
              <a:pathLst>
                <a:path h="731520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77" r="0" b="-17175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60120" y="3647884"/>
            <a:ext cx="1892808" cy="562928"/>
            <a:chOff x="0" y="0"/>
            <a:chExt cx="2523744" cy="75057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523744" cy="750570"/>
            </a:xfrm>
            <a:custGeom>
              <a:avLst/>
              <a:gdLst/>
              <a:ahLst/>
              <a:cxnLst/>
              <a:rect r="r" b="b" t="t" l="l"/>
              <a:pathLst>
                <a:path h="750570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17" r="0" b="-1551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523744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48"/>
                </a:lnSpc>
              </a:pPr>
              <a:r>
                <a:rPr lang="en-US" sz="2374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Net Margin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3055715" y="3645503"/>
            <a:ext cx="1684782" cy="581977"/>
          </a:xfrm>
          <a:custGeom>
            <a:avLst/>
            <a:gdLst/>
            <a:ahLst/>
            <a:cxnLst/>
            <a:rect r="r" b="b" t="t" l="l"/>
            <a:pathLst>
              <a:path h="581977" w="1684782">
                <a:moveTo>
                  <a:pt x="0" y="0"/>
                </a:moveTo>
                <a:lnTo>
                  <a:pt x="1684782" y="0"/>
                </a:lnTo>
                <a:lnTo>
                  <a:pt x="1684782" y="581978"/>
                </a:lnTo>
                <a:lnTo>
                  <a:pt x="0" y="5819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3072384" y="3662172"/>
            <a:ext cx="1651406" cy="548640"/>
            <a:chOff x="0" y="0"/>
            <a:chExt cx="2201875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01926" cy="731520"/>
            </a:xfrm>
            <a:custGeom>
              <a:avLst/>
              <a:gdLst/>
              <a:ahLst/>
              <a:cxnLst/>
              <a:rect r="r" b="b" t="t" l="l"/>
              <a:pathLst>
                <a:path h="731520" w="2201926">
                  <a:moveTo>
                    <a:pt x="0" y="0"/>
                  </a:moveTo>
                  <a:lnTo>
                    <a:pt x="2201926" y="0"/>
                  </a:lnTo>
                  <a:lnTo>
                    <a:pt x="220192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09" r="2" b="-860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3072384" y="3647884"/>
            <a:ext cx="1651406" cy="562928"/>
            <a:chOff x="0" y="0"/>
            <a:chExt cx="2201875" cy="75057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01875" cy="750570"/>
            </a:xfrm>
            <a:custGeom>
              <a:avLst/>
              <a:gdLst/>
              <a:ahLst/>
              <a:cxnLst/>
              <a:rect r="r" b="b" t="t" l="l"/>
              <a:pathLst>
                <a:path h="750570" w="2201875">
                  <a:moveTo>
                    <a:pt x="0" y="0"/>
                  </a:moveTo>
                  <a:lnTo>
                    <a:pt x="2201875" y="0"/>
                  </a:lnTo>
                  <a:lnTo>
                    <a:pt x="2201875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61" r="0" b="-716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201875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48"/>
                </a:lnSpc>
              </a:pPr>
              <a:r>
                <a:rPr lang="en-US" sz="2374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PPC Cost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4926578" y="3645503"/>
            <a:ext cx="1805464" cy="581977"/>
          </a:xfrm>
          <a:custGeom>
            <a:avLst/>
            <a:gdLst/>
            <a:ahLst/>
            <a:cxnLst/>
            <a:rect r="r" b="b" t="t" l="l"/>
            <a:pathLst>
              <a:path h="581977" w="1805464">
                <a:moveTo>
                  <a:pt x="0" y="0"/>
                </a:moveTo>
                <a:lnTo>
                  <a:pt x="1805463" y="0"/>
                </a:lnTo>
                <a:lnTo>
                  <a:pt x="1805463" y="581978"/>
                </a:lnTo>
                <a:lnTo>
                  <a:pt x="0" y="58197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4943246" y="3662172"/>
            <a:ext cx="1772107" cy="548640"/>
            <a:chOff x="0" y="0"/>
            <a:chExt cx="236281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62835" cy="731520"/>
            </a:xfrm>
            <a:custGeom>
              <a:avLst/>
              <a:gdLst/>
              <a:ahLst/>
              <a:cxnLst/>
              <a:rect r="r" b="b" t="t" l="l"/>
              <a:pathLst>
                <a:path h="731520" w="2362835">
                  <a:moveTo>
                    <a:pt x="0" y="0"/>
                  </a:moveTo>
                  <a:lnTo>
                    <a:pt x="2362835" y="0"/>
                  </a:lnTo>
                  <a:lnTo>
                    <a:pt x="236283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92" r="1" b="-12894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943246" y="3647884"/>
            <a:ext cx="1772107" cy="562928"/>
            <a:chOff x="0" y="0"/>
            <a:chExt cx="2362810" cy="75057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362809" cy="750570"/>
            </a:xfrm>
            <a:custGeom>
              <a:avLst/>
              <a:gdLst/>
              <a:ahLst/>
              <a:cxnLst/>
              <a:rect r="r" b="b" t="t" l="l"/>
              <a:pathLst>
                <a:path h="750570" w="2362809">
                  <a:moveTo>
                    <a:pt x="0" y="0"/>
                  </a:moveTo>
                  <a:lnTo>
                    <a:pt x="2362809" y="0"/>
                  </a:lnTo>
                  <a:lnTo>
                    <a:pt x="2362809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39" r="0" b="-1133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236281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48"/>
                </a:lnSpc>
              </a:pPr>
              <a:r>
                <a:rPr lang="en-US" sz="2374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PPC Sales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6918141" y="3645503"/>
            <a:ext cx="1684782" cy="581977"/>
          </a:xfrm>
          <a:custGeom>
            <a:avLst/>
            <a:gdLst/>
            <a:ahLst/>
            <a:cxnLst/>
            <a:rect r="r" b="b" t="t" l="l"/>
            <a:pathLst>
              <a:path h="581977" w="1684782">
                <a:moveTo>
                  <a:pt x="0" y="0"/>
                </a:moveTo>
                <a:lnTo>
                  <a:pt x="1684782" y="0"/>
                </a:lnTo>
                <a:lnTo>
                  <a:pt x="1684782" y="581978"/>
                </a:lnTo>
                <a:lnTo>
                  <a:pt x="0" y="5819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6934810" y="3662172"/>
            <a:ext cx="1651406" cy="548640"/>
            <a:chOff x="0" y="0"/>
            <a:chExt cx="2201875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01926" cy="731520"/>
            </a:xfrm>
            <a:custGeom>
              <a:avLst/>
              <a:gdLst/>
              <a:ahLst/>
              <a:cxnLst/>
              <a:rect r="r" b="b" t="t" l="l"/>
              <a:pathLst>
                <a:path h="731520" w="2201926">
                  <a:moveTo>
                    <a:pt x="0" y="0"/>
                  </a:moveTo>
                  <a:lnTo>
                    <a:pt x="2201926" y="0"/>
                  </a:lnTo>
                  <a:lnTo>
                    <a:pt x="220192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09" r="2" b="-8609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934810" y="3647884"/>
            <a:ext cx="1651406" cy="562928"/>
            <a:chOff x="0" y="0"/>
            <a:chExt cx="2201875" cy="7505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01875" cy="750570"/>
            </a:xfrm>
            <a:custGeom>
              <a:avLst/>
              <a:gdLst/>
              <a:ahLst/>
              <a:cxnLst/>
              <a:rect r="r" b="b" t="t" l="l"/>
              <a:pathLst>
                <a:path h="750570" w="2201875">
                  <a:moveTo>
                    <a:pt x="0" y="0"/>
                  </a:moveTo>
                  <a:lnTo>
                    <a:pt x="2201875" y="0"/>
                  </a:lnTo>
                  <a:lnTo>
                    <a:pt x="2201875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61" r="0" b="-716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2201875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48"/>
                </a:lnSpc>
              </a:pPr>
              <a:r>
                <a:rPr lang="en-US" sz="2374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Refund %</a:t>
              </a:r>
            </a:p>
          </p:txBody>
        </p:sp>
      </p:grpSp>
      <p:sp>
        <p:nvSpPr>
          <p:cNvPr name="Freeform 65" id="65"/>
          <p:cNvSpPr/>
          <p:nvPr/>
        </p:nvSpPr>
        <p:spPr>
          <a:xfrm flipH="false" flipV="false" rot="0">
            <a:off x="943451" y="4358735"/>
            <a:ext cx="1684782" cy="581977"/>
          </a:xfrm>
          <a:custGeom>
            <a:avLst/>
            <a:gdLst/>
            <a:ahLst/>
            <a:cxnLst/>
            <a:rect r="r" b="b" t="t" l="l"/>
            <a:pathLst>
              <a:path h="581977" w="1684782">
                <a:moveTo>
                  <a:pt x="0" y="0"/>
                </a:moveTo>
                <a:lnTo>
                  <a:pt x="1684782" y="0"/>
                </a:lnTo>
                <a:lnTo>
                  <a:pt x="1684782" y="581978"/>
                </a:lnTo>
                <a:lnTo>
                  <a:pt x="0" y="5819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960120" y="4375404"/>
            <a:ext cx="1651406" cy="548640"/>
            <a:chOff x="0" y="0"/>
            <a:chExt cx="2201875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01926" cy="731520"/>
            </a:xfrm>
            <a:custGeom>
              <a:avLst/>
              <a:gdLst/>
              <a:ahLst/>
              <a:cxnLst/>
              <a:rect r="r" b="b" t="t" l="l"/>
              <a:pathLst>
                <a:path h="731520" w="2201926">
                  <a:moveTo>
                    <a:pt x="0" y="0"/>
                  </a:moveTo>
                  <a:lnTo>
                    <a:pt x="2201926" y="0"/>
                  </a:lnTo>
                  <a:lnTo>
                    <a:pt x="220192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09" r="2" b="-8609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60120" y="4361116"/>
            <a:ext cx="1651406" cy="562927"/>
            <a:chOff x="0" y="0"/>
            <a:chExt cx="2201875" cy="75057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01875" cy="750570"/>
            </a:xfrm>
            <a:custGeom>
              <a:avLst/>
              <a:gdLst/>
              <a:ahLst/>
              <a:cxnLst/>
              <a:rect r="r" b="b" t="t" l="l"/>
              <a:pathLst>
                <a:path h="750570" w="2201875">
                  <a:moveTo>
                    <a:pt x="0" y="0"/>
                  </a:moveTo>
                  <a:lnTo>
                    <a:pt x="2201875" y="0"/>
                  </a:lnTo>
                  <a:lnTo>
                    <a:pt x="2201875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61" r="0" b="-716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2201875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48"/>
                </a:lnSpc>
              </a:pPr>
              <a:r>
                <a:rPr lang="en-US" sz="2374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Sessions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2814314" y="4358735"/>
            <a:ext cx="1926146" cy="581977"/>
          </a:xfrm>
          <a:custGeom>
            <a:avLst/>
            <a:gdLst/>
            <a:ahLst/>
            <a:cxnLst/>
            <a:rect r="r" b="b" t="t" l="l"/>
            <a:pathLst>
              <a:path h="581977" w="1926146">
                <a:moveTo>
                  <a:pt x="0" y="0"/>
                </a:moveTo>
                <a:lnTo>
                  <a:pt x="1926145" y="0"/>
                </a:lnTo>
                <a:lnTo>
                  <a:pt x="1926145" y="581978"/>
                </a:lnTo>
                <a:lnTo>
                  <a:pt x="0" y="5819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2830982" y="4375404"/>
            <a:ext cx="1892808" cy="548640"/>
            <a:chOff x="0" y="0"/>
            <a:chExt cx="2523744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523744" cy="731520"/>
            </a:xfrm>
            <a:custGeom>
              <a:avLst/>
              <a:gdLst/>
              <a:ahLst/>
              <a:cxnLst/>
              <a:rect r="r" b="b" t="t" l="l"/>
              <a:pathLst>
                <a:path h="731520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77" r="0" b="-17175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2830982" y="4361116"/>
            <a:ext cx="1892808" cy="562927"/>
            <a:chOff x="0" y="0"/>
            <a:chExt cx="2523744" cy="75057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523744" cy="750570"/>
            </a:xfrm>
            <a:custGeom>
              <a:avLst/>
              <a:gdLst/>
              <a:ahLst/>
              <a:cxnLst/>
              <a:rect r="r" b="b" t="t" l="l"/>
              <a:pathLst>
                <a:path h="750570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17" r="0" b="-1551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2523744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48"/>
                </a:lnSpc>
              </a:pPr>
              <a:r>
                <a:rPr lang="en-US" sz="2374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Page Views</a:t>
              </a:r>
            </a:p>
          </p:txBody>
        </p:sp>
      </p:grpSp>
      <p:sp>
        <p:nvSpPr>
          <p:cNvPr name="Freeform 77" id="77"/>
          <p:cNvSpPr/>
          <p:nvPr/>
        </p:nvSpPr>
        <p:spPr>
          <a:xfrm flipH="false" flipV="false" rot="0">
            <a:off x="4926578" y="4358735"/>
            <a:ext cx="1443323" cy="581977"/>
          </a:xfrm>
          <a:custGeom>
            <a:avLst/>
            <a:gdLst/>
            <a:ahLst/>
            <a:cxnLst/>
            <a:rect r="r" b="b" t="t" l="l"/>
            <a:pathLst>
              <a:path h="581977" w="1443323">
                <a:moveTo>
                  <a:pt x="0" y="0"/>
                </a:moveTo>
                <a:lnTo>
                  <a:pt x="1443323" y="0"/>
                </a:lnTo>
                <a:lnTo>
                  <a:pt x="1443323" y="581978"/>
                </a:lnTo>
                <a:lnTo>
                  <a:pt x="0" y="5819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4943246" y="4375404"/>
            <a:ext cx="1410005" cy="548640"/>
            <a:chOff x="0" y="0"/>
            <a:chExt cx="1880006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879981" cy="731520"/>
            </a:xfrm>
            <a:custGeom>
              <a:avLst/>
              <a:gdLst/>
              <a:ahLst/>
              <a:cxnLst/>
              <a:rect r="r" b="b" t="t" l="l"/>
              <a:pathLst>
                <a:path h="731520" w="1879981">
                  <a:moveTo>
                    <a:pt x="0" y="0"/>
                  </a:moveTo>
                  <a:lnTo>
                    <a:pt x="1879981" y="0"/>
                  </a:lnTo>
                  <a:lnTo>
                    <a:pt x="187998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" r="-1" b="-41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943246" y="4361116"/>
            <a:ext cx="1410005" cy="562927"/>
            <a:chOff x="0" y="0"/>
            <a:chExt cx="1880006" cy="75057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880007" cy="750570"/>
            </a:xfrm>
            <a:custGeom>
              <a:avLst/>
              <a:gdLst/>
              <a:ahLst/>
              <a:cxnLst/>
              <a:rect r="r" b="b" t="t" l="l"/>
              <a:pathLst>
                <a:path h="750570" w="1880007">
                  <a:moveTo>
                    <a:pt x="0" y="0"/>
                  </a:moveTo>
                  <a:lnTo>
                    <a:pt x="1880007" y="0"/>
                  </a:lnTo>
                  <a:lnTo>
                    <a:pt x="1880007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23" t="0" r="-122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1880006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48"/>
                </a:lnSpc>
              </a:pPr>
              <a:r>
                <a:rPr lang="en-US" sz="2374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Clicks</a:t>
              </a: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6556038" y="4358735"/>
            <a:ext cx="2046827" cy="581977"/>
          </a:xfrm>
          <a:custGeom>
            <a:avLst/>
            <a:gdLst/>
            <a:ahLst/>
            <a:cxnLst/>
            <a:rect r="r" b="b" t="t" l="l"/>
            <a:pathLst>
              <a:path h="581977" w="2046827">
                <a:moveTo>
                  <a:pt x="0" y="0"/>
                </a:moveTo>
                <a:lnTo>
                  <a:pt x="2046828" y="0"/>
                </a:lnTo>
                <a:lnTo>
                  <a:pt x="2046828" y="581978"/>
                </a:lnTo>
                <a:lnTo>
                  <a:pt x="0" y="58197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6572707" y="4375404"/>
            <a:ext cx="2013509" cy="548640"/>
            <a:chOff x="0" y="0"/>
            <a:chExt cx="2684678" cy="7315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684653" cy="731520"/>
            </a:xfrm>
            <a:custGeom>
              <a:avLst/>
              <a:gdLst/>
              <a:ahLst/>
              <a:cxnLst/>
              <a:rect r="r" b="b" t="t" l="l"/>
              <a:pathLst>
                <a:path h="731520" w="2684653">
                  <a:moveTo>
                    <a:pt x="0" y="0"/>
                  </a:moveTo>
                  <a:lnTo>
                    <a:pt x="2684653" y="0"/>
                  </a:lnTo>
                  <a:lnTo>
                    <a:pt x="2684653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60" r="0" b="-2146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6572707" y="4361116"/>
            <a:ext cx="2013509" cy="562927"/>
            <a:chOff x="0" y="0"/>
            <a:chExt cx="2684678" cy="75057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684679" cy="750570"/>
            </a:xfrm>
            <a:custGeom>
              <a:avLst/>
              <a:gdLst/>
              <a:ahLst/>
              <a:cxnLst/>
              <a:rect r="r" b="b" t="t" l="l"/>
              <a:pathLst>
                <a:path h="750570" w="2684679">
                  <a:moveTo>
                    <a:pt x="0" y="0"/>
                  </a:moveTo>
                  <a:lnTo>
                    <a:pt x="2684679" y="0"/>
                  </a:lnTo>
                  <a:lnTo>
                    <a:pt x="2684679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95" r="0" b="-1969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2684678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48"/>
                </a:lnSpc>
              </a:pPr>
              <a:r>
                <a:rPr lang="en-US" sz="2374" b="true">
                  <a:solidFill>
                    <a:srgbClr val="2D6A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Impressions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87009" y="5315809"/>
            <a:ext cx="7544791" cy="3833428"/>
            <a:chOff x="0" y="0"/>
            <a:chExt cx="5212080" cy="264820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212080" cy="2648203"/>
            </a:xfrm>
            <a:custGeom>
              <a:avLst/>
              <a:gdLst/>
              <a:ahLst/>
              <a:cxnLst/>
              <a:rect r="r" b="b" t="t" l="l"/>
              <a:pathLst>
                <a:path h="2648203" w="5212080">
                  <a:moveTo>
                    <a:pt x="0" y="285191"/>
                  </a:moveTo>
                  <a:cubicBezTo>
                    <a:pt x="0" y="127742"/>
                    <a:pt x="114681" y="0"/>
                    <a:pt x="256032" y="0"/>
                  </a:cubicBezTo>
                  <a:lnTo>
                    <a:pt x="4956048" y="0"/>
                  </a:lnTo>
                  <a:cubicBezTo>
                    <a:pt x="5097399" y="0"/>
                    <a:pt x="5212080" y="127742"/>
                    <a:pt x="5212080" y="285191"/>
                  </a:cubicBezTo>
                  <a:lnTo>
                    <a:pt x="5212080" y="2363011"/>
                  </a:lnTo>
                  <a:cubicBezTo>
                    <a:pt x="5212080" y="2520461"/>
                    <a:pt x="5097399" y="2648203"/>
                    <a:pt x="4956048" y="2648203"/>
                  </a:cubicBezTo>
                  <a:lnTo>
                    <a:pt x="256032" y="2648203"/>
                  </a:lnTo>
                  <a:cubicBezTo>
                    <a:pt x="114681" y="2648203"/>
                    <a:pt x="0" y="2520461"/>
                    <a:pt x="0" y="2363011"/>
                  </a:cubicBezTo>
                  <a:close/>
                </a:path>
              </a:pathLst>
            </a:custGeom>
            <a:solidFill>
              <a:srgbClr val="B7D3BE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318717" y="5518023"/>
            <a:ext cx="6858000" cy="558435"/>
            <a:chOff x="0" y="0"/>
            <a:chExt cx="9144000" cy="7445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144000" cy="744580"/>
            </a:xfrm>
            <a:custGeom>
              <a:avLst/>
              <a:gdLst/>
              <a:ahLst/>
              <a:cxnLst/>
              <a:rect r="r" b="b" t="t" l="l"/>
              <a:pathLst>
                <a:path h="7445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44580"/>
                  </a:lnTo>
                  <a:lnTo>
                    <a:pt x="0" y="744580"/>
                  </a:lnTo>
                  <a:close/>
                </a:path>
              </a:pathLst>
            </a:custGeom>
            <a:solidFill>
              <a:srgbClr val="1B4332">
                <a:alpha val="0"/>
              </a:srgbClr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9525"/>
              <a:ext cx="9144000" cy="735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9"/>
                </a:lnSpc>
              </a:pPr>
              <a:r>
                <a:rPr lang="en-US" b="true" sz="2824">
                  <a:solidFill>
                    <a:srgbClr val="1F2A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Model Output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371600" y="6967728"/>
            <a:ext cx="6995160" cy="548640"/>
            <a:chOff x="0" y="0"/>
            <a:chExt cx="9326880" cy="7315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262" r="0" b="-198260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424940" y="6080906"/>
            <a:ext cx="6995160" cy="878025"/>
            <a:chOff x="0" y="0"/>
            <a:chExt cx="9326880" cy="1170699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326880" cy="1170699"/>
            </a:xfrm>
            <a:custGeom>
              <a:avLst/>
              <a:gdLst/>
              <a:ahLst/>
              <a:cxnLst/>
              <a:rect r="r" b="b" t="t" l="l"/>
              <a:pathLst>
                <a:path h="1170699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170699"/>
                  </a:lnTo>
                  <a:lnTo>
                    <a:pt x="0" y="11706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2365" r="0" b="-88106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9326880" cy="1180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9"/>
                </a:lnSpc>
              </a:pPr>
              <a:r>
                <a:rPr lang="en-US" sz="2524" b="true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Normal :</a:t>
              </a:r>
              <a:r>
                <a:rPr lang="en-US" sz="2524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follows expected business behavior.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371600" y="7461504"/>
            <a:ext cx="6995160" cy="548640"/>
            <a:chOff x="0" y="0"/>
            <a:chExt cx="9326880" cy="73152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262" r="0" b="-19826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71600" y="7016496"/>
            <a:ext cx="6995160" cy="878025"/>
            <a:chOff x="0" y="0"/>
            <a:chExt cx="9326880" cy="117069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326880" cy="1170699"/>
            </a:xfrm>
            <a:custGeom>
              <a:avLst/>
              <a:gdLst/>
              <a:ahLst/>
              <a:cxnLst/>
              <a:rect r="r" b="b" t="t" l="l"/>
              <a:pathLst>
                <a:path h="1170699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170699"/>
                  </a:lnTo>
                  <a:lnTo>
                    <a:pt x="0" y="11706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2365" r="0" b="-8810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9326880" cy="1180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9"/>
                </a:lnSpc>
              </a:pPr>
              <a:r>
                <a:rPr lang="en-US" sz="2524" b="true">
                  <a:solidFill>
                    <a:srgbClr val="D6454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Anomaly: </a:t>
              </a:r>
              <a:r>
                <a:rPr lang="en-US" sz="2524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differs significantly, flagged for review.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71600" y="8023860"/>
            <a:ext cx="6995160" cy="891540"/>
            <a:chOff x="0" y="0"/>
            <a:chExt cx="9326880" cy="11887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3268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776" r="0" b="-102775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289080" y="7859268"/>
            <a:ext cx="7160200" cy="948690"/>
            <a:chOff x="0" y="0"/>
            <a:chExt cx="9546933" cy="126492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546934" cy="1264920"/>
            </a:xfrm>
            <a:custGeom>
              <a:avLst/>
              <a:gdLst/>
              <a:ahLst/>
              <a:cxnLst/>
              <a:rect r="r" b="b" t="t" l="l"/>
              <a:pathLst>
                <a:path h="1264920" w="9546934">
                  <a:moveTo>
                    <a:pt x="0" y="0"/>
                  </a:moveTo>
                  <a:lnTo>
                    <a:pt x="9546934" y="0"/>
                  </a:lnTo>
                  <a:lnTo>
                    <a:pt x="9546934" y="1264920"/>
                  </a:lnTo>
                  <a:lnTo>
                    <a:pt x="0" y="1264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672" r="2304" b="-93672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47625"/>
              <a:ext cx="9546933" cy="131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7"/>
                </a:lnSpc>
              </a:pPr>
              <a:r>
                <a:rPr lang="en-US" sz="2144" i="true">
                  <a:solidFill>
                    <a:srgbClr val="5B6B63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Each record also receives an Anomaly Score  higher scores signal greater likelihood of unusual behavior.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258300" y="2331720"/>
            <a:ext cx="8023860" cy="480060"/>
            <a:chOff x="0" y="0"/>
            <a:chExt cx="10698480" cy="64008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06984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452" r="0" b="-275452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9258300" y="2324576"/>
            <a:ext cx="8023860" cy="558435"/>
            <a:chOff x="0" y="0"/>
            <a:chExt cx="10698480" cy="74458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0698480" cy="744580"/>
            </a:xfrm>
            <a:custGeom>
              <a:avLst/>
              <a:gdLst/>
              <a:ahLst/>
              <a:cxnLst/>
              <a:rect r="r" b="b" t="t" l="l"/>
              <a:pathLst>
                <a:path h="74458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744580"/>
                  </a:lnTo>
                  <a:lnTo>
                    <a:pt x="0" y="744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6348" r="0" b="-223592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9525"/>
              <a:ext cx="10698480" cy="735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9"/>
                </a:lnSpc>
              </a:pPr>
              <a:r>
                <a:rPr lang="en-US" sz="2824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Business Value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9258300" y="2948940"/>
            <a:ext cx="3909060" cy="1783080"/>
            <a:chOff x="0" y="0"/>
            <a:chExt cx="5212080" cy="2377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2120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21208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4956048" y="0"/>
                  </a:lnTo>
                  <a:cubicBezTo>
                    <a:pt x="5097399" y="0"/>
                    <a:pt x="5212080" y="114681"/>
                    <a:pt x="5212080" y="256032"/>
                  </a:cubicBezTo>
                  <a:lnTo>
                    <a:pt x="5212080" y="2121408"/>
                  </a:lnTo>
                  <a:cubicBezTo>
                    <a:pt x="5212080" y="2262759"/>
                    <a:pt x="5097399" y="2377440"/>
                    <a:pt x="4956048" y="2377440"/>
                  </a:cubicBezTo>
                  <a:lnTo>
                    <a:pt x="256032" y="2377440"/>
                  </a:lnTo>
                  <a:cubicBezTo>
                    <a:pt x="114681" y="2377440"/>
                    <a:pt x="0" y="2262759"/>
                    <a:pt x="0" y="212140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532620" y="3195828"/>
            <a:ext cx="685800" cy="685800"/>
            <a:chOff x="0" y="0"/>
            <a:chExt cx="914400" cy="9144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9686925" y="3350133"/>
            <a:ext cx="377190" cy="377190"/>
            <a:chOff x="0" y="0"/>
            <a:chExt cx="502920" cy="502920"/>
          </a:xfrm>
        </p:grpSpPr>
        <p:sp>
          <p:nvSpPr>
            <p:cNvPr name="Freeform 119" id="119" descr="/home/claude/deck/icons/rocket_1B4332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9532620" y="3977640"/>
            <a:ext cx="3429000" cy="685800"/>
            <a:chOff x="0" y="0"/>
            <a:chExt cx="4572000" cy="9144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356" r="0" b="-47358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0372725" y="3248372"/>
            <a:ext cx="3429000" cy="1184216"/>
            <a:chOff x="0" y="0"/>
            <a:chExt cx="4572000" cy="1578955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572000" cy="1578955"/>
            </a:xfrm>
            <a:custGeom>
              <a:avLst/>
              <a:gdLst/>
              <a:ahLst/>
              <a:cxnLst/>
              <a:rect r="r" b="b" t="t" l="l"/>
              <a:pathLst>
                <a:path h="1578955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78955"/>
                  </a:lnTo>
                  <a:lnTo>
                    <a:pt x="0" y="15789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956" r="0" b="13115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19050"/>
              <a:ext cx="4572000" cy="1598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5"/>
                </a:lnSpc>
              </a:pPr>
              <a:r>
                <a:rPr lang="en-US" sz="226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Early detection of abnormal sales behavior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373100" y="2948940"/>
            <a:ext cx="3909060" cy="1783080"/>
            <a:chOff x="0" y="0"/>
            <a:chExt cx="5212080" cy="237744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2120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21208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4956048" y="0"/>
                  </a:lnTo>
                  <a:cubicBezTo>
                    <a:pt x="5097399" y="0"/>
                    <a:pt x="5212080" y="114681"/>
                    <a:pt x="5212080" y="256032"/>
                  </a:cubicBezTo>
                  <a:lnTo>
                    <a:pt x="5212080" y="2121408"/>
                  </a:lnTo>
                  <a:cubicBezTo>
                    <a:pt x="5212080" y="2262759"/>
                    <a:pt x="5097399" y="2377440"/>
                    <a:pt x="4956048" y="2377440"/>
                  </a:cubicBezTo>
                  <a:lnTo>
                    <a:pt x="256032" y="2377440"/>
                  </a:lnTo>
                  <a:cubicBezTo>
                    <a:pt x="114681" y="2377440"/>
                    <a:pt x="0" y="2262759"/>
                    <a:pt x="0" y="212140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3571220" y="3072765"/>
            <a:ext cx="685800" cy="685800"/>
            <a:chOff x="0" y="0"/>
            <a:chExt cx="914400" cy="91440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3725525" y="3227070"/>
            <a:ext cx="377190" cy="377190"/>
            <a:chOff x="0" y="0"/>
            <a:chExt cx="502920" cy="502920"/>
          </a:xfrm>
        </p:grpSpPr>
        <p:sp>
          <p:nvSpPr>
            <p:cNvPr name="Freeform 130" id="130" descr="/home/claude/deck/icons/chartline_1B4332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3647420" y="3977640"/>
            <a:ext cx="3429000" cy="685800"/>
            <a:chOff x="0" y="0"/>
            <a:chExt cx="4572000" cy="9144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356" r="0" b="-47358"/>
              </a:stretch>
            </a:blip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4476095" y="3248719"/>
            <a:ext cx="2508782" cy="1184216"/>
            <a:chOff x="0" y="0"/>
            <a:chExt cx="3345043" cy="1578955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3345043" cy="1578955"/>
            </a:xfrm>
            <a:custGeom>
              <a:avLst/>
              <a:gdLst/>
              <a:ahLst/>
              <a:cxnLst/>
              <a:rect r="r" b="b" t="t" l="l"/>
              <a:pathLst>
                <a:path h="1578955" w="3345043">
                  <a:moveTo>
                    <a:pt x="0" y="0"/>
                  </a:moveTo>
                  <a:lnTo>
                    <a:pt x="3345043" y="0"/>
                  </a:lnTo>
                  <a:lnTo>
                    <a:pt x="3345043" y="1578955"/>
                  </a:lnTo>
                  <a:lnTo>
                    <a:pt x="0" y="15789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956" r="-36679" b="13115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19050"/>
              <a:ext cx="3345043" cy="1598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5"/>
                </a:lnSpc>
              </a:pPr>
              <a:r>
                <a:rPr lang="en-US" sz="226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Flags unexpected revenue &amp; profit swings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9258300" y="4937760"/>
            <a:ext cx="3909060" cy="1783080"/>
            <a:chOff x="0" y="0"/>
            <a:chExt cx="5212080" cy="237744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52120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21208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4956048" y="0"/>
                  </a:lnTo>
                  <a:cubicBezTo>
                    <a:pt x="5097399" y="0"/>
                    <a:pt x="5212080" y="114681"/>
                    <a:pt x="5212080" y="256032"/>
                  </a:cubicBezTo>
                  <a:lnTo>
                    <a:pt x="5212080" y="2121408"/>
                  </a:lnTo>
                  <a:cubicBezTo>
                    <a:pt x="5212080" y="2262759"/>
                    <a:pt x="5097399" y="2377440"/>
                    <a:pt x="4956048" y="2377440"/>
                  </a:cubicBezTo>
                  <a:lnTo>
                    <a:pt x="256032" y="2377440"/>
                  </a:lnTo>
                  <a:cubicBezTo>
                    <a:pt x="114681" y="2377440"/>
                    <a:pt x="0" y="2262759"/>
                    <a:pt x="0" y="212140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9532620" y="5184648"/>
            <a:ext cx="685800" cy="685800"/>
            <a:chOff x="0" y="0"/>
            <a:chExt cx="914400" cy="91440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686925" y="5338953"/>
            <a:ext cx="377190" cy="377190"/>
            <a:chOff x="0" y="0"/>
            <a:chExt cx="502920" cy="502920"/>
          </a:xfrm>
        </p:grpSpPr>
        <p:sp>
          <p:nvSpPr>
            <p:cNvPr name="Freeform 141" id="141" descr="/home/claude/deck/icons/boxes_1B4332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532620" y="5966460"/>
            <a:ext cx="3429000" cy="685800"/>
            <a:chOff x="0" y="0"/>
            <a:chExt cx="4572000" cy="9144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356" r="0" b="-47358"/>
              </a:stretch>
            </a:blip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0372725" y="5278340"/>
            <a:ext cx="2588895" cy="1184216"/>
            <a:chOff x="0" y="0"/>
            <a:chExt cx="3451860" cy="1578955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3451860" cy="1578955"/>
            </a:xfrm>
            <a:custGeom>
              <a:avLst/>
              <a:gdLst/>
              <a:ahLst/>
              <a:cxnLst/>
              <a:rect r="r" b="b" t="t" l="l"/>
              <a:pathLst>
                <a:path h="1578955" w="3451860">
                  <a:moveTo>
                    <a:pt x="0" y="0"/>
                  </a:moveTo>
                  <a:lnTo>
                    <a:pt x="3451860" y="0"/>
                  </a:lnTo>
                  <a:lnTo>
                    <a:pt x="3451860" y="1578955"/>
                  </a:lnTo>
                  <a:lnTo>
                    <a:pt x="0" y="15789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956" r="-32450" b="13115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19050"/>
              <a:ext cx="3451860" cy="1598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5"/>
                </a:lnSpc>
              </a:pPr>
              <a:r>
                <a:rPr lang="en-US" sz="226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Surfaces unusual product performance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3373100" y="4937760"/>
            <a:ext cx="3909060" cy="1783080"/>
            <a:chOff x="0" y="0"/>
            <a:chExt cx="5212080" cy="237744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52120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21208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4956048" y="0"/>
                  </a:lnTo>
                  <a:cubicBezTo>
                    <a:pt x="5097399" y="0"/>
                    <a:pt x="5212080" y="114681"/>
                    <a:pt x="5212080" y="256032"/>
                  </a:cubicBezTo>
                  <a:lnTo>
                    <a:pt x="5212080" y="2121408"/>
                  </a:lnTo>
                  <a:cubicBezTo>
                    <a:pt x="5212080" y="2262759"/>
                    <a:pt x="5097399" y="2377440"/>
                    <a:pt x="4956048" y="2377440"/>
                  </a:cubicBezTo>
                  <a:lnTo>
                    <a:pt x="256032" y="2377440"/>
                  </a:lnTo>
                  <a:cubicBezTo>
                    <a:pt x="114681" y="2377440"/>
                    <a:pt x="0" y="2262759"/>
                    <a:pt x="0" y="212140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3647420" y="5184648"/>
            <a:ext cx="685800" cy="685800"/>
            <a:chOff x="0" y="0"/>
            <a:chExt cx="914400" cy="91440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13801725" y="5338953"/>
            <a:ext cx="377190" cy="377190"/>
            <a:chOff x="0" y="0"/>
            <a:chExt cx="502920" cy="502920"/>
          </a:xfrm>
        </p:grpSpPr>
        <p:sp>
          <p:nvSpPr>
            <p:cNvPr name="Freeform 152" id="152" descr="/home/claude/deck/icons/clipboard_1B4332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47420" y="5966460"/>
            <a:ext cx="3429000" cy="685800"/>
            <a:chOff x="0" y="0"/>
            <a:chExt cx="4572000" cy="91440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356" r="0" b="-47358"/>
              </a:stretch>
            </a:blip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4594109" y="5237192"/>
            <a:ext cx="2393367" cy="1184216"/>
            <a:chOff x="0" y="0"/>
            <a:chExt cx="3191155" cy="1578955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3191155" cy="1578955"/>
            </a:xfrm>
            <a:custGeom>
              <a:avLst/>
              <a:gdLst/>
              <a:ahLst/>
              <a:cxnLst/>
              <a:rect r="r" b="b" t="t" l="l"/>
              <a:pathLst>
                <a:path h="1578955" w="3191155">
                  <a:moveTo>
                    <a:pt x="0" y="0"/>
                  </a:moveTo>
                  <a:lnTo>
                    <a:pt x="3191155" y="0"/>
                  </a:lnTo>
                  <a:lnTo>
                    <a:pt x="3191155" y="1578955"/>
                  </a:lnTo>
                  <a:lnTo>
                    <a:pt x="0" y="15789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956" r="-43270" b="13115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19050"/>
              <a:ext cx="3191155" cy="1598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5"/>
                </a:lnSpc>
              </a:pPr>
              <a:r>
                <a:rPr lang="en-US" sz="226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Reduces manual data inspection effort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9258300" y="6926580"/>
            <a:ext cx="3909060" cy="1783080"/>
            <a:chOff x="0" y="0"/>
            <a:chExt cx="5212080" cy="237744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2120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21208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4956048" y="0"/>
                  </a:lnTo>
                  <a:cubicBezTo>
                    <a:pt x="5097399" y="0"/>
                    <a:pt x="5212080" y="114681"/>
                    <a:pt x="5212080" y="256032"/>
                  </a:cubicBezTo>
                  <a:lnTo>
                    <a:pt x="5212080" y="2121408"/>
                  </a:lnTo>
                  <a:cubicBezTo>
                    <a:pt x="5212080" y="2262759"/>
                    <a:pt x="5097399" y="2377440"/>
                    <a:pt x="4956048" y="2377440"/>
                  </a:cubicBezTo>
                  <a:lnTo>
                    <a:pt x="256032" y="2377440"/>
                  </a:lnTo>
                  <a:cubicBezTo>
                    <a:pt x="114681" y="2377440"/>
                    <a:pt x="0" y="2262759"/>
                    <a:pt x="0" y="212140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9532620" y="7173468"/>
            <a:ext cx="685800" cy="685800"/>
            <a:chOff x="0" y="0"/>
            <a:chExt cx="914400" cy="91440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9686925" y="7327773"/>
            <a:ext cx="377190" cy="377190"/>
            <a:chOff x="0" y="0"/>
            <a:chExt cx="502920" cy="502920"/>
          </a:xfrm>
        </p:grpSpPr>
        <p:sp>
          <p:nvSpPr>
            <p:cNvPr name="Freeform 163" id="163" descr="/home/claude/deck/icons/searchdollar_1B4332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9532620" y="7955280"/>
            <a:ext cx="3429000" cy="685800"/>
            <a:chOff x="0" y="0"/>
            <a:chExt cx="4572000" cy="91440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356" r="0" b="-47358"/>
              </a:stretch>
            </a:blip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0372725" y="7225070"/>
            <a:ext cx="2794635" cy="1184216"/>
            <a:chOff x="0" y="0"/>
            <a:chExt cx="3726180" cy="1578955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3726180" cy="1578955"/>
            </a:xfrm>
            <a:custGeom>
              <a:avLst/>
              <a:gdLst/>
              <a:ahLst/>
              <a:cxnLst/>
              <a:rect r="r" b="b" t="t" l="l"/>
              <a:pathLst>
                <a:path h="1578955" w="3726180">
                  <a:moveTo>
                    <a:pt x="0" y="0"/>
                  </a:moveTo>
                  <a:lnTo>
                    <a:pt x="3726180" y="0"/>
                  </a:lnTo>
                  <a:lnTo>
                    <a:pt x="3726180" y="1578955"/>
                  </a:lnTo>
                  <a:lnTo>
                    <a:pt x="0" y="15789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956" r="-22699" b="13115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19050"/>
              <a:ext cx="3726180" cy="1598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5"/>
                </a:lnSpc>
              </a:pPr>
              <a:r>
                <a:rPr lang="en-US" sz="226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Speeds up investigation of operational issues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13373100" y="6926580"/>
            <a:ext cx="3909060" cy="1783080"/>
            <a:chOff x="0" y="0"/>
            <a:chExt cx="5212080" cy="23774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52120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21208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4956048" y="0"/>
                  </a:lnTo>
                  <a:cubicBezTo>
                    <a:pt x="5097399" y="0"/>
                    <a:pt x="5212080" y="114681"/>
                    <a:pt x="5212080" y="256032"/>
                  </a:cubicBezTo>
                  <a:lnTo>
                    <a:pt x="5212080" y="2121408"/>
                  </a:lnTo>
                  <a:cubicBezTo>
                    <a:pt x="5212080" y="2262759"/>
                    <a:pt x="5097399" y="2377440"/>
                    <a:pt x="4956048" y="2377440"/>
                  </a:cubicBezTo>
                  <a:lnTo>
                    <a:pt x="256032" y="2377440"/>
                  </a:lnTo>
                  <a:cubicBezTo>
                    <a:pt x="114681" y="2377440"/>
                    <a:pt x="0" y="2262759"/>
                    <a:pt x="0" y="212140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647420" y="7173468"/>
            <a:ext cx="685800" cy="685800"/>
            <a:chOff x="0" y="0"/>
            <a:chExt cx="914400" cy="9144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801725" y="7327773"/>
            <a:ext cx="377190" cy="377190"/>
            <a:chOff x="0" y="0"/>
            <a:chExt cx="502920" cy="502920"/>
          </a:xfrm>
        </p:grpSpPr>
        <p:sp>
          <p:nvSpPr>
            <p:cNvPr name="Freeform 174" id="174" descr="/home/claude/deck/icons/checkcircle_1B4332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647420" y="7955280"/>
            <a:ext cx="3429000" cy="685800"/>
            <a:chOff x="0" y="0"/>
            <a:chExt cx="4572000" cy="91440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356" r="0" b="-47358"/>
              </a:stretch>
            </a:blip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4528482" y="7225070"/>
            <a:ext cx="2524621" cy="1184216"/>
            <a:chOff x="0" y="0"/>
            <a:chExt cx="3366161" cy="1578955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3366162" cy="1578955"/>
            </a:xfrm>
            <a:custGeom>
              <a:avLst/>
              <a:gdLst/>
              <a:ahLst/>
              <a:cxnLst/>
              <a:rect r="r" b="b" t="t" l="l"/>
              <a:pathLst>
                <a:path h="1578955" w="3366162">
                  <a:moveTo>
                    <a:pt x="0" y="0"/>
                  </a:moveTo>
                  <a:lnTo>
                    <a:pt x="3366162" y="0"/>
                  </a:lnTo>
                  <a:lnTo>
                    <a:pt x="3366162" y="1578955"/>
                  </a:lnTo>
                  <a:lnTo>
                    <a:pt x="0" y="15789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956" r="-35822" b="13115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19050"/>
              <a:ext cx="3366161" cy="1598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5"/>
                </a:lnSpc>
              </a:pPr>
              <a:r>
                <a:rPr lang="en-US" sz="226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Sharper, faster, data-driven decisions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2224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17053103" y="9572625"/>
            <a:ext cx="822960" cy="448586"/>
            <a:chOff x="0" y="0"/>
            <a:chExt cx="1097280" cy="598114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1097280" cy="598114"/>
            </a:xfrm>
            <a:custGeom>
              <a:avLst/>
              <a:gdLst/>
              <a:ahLst/>
              <a:cxnLst/>
              <a:rect r="r" b="b" t="t" l="l"/>
              <a:pathLst>
                <a:path h="59811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98114"/>
                  </a:lnTo>
                  <a:lnTo>
                    <a:pt x="0" y="598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1901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0"/>
              <a:ext cx="1097280" cy="598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59"/>
                </a:lnSpc>
              </a:pPr>
              <a:r>
                <a:rPr lang="en-US" sz="229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12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191" id="191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193" id="193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-31081" r="0" b="-31081"/>
              </a:stretch>
            </a:blip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196" id="196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-347" r="0" b="-345"/>
              </a:stretch>
            </a:blipFill>
          </p:spPr>
        </p:sp>
      </p:grpSp>
      <p:grpSp>
        <p:nvGrpSpPr>
          <p:cNvPr name="Group 198" id="198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9525"/>
              <a:ext cx="29260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205" id="205"/>
          <p:cNvGrpSpPr/>
          <p:nvPr/>
        </p:nvGrpSpPr>
        <p:grpSpPr>
          <a:xfrm rot="0">
            <a:off x="17146905" y="9417628"/>
            <a:ext cx="891540" cy="595052"/>
            <a:chOff x="0" y="0"/>
            <a:chExt cx="1188720" cy="793403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207" id="207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69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CHAPTER 5 · DASHBOARD &amp; VISUALIZATION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1091375"/>
            <a:ext cx="16299180" cy="1042987"/>
            <a:chOff x="0" y="0"/>
            <a:chExt cx="21732240" cy="13906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32239" cy="1390650"/>
            </a:xfrm>
            <a:custGeom>
              <a:avLst/>
              <a:gdLst/>
              <a:ahLst/>
              <a:cxnLst/>
              <a:rect r="r" b="b" t="t" l="l"/>
              <a:pathLst>
                <a:path h="1390650" w="21732239">
                  <a:moveTo>
                    <a:pt x="0" y="0"/>
                  </a:moveTo>
                  <a:lnTo>
                    <a:pt x="21732239" y="0"/>
                  </a:lnTo>
                  <a:lnTo>
                    <a:pt x="21732239" y="1390650"/>
                  </a:lnTo>
                  <a:lnTo>
                    <a:pt x="0" y="13906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053" r="11640" b="-21905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173224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80"/>
                </a:lnSpc>
              </a:pPr>
              <a:r>
                <a:rPr lang="en-US" sz="4900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Designed First in Figma. Built to Perform in Power BI.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057400"/>
            <a:ext cx="16322040" cy="754380"/>
            <a:chOff x="0" y="0"/>
            <a:chExt cx="2176272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62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291" r="0" b="-37129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2028825"/>
            <a:ext cx="16322040" cy="923017"/>
            <a:chOff x="0" y="0"/>
            <a:chExt cx="21762720" cy="12306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62720" cy="1230690"/>
            </a:xfrm>
            <a:custGeom>
              <a:avLst/>
              <a:gdLst/>
              <a:ahLst/>
              <a:cxnLst/>
              <a:rect r="r" b="b" t="t" l="l"/>
              <a:pathLst>
                <a:path h="123069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30690"/>
                  </a:lnTo>
                  <a:lnTo>
                    <a:pt x="0" y="123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2148" r="0" b="-2869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762720" cy="1240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9"/>
                </a:lnSpc>
              </a:pPr>
              <a:r>
                <a:rPr lang="en-US" sz="2674" i="true">
                  <a:solidFill>
                    <a:srgbClr val="5B6B63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A design-first approach defined the full experience — layouts, navigation, color palette, and KPI placement — before a single visual was built, ensuring consistency across all seven pages.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3017520"/>
            <a:ext cx="5143500" cy="6172200"/>
            <a:chOff x="0" y="0"/>
            <a:chExt cx="6858000" cy="822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58000" cy="8229600"/>
            </a:xfrm>
            <a:custGeom>
              <a:avLst/>
              <a:gdLst/>
              <a:ahLst/>
              <a:cxnLst/>
              <a:rect r="r" b="b" t="t" l="l"/>
              <a:pathLst>
                <a:path h="8229600" w="685800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6601968" y="0"/>
                  </a:lnTo>
                  <a:cubicBezTo>
                    <a:pt x="6743319" y="0"/>
                    <a:pt x="6858000" y="114681"/>
                    <a:pt x="6858000" y="256032"/>
                  </a:cubicBezTo>
                  <a:lnTo>
                    <a:pt x="6858000" y="7973568"/>
                  </a:lnTo>
                  <a:cubicBezTo>
                    <a:pt x="6858000" y="8114919"/>
                    <a:pt x="6743319" y="8229600"/>
                    <a:pt x="6601968" y="8229600"/>
                  </a:cubicBezTo>
                  <a:lnTo>
                    <a:pt x="256032" y="8229600"/>
                  </a:lnTo>
                  <a:cubicBezTo>
                    <a:pt x="114681" y="8229600"/>
                    <a:pt x="0" y="8114919"/>
                    <a:pt x="0" y="7973568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71600" y="3401568"/>
            <a:ext cx="850392" cy="850392"/>
            <a:chOff x="0" y="0"/>
            <a:chExt cx="1133856" cy="11338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558690" y="3588658"/>
            <a:ext cx="476250" cy="476250"/>
            <a:chOff x="0" y="0"/>
            <a:chExt cx="635000" cy="635000"/>
          </a:xfrm>
        </p:grpSpPr>
        <p:sp>
          <p:nvSpPr>
            <p:cNvPr name="Freeform 22" id="22" descr="/home/claude/deck/icons/sitemap_FFFFFF.png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0" y="0"/>
                  </a:moveTo>
                  <a:lnTo>
                    <a:pt x="635000" y="0"/>
                  </a:lnTo>
                  <a:lnTo>
                    <a:pt x="6350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400300" y="3497580"/>
            <a:ext cx="3566160" cy="685800"/>
            <a:chOff x="0" y="0"/>
            <a:chExt cx="475488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51" r="0" b="-51252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400300" y="3490436"/>
            <a:ext cx="3566160" cy="692944"/>
            <a:chOff x="0" y="0"/>
            <a:chExt cx="4754880" cy="9239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54880" cy="923925"/>
            </a:xfrm>
            <a:custGeom>
              <a:avLst/>
              <a:gdLst/>
              <a:ahLst/>
              <a:cxnLst/>
              <a:rect r="r" b="b" t="t" l="l"/>
              <a:pathLst>
                <a:path h="92392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277" r="0" b="-5027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475488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9"/>
                </a:lnSpc>
              </a:pPr>
              <a:r>
                <a:rPr lang="en-US" sz="2824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Visual Hierarchy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71600" y="4594860"/>
            <a:ext cx="466344" cy="466344"/>
            <a:chOff x="0" y="0"/>
            <a:chExt cx="621792" cy="6217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71600" y="4594860"/>
            <a:ext cx="466344" cy="466344"/>
            <a:chOff x="0" y="0"/>
            <a:chExt cx="621792" cy="6217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71600" y="4573429"/>
            <a:ext cx="466344" cy="487775"/>
            <a:chOff x="0" y="0"/>
            <a:chExt cx="621792" cy="65036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1792" cy="650367"/>
            </a:xfrm>
            <a:custGeom>
              <a:avLst/>
              <a:gdLst/>
              <a:ahLst/>
              <a:cxnLst/>
              <a:rect r="r" b="b" t="t" l="l"/>
              <a:pathLst>
                <a:path h="650367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50367"/>
                  </a:lnTo>
                  <a:lnTo>
                    <a:pt x="0" y="6503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199" t="0" r="-8419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39"/>
                </a:lnSpc>
              </a:pPr>
              <a:r>
                <a:rPr lang="en-US" sz="244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02536" y="4553712"/>
            <a:ext cx="3909060" cy="754380"/>
            <a:chOff x="0" y="0"/>
            <a:chExt cx="521208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12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97" r="0" b="-50897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002536" y="4510850"/>
            <a:ext cx="3909060" cy="894193"/>
            <a:chOff x="0" y="0"/>
            <a:chExt cx="5212080" cy="119225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212080" cy="1192257"/>
            </a:xfrm>
            <a:custGeom>
              <a:avLst/>
              <a:gdLst/>
              <a:ahLst/>
              <a:cxnLst/>
              <a:rect r="r" b="b" t="t" l="l"/>
              <a:pathLst>
                <a:path h="1192257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192257"/>
                  </a:lnTo>
                  <a:lnTo>
                    <a:pt x="0" y="11922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602" r="0" b="-2975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212080" cy="12303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8"/>
                </a:lnSpc>
              </a:pPr>
              <a:r>
                <a:rPr lang="en-US" sz="241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Executive KPI cards up top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71600" y="5664708"/>
            <a:ext cx="466344" cy="466344"/>
            <a:chOff x="0" y="0"/>
            <a:chExt cx="621792" cy="6217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71600" y="5664708"/>
            <a:ext cx="466344" cy="466344"/>
            <a:chOff x="0" y="0"/>
            <a:chExt cx="621792" cy="6217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71600" y="5643277"/>
            <a:ext cx="466344" cy="487775"/>
            <a:chOff x="0" y="0"/>
            <a:chExt cx="621792" cy="65036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1792" cy="650367"/>
            </a:xfrm>
            <a:custGeom>
              <a:avLst/>
              <a:gdLst/>
              <a:ahLst/>
              <a:cxnLst/>
              <a:rect r="r" b="b" t="t" l="l"/>
              <a:pathLst>
                <a:path h="650367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50367"/>
                  </a:lnTo>
                  <a:lnTo>
                    <a:pt x="0" y="6503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199" t="0" r="-84199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39"/>
                </a:lnSpc>
              </a:pPr>
              <a:r>
                <a:rPr lang="en-US" sz="244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002536" y="5623560"/>
            <a:ext cx="3909060" cy="754380"/>
            <a:chOff x="0" y="0"/>
            <a:chExt cx="5212080" cy="1005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12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97" r="0" b="-50897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2002536" y="5580697"/>
            <a:ext cx="3909060" cy="894193"/>
            <a:chOff x="0" y="0"/>
            <a:chExt cx="5212080" cy="119225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212080" cy="1192257"/>
            </a:xfrm>
            <a:custGeom>
              <a:avLst/>
              <a:gdLst/>
              <a:ahLst/>
              <a:cxnLst/>
              <a:rect r="r" b="b" t="t" l="l"/>
              <a:pathLst>
                <a:path h="1192257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192257"/>
                  </a:lnTo>
                  <a:lnTo>
                    <a:pt x="0" y="11922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602" r="0" b="-2975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5212080" cy="12303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8"/>
                </a:lnSpc>
              </a:pPr>
              <a:r>
                <a:rPr lang="en-US" sz="241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Macro-trend charts mid-page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71600" y="6734556"/>
            <a:ext cx="466344" cy="466344"/>
            <a:chOff x="0" y="0"/>
            <a:chExt cx="621792" cy="6217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71600" y="6734556"/>
            <a:ext cx="466344" cy="466344"/>
            <a:chOff x="0" y="0"/>
            <a:chExt cx="621792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71600" y="6713125"/>
            <a:ext cx="466344" cy="487775"/>
            <a:chOff x="0" y="0"/>
            <a:chExt cx="621792" cy="65036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1792" cy="650367"/>
            </a:xfrm>
            <a:custGeom>
              <a:avLst/>
              <a:gdLst/>
              <a:ahLst/>
              <a:cxnLst/>
              <a:rect r="r" b="b" t="t" l="l"/>
              <a:pathLst>
                <a:path h="650367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50367"/>
                  </a:lnTo>
                  <a:lnTo>
                    <a:pt x="0" y="6503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199" t="0" r="-84199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9525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39"/>
                </a:lnSpc>
              </a:pPr>
              <a:r>
                <a:rPr lang="en-US" sz="244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002536" y="6693408"/>
            <a:ext cx="3909060" cy="754380"/>
            <a:chOff x="0" y="0"/>
            <a:chExt cx="5212080" cy="1005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212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97" r="0" b="-50897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2002536" y="6650546"/>
            <a:ext cx="3909060" cy="894193"/>
            <a:chOff x="0" y="0"/>
            <a:chExt cx="5212080" cy="119225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212080" cy="1192257"/>
            </a:xfrm>
            <a:custGeom>
              <a:avLst/>
              <a:gdLst/>
              <a:ahLst/>
              <a:cxnLst/>
              <a:rect r="r" b="b" t="t" l="l"/>
              <a:pathLst>
                <a:path h="1192257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192257"/>
                  </a:lnTo>
                  <a:lnTo>
                    <a:pt x="0" y="11922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602" r="0" b="-2975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5212080" cy="12303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8"/>
                </a:lnSpc>
              </a:pPr>
              <a:r>
                <a:rPr lang="en-US" sz="241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Granular data matrices below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71600" y="7804404"/>
            <a:ext cx="466344" cy="466344"/>
            <a:chOff x="0" y="0"/>
            <a:chExt cx="621792" cy="6217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71600" y="7804404"/>
            <a:ext cx="466344" cy="466344"/>
            <a:chOff x="0" y="0"/>
            <a:chExt cx="621792" cy="6217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71600" y="7782973"/>
            <a:ext cx="466344" cy="487775"/>
            <a:chOff x="0" y="0"/>
            <a:chExt cx="621792" cy="65036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21792" cy="650367"/>
            </a:xfrm>
            <a:custGeom>
              <a:avLst/>
              <a:gdLst/>
              <a:ahLst/>
              <a:cxnLst/>
              <a:rect r="r" b="b" t="t" l="l"/>
              <a:pathLst>
                <a:path h="650367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50367"/>
                  </a:lnTo>
                  <a:lnTo>
                    <a:pt x="0" y="6503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199" t="0" r="-84199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9525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39"/>
                </a:lnSpc>
              </a:pPr>
              <a:r>
                <a:rPr lang="en-US" sz="244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2002536" y="7763256"/>
            <a:ext cx="3909060" cy="754380"/>
            <a:chOff x="0" y="0"/>
            <a:chExt cx="5212080" cy="10058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212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97" r="0" b="-50897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2002536" y="7720394"/>
            <a:ext cx="3909060" cy="797243"/>
            <a:chOff x="0" y="0"/>
            <a:chExt cx="5212080" cy="106299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212080" cy="1062990"/>
            </a:xfrm>
            <a:custGeom>
              <a:avLst/>
              <a:gdLst/>
              <a:ahLst/>
              <a:cxnLst/>
              <a:rect r="r" b="b" t="t" l="l"/>
              <a:pathLst>
                <a:path h="106299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62990"/>
                  </a:lnTo>
                  <a:lnTo>
                    <a:pt x="0" y="10629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539" r="0" b="-45539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5212080" cy="1101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8"/>
                </a:lnSpc>
              </a:pPr>
              <a:r>
                <a:rPr lang="en-US" sz="241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Fixed navigation sidebar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377940" y="3017520"/>
            <a:ext cx="5143500" cy="6172200"/>
            <a:chOff x="0" y="0"/>
            <a:chExt cx="6858000" cy="82296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858000" cy="8229600"/>
            </a:xfrm>
            <a:custGeom>
              <a:avLst/>
              <a:gdLst/>
              <a:ahLst/>
              <a:cxnLst/>
              <a:rect r="r" b="b" t="t" l="l"/>
              <a:pathLst>
                <a:path h="8229600" w="685800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6601968" y="0"/>
                  </a:lnTo>
                  <a:cubicBezTo>
                    <a:pt x="6743319" y="0"/>
                    <a:pt x="6858000" y="114681"/>
                    <a:pt x="6858000" y="256032"/>
                  </a:cubicBezTo>
                  <a:lnTo>
                    <a:pt x="6858000" y="7973568"/>
                  </a:lnTo>
                  <a:cubicBezTo>
                    <a:pt x="6858000" y="8114919"/>
                    <a:pt x="6743319" y="8229600"/>
                    <a:pt x="6601968" y="8229600"/>
                  </a:cubicBezTo>
                  <a:lnTo>
                    <a:pt x="256032" y="8229600"/>
                  </a:lnTo>
                  <a:cubicBezTo>
                    <a:pt x="114681" y="8229600"/>
                    <a:pt x="0" y="8114919"/>
                    <a:pt x="0" y="797356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6789420" y="3401568"/>
            <a:ext cx="850392" cy="850392"/>
            <a:chOff x="0" y="0"/>
            <a:chExt cx="1133856" cy="113385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976510" y="3588658"/>
            <a:ext cx="476250" cy="476250"/>
            <a:chOff x="0" y="0"/>
            <a:chExt cx="635000" cy="635000"/>
          </a:xfrm>
        </p:grpSpPr>
        <p:sp>
          <p:nvSpPr>
            <p:cNvPr name="Freeform 81" id="81" descr="/home/claude/deck/icons/chartpie_1B4332.png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0" y="0"/>
                  </a:moveTo>
                  <a:lnTo>
                    <a:pt x="635000" y="0"/>
                  </a:lnTo>
                  <a:lnTo>
                    <a:pt x="6350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7818120" y="3497580"/>
            <a:ext cx="3566160" cy="685800"/>
            <a:chOff x="0" y="0"/>
            <a:chExt cx="4754880" cy="9144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51" r="0" b="-51252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7818120" y="3490436"/>
            <a:ext cx="3566160" cy="692944"/>
            <a:chOff x="0" y="0"/>
            <a:chExt cx="4754880" cy="92392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754880" cy="923925"/>
            </a:xfrm>
            <a:custGeom>
              <a:avLst/>
              <a:gdLst/>
              <a:ahLst/>
              <a:cxnLst/>
              <a:rect r="r" b="b" t="t" l="l"/>
              <a:pathLst>
                <a:path h="92392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277" r="0" b="-5027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9525"/>
              <a:ext cx="475488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9"/>
                </a:lnSpc>
              </a:pPr>
              <a:r>
                <a:rPr lang="en-US" sz="2824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Color Psychology</a:t>
              </a:r>
            </a:p>
          </p:txBody>
        </p:sp>
      </p:grpSp>
      <p:sp>
        <p:nvSpPr>
          <p:cNvPr name="Freeform 87" id="87"/>
          <p:cNvSpPr/>
          <p:nvPr/>
        </p:nvSpPr>
        <p:spPr>
          <a:xfrm flipH="false" flipV="false" rot="0">
            <a:off x="6768589" y="4642609"/>
            <a:ext cx="590312" cy="590312"/>
          </a:xfrm>
          <a:custGeom>
            <a:avLst/>
            <a:gdLst/>
            <a:ahLst/>
            <a:cxnLst/>
            <a:rect r="r" b="b" t="t" l="l"/>
            <a:pathLst>
              <a:path h="590312" w="590312">
                <a:moveTo>
                  <a:pt x="0" y="0"/>
                </a:moveTo>
                <a:lnTo>
                  <a:pt x="590312" y="0"/>
                </a:lnTo>
                <a:lnTo>
                  <a:pt x="590312" y="590312"/>
                </a:lnTo>
                <a:lnTo>
                  <a:pt x="0" y="5903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8" id="88"/>
          <p:cNvGrpSpPr/>
          <p:nvPr/>
        </p:nvGrpSpPr>
        <p:grpSpPr>
          <a:xfrm rot="0">
            <a:off x="7543800" y="4526280"/>
            <a:ext cx="3771900" cy="1234440"/>
            <a:chOff x="0" y="0"/>
            <a:chExt cx="5029200" cy="16459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029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96" r="0" b="-9496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7543800" y="4469130"/>
            <a:ext cx="3771900" cy="1322308"/>
            <a:chOff x="0" y="0"/>
            <a:chExt cx="5029200" cy="176307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029200" cy="1763077"/>
            </a:xfrm>
            <a:custGeom>
              <a:avLst/>
              <a:gdLst/>
              <a:ahLst/>
              <a:cxnLst/>
              <a:rect r="r" b="b" t="t" l="l"/>
              <a:pathLst>
                <a:path h="176307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763077"/>
                  </a:lnTo>
                  <a:lnTo>
                    <a:pt x="0" y="17630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42" r="0" b="-4419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5029200" cy="1810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344">
                  <a:solidFill>
                    <a:srgbClr val="E4EFE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Alert Red — negative ROI, Bleeding SKUs, refund leakage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6768589" y="6082789"/>
            <a:ext cx="590312" cy="590312"/>
          </a:xfrm>
          <a:custGeom>
            <a:avLst/>
            <a:gdLst/>
            <a:ahLst/>
            <a:cxnLst/>
            <a:rect r="r" b="b" t="t" l="l"/>
            <a:pathLst>
              <a:path h="590312" w="590312">
                <a:moveTo>
                  <a:pt x="0" y="0"/>
                </a:moveTo>
                <a:lnTo>
                  <a:pt x="590312" y="0"/>
                </a:lnTo>
                <a:lnTo>
                  <a:pt x="590312" y="590312"/>
                </a:lnTo>
                <a:lnTo>
                  <a:pt x="0" y="5903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4" id="94"/>
          <p:cNvGrpSpPr/>
          <p:nvPr/>
        </p:nvGrpSpPr>
        <p:grpSpPr>
          <a:xfrm rot="0">
            <a:off x="7543800" y="5966460"/>
            <a:ext cx="3771900" cy="1234440"/>
            <a:chOff x="0" y="0"/>
            <a:chExt cx="5029200" cy="16459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029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96" r="0" b="-9496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7543800" y="5909310"/>
            <a:ext cx="3771900" cy="1322308"/>
            <a:chOff x="0" y="0"/>
            <a:chExt cx="5029200" cy="1763077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029200" cy="1763077"/>
            </a:xfrm>
            <a:custGeom>
              <a:avLst/>
              <a:gdLst/>
              <a:ahLst/>
              <a:cxnLst/>
              <a:rect r="r" b="b" t="t" l="l"/>
              <a:pathLst>
                <a:path h="1763077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763077"/>
                  </a:lnTo>
                  <a:lnTo>
                    <a:pt x="0" y="17630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42" r="0" b="-4419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5029200" cy="1810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344">
                  <a:solidFill>
                    <a:srgbClr val="E4EFE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Growth Green &amp; Deep Teal — healthy revenue &amp; strong margins</a:t>
              </a:r>
            </a:p>
          </p:txBody>
        </p:sp>
      </p:grpSp>
      <p:sp>
        <p:nvSpPr>
          <p:cNvPr name="Freeform 99" id="99"/>
          <p:cNvSpPr/>
          <p:nvPr/>
        </p:nvSpPr>
        <p:spPr>
          <a:xfrm flipH="false" flipV="false" rot="0">
            <a:off x="6768589" y="7522969"/>
            <a:ext cx="590312" cy="590312"/>
          </a:xfrm>
          <a:custGeom>
            <a:avLst/>
            <a:gdLst/>
            <a:ahLst/>
            <a:cxnLst/>
            <a:rect r="r" b="b" t="t" l="l"/>
            <a:pathLst>
              <a:path h="590312" w="590312">
                <a:moveTo>
                  <a:pt x="0" y="0"/>
                </a:moveTo>
                <a:lnTo>
                  <a:pt x="590312" y="0"/>
                </a:lnTo>
                <a:lnTo>
                  <a:pt x="590312" y="590312"/>
                </a:lnTo>
                <a:lnTo>
                  <a:pt x="0" y="5903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7543800" y="7406640"/>
            <a:ext cx="3771900" cy="1234440"/>
            <a:chOff x="0" y="0"/>
            <a:chExt cx="5029200" cy="16459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029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96" r="0" b="-9496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7543800" y="7349490"/>
            <a:ext cx="3771900" cy="1291590"/>
            <a:chOff x="0" y="0"/>
            <a:chExt cx="5029200" cy="172212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029200" cy="1722120"/>
            </a:xfrm>
            <a:custGeom>
              <a:avLst/>
              <a:gdLst/>
              <a:ahLst/>
              <a:cxnLst/>
              <a:rect r="r" b="b" t="t" l="l"/>
              <a:pathLst>
                <a:path h="17221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722120"/>
                  </a:lnTo>
                  <a:lnTo>
                    <a:pt x="0" y="1722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03" r="0" b="-6903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47625"/>
              <a:ext cx="5029200" cy="1769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344">
                  <a:solidFill>
                    <a:srgbClr val="E4EFE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Soft neutrals — clean corporate readability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795760" y="3017520"/>
            <a:ext cx="5486400" cy="6172200"/>
            <a:chOff x="0" y="0"/>
            <a:chExt cx="7315200" cy="82296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315200" cy="8229600"/>
            </a:xfrm>
            <a:custGeom>
              <a:avLst/>
              <a:gdLst/>
              <a:ahLst/>
              <a:cxnLst/>
              <a:rect r="r" b="b" t="t" l="l"/>
              <a:pathLst>
                <a:path h="8229600" w="731520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7059168" y="0"/>
                  </a:lnTo>
                  <a:cubicBezTo>
                    <a:pt x="7200519" y="0"/>
                    <a:pt x="7315200" y="114681"/>
                    <a:pt x="7315200" y="256032"/>
                  </a:cubicBezTo>
                  <a:lnTo>
                    <a:pt x="7315200" y="7973568"/>
                  </a:lnTo>
                  <a:cubicBezTo>
                    <a:pt x="7315200" y="8114919"/>
                    <a:pt x="7200519" y="8229600"/>
                    <a:pt x="7059168" y="8229600"/>
                  </a:cubicBezTo>
                  <a:lnTo>
                    <a:pt x="256032" y="8229600"/>
                  </a:lnTo>
                  <a:cubicBezTo>
                    <a:pt x="114681" y="8229600"/>
                    <a:pt x="0" y="8114919"/>
                    <a:pt x="0" y="7973568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207240" y="3401568"/>
            <a:ext cx="850392" cy="850392"/>
            <a:chOff x="0" y="0"/>
            <a:chExt cx="1133856" cy="113385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C99A3E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2394330" y="3588658"/>
            <a:ext cx="476250" cy="476250"/>
            <a:chOff x="0" y="0"/>
            <a:chExt cx="635000" cy="635000"/>
          </a:xfrm>
        </p:grpSpPr>
        <p:sp>
          <p:nvSpPr>
            <p:cNvPr name="Freeform 110" id="110" descr="/home/claude/deck/icons/filter_FFFFFF.png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0" y="0"/>
                  </a:moveTo>
                  <a:lnTo>
                    <a:pt x="635000" y="0"/>
                  </a:lnTo>
                  <a:lnTo>
                    <a:pt x="63500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3235940" y="3497580"/>
            <a:ext cx="3909060" cy="685800"/>
            <a:chOff x="0" y="0"/>
            <a:chExt cx="5212080" cy="9144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212080" cy="914400"/>
            </a:xfrm>
            <a:custGeom>
              <a:avLst/>
              <a:gdLst/>
              <a:ahLst/>
              <a:cxnLst/>
              <a:rect r="r" b="b" t="t" l="l"/>
              <a:pathLst>
                <a:path h="91440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87" r="0" b="-60987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3235940" y="3490436"/>
            <a:ext cx="3909060" cy="692944"/>
            <a:chOff x="0" y="0"/>
            <a:chExt cx="5212080" cy="923925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212080" cy="923925"/>
            </a:xfrm>
            <a:custGeom>
              <a:avLst/>
              <a:gdLst/>
              <a:ahLst/>
              <a:cxnLst/>
              <a:rect r="r" b="b" t="t" l="l"/>
              <a:pathLst>
                <a:path h="923925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919" r="0" b="-59919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9525"/>
              <a:ext cx="521208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9"/>
                </a:lnSpc>
              </a:pPr>
              <a:r>
                <a:rPr lang="en-US" sz="2824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Dynamic Interactivity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2207240" y="4594860"/>
            <a:ext cx="438912" cy="438912"/>
            <a:chOff x="0" y="0"/>
            <a:chExt cx="585216" cy="585216"/>
          </a:xfrm>
        </p:grpSpPr>
        <p:sp>
          <p:nvSpPr>
            <p:cNvPr name="Freeform 117" id="117" descr="/home/claude/deck/icons/checkcircle_2D6A4F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2783312" y="4512564"/>
            <a:ext cx="4389120" cy="617220"/>
            <a:chOff x="0" y="0"/>
            <a:chExt cx="5852160" cy="82296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852160" cy="822960"/>
            </a:xfrm>
            <a:custGeom>
              <a:avLst/>
              <a:gdLst/>
              <a:ahLst/>
              <a:cxnLst/>
              <a:rect r="r" b="b" t="t" l="l"/>
              <a:pathLst>
                <a:path h="8229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64" r="0" b="-88462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2783312" y="4491133"/>
            <a:ext cx="4389120" cy="638651"/>
            <a:chOff x="0" y="0"/>
            <a:chExt cx="5852160" cy="851535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852160" cy="851535"/>
            </a:xfrm>
            <a:custGeom>
              <a:avLst/>
              <a:gdLst/>
              <a:ahLst/>
              <a:cxnLst/>
              <a:rect r="r" b="b" t="t" l="l"/>
              <a:pathLst>
                <a:path h="851535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51535"/>
                  </a:lnTo>
                  <a:lnTo>
                    <a:pt x="0" y="8515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910" r="0" b="-8391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585216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388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Instant segmentation slicers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2207240" y="5486400"/>
            <a:ext cx="438912" cy="438912"/>
            <a:chOff x="0" y="0"/>
            <a:chExt cx="585216" cy="585216"/>
          </a:xfrm>
        </p:grpSpPr>
        <p:sp>
          <p:nvSpPr>
            <p:cNvPr name="Freeform 124" id="124" descr="/home/claude/deck/icons/checkcircle_2D6A4F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2783312" y="5404104"/>
            <a:ext cx="4389120" cy="617220"/>
            <a:chOff x="0" y="0"/>
            <a:chExt cx="5852160" cy="82296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852160" cy="822960"/>
            </a:xfrm>
            <a:custGeom>
              <a:avLst/>
              <a:gdLst/>
              <a:ahLst/>
              <a:cxnLst/>
              <a:rect r="r" b="b" t="t" l="l"/>
              <a:pathLst>
                <a:path h="8229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64" r="0" b="-88462"/>
              </a:stretch>
            </a:blip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2783312" y="5382673"/>
            <a:ext cx="4389120" cy="638651"/>
            <a:chOff x="0" y="0"/>
            <a:chExt cx="5852160" cy="851535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5852160" cy="851535"/>
            </a:xfrm>
            <a:custGeom>
              <a:avLst/>
              <a:gdLst/>
              <a:ahLst/>
              <a:cxnLst/>
              <a:rect r="r" b="b" t="t" l="l"/>
              <a:pathLst>
                <a:path h="851535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51535"/>
                  </a:lnTo>
                  <a:lnTo>
                    <a:pt x="0" y="8515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910" r="0" b="-8391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0"/>
              <a:ext cx="585216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388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Date range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2207240" y="6377940"/>
            <a:ext cx="438912" cy="438912"/>
            <a:chOff x="0" y="0"/>
            <a:chExt cx="585216" cy="585216"/>
          </a:xfrm>
        </p:grpSpPr>
        <p:sp>
          <p:nvSpPr>
            <p:cNvPr name="Freeform 131" id="131" descr="/home/claude/deck/icons/checkcircle_2D6A4F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2783312" y="6295644"/>
            <a:ext cx="4389120" cy="617220"/>
            <a:chOff x="0" y="0"/>
            <a:chExt cx="5852160" cy="82296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852160" cy="822960"/>
            </a:xfrm>
            <a:custGeom>
              <a:avLst/>
              <a:gdLst/>
              <a:ahLst/>
              <a:cxnLst/>
              <a:rect r="r" b="b" t="t" l="l"/>
              <a:pathLst>
                <a:path h="8229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64" r="0" b="-88462"/>
              </a:stretch>
            </a:blip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2783312" y="6274213"/>
            <a:ext cx="4389120" cy="833637"/>
            <a:chOff x="0" y="0"/>
            <a:chExt cx="5852160" cy="1111516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5852160" cy="1111516"/>
            </a:xfrm>
            <a:custGeom>
              <a:avLst/>
              <a:gdLst/>
              <a:ahLst/>
              <a:cxnLst/>
              <a:rect r="r" b="b" t="t" l="l"/>
              <a:pathLst>
                <a:path h="111151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111516"/>
                  </a:lnTo>
                  <a:lnTo>
                    <a:pt x="0" y="11115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284" r="0" b="-40894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0"/>
              <a:ext cx="5852160" cy="1111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388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Marketplace (UK · DE · FR · IT · ES)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2207240" y="7269480"/>
            <a:ext cx="438912" cy="438912"/>
            <a:chOff x="0" y="0"/>
            <a:chExt cx="585216" cy="585216"/>
          </a:xfrm>
        </p:grpSpPr>
        <p:sp>
          <p:nvSpPr>
            <p:cNvPr name="Freeform 138" id="138" descr="/home/claude/deck/icons/checkcircle_2D6A4F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12783312" y="7187184"/>
            <a:ext cx="4389120" cy="617220"/>
            <a:chOff x="0" y="0"/>
            <a:chExt cx="5852160" cy="82296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5852160" cy="822960"/>
            </a:xfrm>
            <a:custGeom>
              <a:avLst/>
              <a:gdLst/>
              <a:ahLst/>
              <a:cxnLst/>
              <a:rect r="r" b="b" t="t" l="l"/>
              <a:pathLst>
                <a:path h="8229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64" r="0" b="-88462"/>
              </a:stretch>
            </a:blip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12783312" y="7165753"/>
            <a:ext cx="4389120" cy="638651"/>
            <a:chOff x="0" y="0"/>
            <a:chExt cx="5852160" cy="851535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5852160" cy="851535"/>
            </a:xfrm>
            <a:custGeom>
              <a:avLst/>
              <a:gdLst/>
              <a:ahLst/>
              <a:cxnLst/>
              <a:rect r="r" b="b" t="t" l="l"/>
              <a:pathLst>
                <a:path h="851535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51535"/>
                  </a:lnTo>
                  <a:lnTo>
                    <a:pt x="0" y="8515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910" r="0" b="-83910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0"/>
              <a:ext cx="585216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388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Product category &amp; SKU ID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2207240" y="8161020"/>
            <a:ext cx="438912" cy="438912"/>
            <a:chOff x="0" y="0"/>
            <a:chExt cx="585216" cy="585216"/>
          </a:xfrm>
        </p:grpSpPr>
        <p:sp>
          <p:nvSpPr>
            <p:cNvPr name="Freeform 145" id="145" descr="/home/claude/deck/icons/checkcircle_2D6A4F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2783312" y="8078724"/>
            <a:ext cx="4389120" cy="617220"/>
            <a:chOff x="0" y="0"/>
            <a:chExt cx="5852160" cy="82296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5852160" cy="822960"/>
            </a:xfrm>
            <a:custGeom>
              <a:avLst/>
              <a:gdLst/>
              <a:ahLst/>
              <a:cxnLst/>
              <a:rect r="r" b="b" t="t" l="l"/>
              <a:pathLst>
                <a:path h="8229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64" r="0" b="-88462"/>
              </a:stretch>
            </a:blip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12783312" y="8057293"/>
            <a:ext cx="4389120" cy="833637"/>
            <a:chOff x="0" y="0"/>
            <a:chExt cx="5852160" cy="1111516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5852160" cy="1111516"/>
            </a:xfrm>
            <a:custGeom>
              <a:avLst/>
              <a:gdLst/>
              <a:ahLst/>
              <a:cxnLst/>
              <a:rect r="r" b="b" t="t" l="l"/>
              <a:pathLst>
                <a:path h="111151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111516"/>
                  </a:lnTo>
                  <a:lnTo>
                    <a:pt x="0" y="11115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284" r="0" b="-40894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0"/>
              <a:ext cx="5852160" cy="1111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388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Synced nav sidebar every page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2224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7053103" y="9572625"/>
            <a:ext cx="822960" cy="448586"/>
            <a:chOff x="0" y="0"/>
            <a:chExt cx="1097280" cy="598114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1097280" cy="598114"/>
            </a:xfrm>
            <a:custGeom>
              <a:avLst/>
              <a:gdLst/>
              <a:ahLst/>
              <a:cxnLst/>
              <a:rect r="r" b="b" t="t" l="l"/>
              <a:pathLst>
                <a:path h="59811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98114"/>
                  </a:lnTo>
                  <a:lnTo>
                    <a:pt x="0" y="598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1901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1097280" cy="598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59"/>
                </a:lnSpc>
              </a:pPr>
              <a:r>
                <a:rPr lang="en-US" sz="229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13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162" id="162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164" id="164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31081" r="0" b="-31081"/>
              </a:stretch>
            </a:blip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167" id="167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347" r="0" b="-345"/>
              </a:stretch>
            </a:blip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-9525"/>
              <a:ext cx="29260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7116425" y="9417628"/>
            <a:ext cx="891540" cy="595052"/>
            <a:chOff x="0" y="0"/>
            <a:chExt cx="1188720" cy="793403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69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DASHBOARD 1 OF 7  ·  POWER BI COMMAND CENTER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1117568"/>
            <a:ext cx="14401800" cy="1190104"/>
            <a:chOff x="0" y="0"/>
            <a:chExt cx="19202400" cy="1586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586806"/>
            </a:xfrm>
            <a:custGeom>
              <a:avLst/>
              <a:gdLst/>
              <a:ahLst/>
              <a:cxnLst/>
              <a:rect r="r" b="b" t="t" l="l"/>
              <a:pathLst>
                <a:path h="1586806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586806"/>
                  </a:lnTo>
                  <a:lnTo>
                    <a:pt x="0" y="15868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275" r="0" b="-1793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5868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Executive Overview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221992"/>
            <a:ext cx="8298180" cy="1371600"/>
            <a:chOff x="0" y="0"/>
            <a:chExt cx="1106424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642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802" r="0" b="-6780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2150554"/>
            <a:ext cx="8051292" cy="2040497"/>
            <a:chOff x="0" y="0"/>
            <a:chExt cx="10735056" cy="27206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35056" cy="2720662"/>
            </a:xfrm>
            <a:custGeom>
              <a:avLst/>
              <a:gdLst/>
              <a:ahLst/>
              <a:cxnLst/>
              <a:rect r="r" b="b" t="t" l="l"/>
              <a:pathLst>
                <a:path h="2720662" w="10735056">
                  <a:moveTo>
                    <a:pt x="0" y="0"/>
                  </a:moveTo>
                  <a:lnTo>
                    <a:pt x="10735056" y="0"/>
                  </a:lnTo>
                  <a:lnTo>
                    <a:pt x="10735056" y="2720662"/>
                  </a:lnTo>
                  <a:lnTo>
                    <a:pt x="0" y="27206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880" r="-3066" b="-146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0735056" cy="28063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9"/>
                </a:lnSpc>
              </a:pPr>
              <a:r>
                <a:rPr lang="en-US" sz="26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high-level summary of overall business performance across all Amazon marketplaces  built for decision-makers to assess revenue, profitability, and sales trends at a glance.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3730752"/>
            <a:ext cx="8298180" cy="411480"/>
            <a:chOff x="0" y="0"/>
            <a:chExt cx="1106424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64240" cy="548640"/>
            </a:xfrm>
            <a:custGeom>
              <a:avLst/>
              <a:gdLst/>
              <a:ahLst/>
              <a:cxnLst/>
              <a:rect r="r" b="b" t="t" l="l"/>
              <a:pathLst>
                <a:path h="54864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75" r="0" b="-34267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0120" y="4119372"/>
            <a:ext cx="8298180" cy="485401"/>
            <a:chOff x="0" y="0"/>
            <a:chExt cx="11064240" cy="6472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64240" cy="647202"/>
            </a:xfrm>
            <a:custGeom>
              <a:avLst/>
              <a:gdLst/>
              <a:ahLst/>
              <a:cxnLst/>
              <a:rect r="r" b="b" t="t" l="l"/>
              <a:pathLst>
                <a:path h="647202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647202"/>
                  </a:lnTo>
                  <a:lnTo>
                    <a:pt x="0" y="6472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249" r="0" b="-27696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11064240" cy="637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68"/>
                </a:lnSpc>
              </a:pPr>
              <a:r>
                <a:rPr lang="en-US" b="true" sz="2474" spc="353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PRIMARY KPIs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0120" y="4600003"/>
            <a:ext cx="2165794" cy="548640"/>
            <a:chOff x="0" y="0"/>
            <a:chExt cx="2887726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87726" cy="731520"/>
            </a:xfrm>
            <a:custGeom>
              <a:avLst/>
              <a:gdLst/>
              <a:ahLst/>
              <a:cxnLst/>
              <a:rect r="r" b="b" t="t" l="l"/>
              <a:pathLst>
                <a:path h="731520" w="288772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723134" y="0"/>
                  </a:lnTo>
                  <a:cubicBezTo>
                    <a:pt x="2814066" y="0"/>
                    <a:pt x="2887726" y="73660"/>
                    <a:pt x="2887726" y="164592"/>
                  </a:cubicBezTo>
                  <a:lnTo>
                    <a:pt x="2887726" y="566928"/>
                  </a:lnTo>
                  <a:cubicBezTo>
                    <a:pt x="2887726" y="657860"/>
                    <a:pt x="2814066" y="731520"/>
                    <a:pt x="2723134" y="731520"/>
                  </a:cubicBezTo>
                  <a:lnTo>
                    <a:pt x="164592" y="731520"/>
                  </a:lnTo>
                  <a:cubicBezTo>
                    <a:pt x="73660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0120" y="4600003"/>
            <a:ext cx="2165756" cy="548640"/>
            <a:chOff x="0" y="0"/>
            <a:chExt cx="2887675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87726" cy="731520"/>
            </a:xfrm>
            <a:custGeom>
              <a:avLst/>
              <a:gdLst/>
              <a:ahLst/>
              <a:cxnLst/>
              <a:rect r="r" b="b" t="t" l="l"/>
              <a:pathLst>
                <a:path h="731520" w="2887726">
                  <a:moveTo>
                    <a:pt x="0" y="0"/>
                  </a:moveTo>
                  <a:lnTo>
                    <a:pt x="2887726" y="0"/>
                  </a:lnTo>
                  <a:lnTo>
                    <a:pt x="288772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62" r="1" b="-2686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0120" y="4571428"/>
            <a:ext cx="2165756" cy="577215"/>
            <a:chOff x="0" y="0"/>
            <a:chExt cx="2887675" cy="7696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87675" cy="769620"/>
            </a:xfrm>
            <a:custGeom>
              <a:avLst/>
              <a:gdLst/>
              <a:ahLst/>
              <a:cxnLst/>
              <a:rect r="r" b="b" t="t" l="l"/>
              <a:pathLst>
                <a:path h="769620" w="2887675">
                  <a:moveTo>
                    <a:pt x="0" y="0"/>
                  </a:moveTo>
                  <a:lnTo>
                    <a:pt x="2887675" y="0"/>
                  </a:lnTo>
                  <a:lnTo>
                    <a:pt x="2887675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109" r="0" b="-2310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2887675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Revenue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331616" y="4600003"/>
            <a:ext cx="2507266" cy="548640"/>
            <a:chOff x="0" y="0"/>
            <a:chExt cx="3343021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343021" cy="731520"/>
            </a:xfrm>
            <a:custGeom>
              <a:avLst/>
              <a:gdLst/>
              <a:ahLst/>
              <a:cxnLst/>
              <a:rect r="r" b="b" t="t" l="l"/>
              <a:pathLst>
                <a:path h="731520" w="3343021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178429" y="0"/>
                  </a:lnTo>
                  <a:cubicBezTo>
                    <a:pt x="3269361" y="0"/>
                    <a:pt x="3343021" y="73660"/>
                    <a:pt x="3343021" y="164592"/>
                  </a:cubicBezTo>
                  <a:lnTo>
                    <a:pt x="3343021" y="566928"/>
                  </a:lnTo>
                  <a:cubicBezTo>
                    <a:pt x="3343021" y="657860"/>
                    <a:pt x="3269361" y="731520"/>
                    <a:pt x="3178429" y="731520"/>
                  </a:cubicBezTo>
                  <a:lnTo>
                    <a:pt x="164592" y="731520"/>
                  </a:lnTo>
                  <a:cubicBezTo>
                    <a:pt x="73660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331616" y="4600003"/>
            <a:ext cx="2507285" cy="548640"/>
            <a:chOff x="0" y="0"/>
            <a:chExt cx="3343046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43021" cy="731520"/>
            </a:xfrm>
            <a:custGeom>
              <a:avLst/>
              <a:gdLst/>
              <a:ahLst/>
              <a:cxnLst/>
              <a:rect r="r" b="b" t="t" l="l"/>
              <a:pathLst>
                <a:path h="731520" w="3343021">
                  <a:moveTo>
                    <a:pt x="0" y="0"/>
                  </a:moveTo>
                  <a:lnTo>
                    <a:pt x="3343021" y="0"/>
                  </a:lnTo>
                  <a:lnTo>
                    <a:pt x="334302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984" r="0" b="-38984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331616" y="4571428"/>
            <a:ext cx="2507285" cy="577215"/>
            <a:chOff x="0" y="0"/>
            <a:chExt cx="3343046" cy="7696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343047" cy="769620"/>
            </a:xfrm>
            <a:custGeom>
              <a:avLst/>
              <a:gdLst/>
              <a:ahLst/>
              <a:cxnLst/>
              <a:rect r="r" b="b" t="t" l="l"/>
              <a:pathLst>
                <a:path h="769620" w="3343047">
                  <a:moveTo>
                    <a:pt x="0" y="0"/>
                  </a:moveTo>
                  <a:lnTo>
                    <a:pt x="3343047" y="0"/>
                  </a:lnTo>
                  <a:lnTo>
                    <a:pt x="3343047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638" r="0" b="-3463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3343046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Net Profit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044641" y="4600003"/>
            <a:ext cx="2507266" cy="548640"/>
            <a:chOff x="0" y="0"/>
            <a:chExt cx="3343021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343021" cy="731520"/>
            </a:xfrm>
            <a:custGeom>
              <a:avLst/>
              <a:gdLst/>
              <a:ahLst/>
              <a:cxnLst/>
              <a:rect r="r" b="b" t="t" l="l"/>
              <a:pathLst>
                <a:path h="731520" w="3343021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178429" y="0"/>
                  </a:lnTo>
                  <a:cubicBezTo>
                    <a:pt x="3269361" y="0"/>
                    <a:pt x="3343021" y="73660"/>
                    <a:pt x="3343021" y="164592"/>
                  </a:cubicBezTo>
                  <a:lnTo>
                    <a:pt x="3343021" y="566928"/>
                  </a:lnTo>
                  <a:cubicBezTo>
                    <a:pt x="3343021" y="657860"/>
                    <a:pt x="3269361" y="731520"/>
                    <a:pt x="3178429" y="731520"/>
                  </a:cubicBezTo>
                  <a:lnTo>
                    <a:pt x="164592" y="731520"/>
                  </a:lnTo>
                  <a:cubicBezTo>
                    <a:pt x="73660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044641" y="4600003"/>
            <a:ext cx="2507285" cy="548640"/>
            <a:chOff x="0" y="0"/>
            <a:chExt cx="3343046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43021" cy="731520"/>
            </a:xfrm>
            <a:custGeom>
              <a:avLst/>
              <a:gdLst/>
              <a:ahLst/>
              <a:cxnLst/>
              <a:rect r="r" b="b" t="t" l="l"/>
              <a:pathLst>
                <a:path h="731520" w="3343021">
                  <a:moveTo>
                    <a:pt x="0" y="0"/>
                  </a:moveTo>
                  <a:lnTo>
                    <a:pt x="3343021" y="0"/>
                  </a:lnTo>
                  <a:lnTo>
                    <a:pt x="334302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984" r="0" b="-38984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044641" y="4571428"/>
            <a:ext cx="2507285" cy="577215"/>
            <a:chOff x="0" y="0"/>
            <a:chExt cx="3343046" cy="7696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343047" cy="769620"/>
            </a:xfrm>
            <a:custGeom>
              <a:avLst/>
              <a:gdLst/>
              <a:ahLst/>
              <a:cxnLst/>
              <a:rect r="r" b="b" t="t" l="l"/>
              <a:pathLst>
                <a:path h="769620" w="3343047">
                  <a:moveTo>
                    <a:pt x="0" y="0"/>
                  </a:moveTo>
                  <a:lnTo>
                    <a:pt x="3343047" y="0"/>
                  </a:lnTo>
                  <a:lnTo>
                    <a:pt x="3343047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638" r="0" b="-3463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9525"/>
              <a:ext cx="3343046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Units Sold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60120" y="5285803"/>
            <a:ext cx="2051876" cy="548640"/>
            <a:chOff x="0" y="0"/>
            <a:chExt cx="2735834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735834" cy="731520"/>
            </a:xfrm>
            <a:custGeom>
              <a:avLst/>
              <a:gdLst/>
              <a:ahLst/>
              <a:cxnLst/>
              <a:rect r="r" b="b" t="t" l="l"/>
              <a:pathLst>
                <a:path h="731520" w="273583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571242" y="0"/>
                  </a:lnTo>
                  <a:cubicBezTo>
                    <a:pt x="2662174" y="0"/>
                    <a:pt x="2735834" y="73660"/>
                    <a:pt x="2735834" y="164592"/>
                  </a:cubicBezTo>
                  <a:lnTo>
                    <a:pt x="2735834" y="566928"/>
                  </a:lnTo>
                  <a:cubicBezTo>
                    <a:pt x="2735834" y="657860"/>
                    <a:pt x="2662174" y="731520"/>
                    <a:pt x="2571242" y="731520"/>
                  </a:cubicBezTo>
                  <a:lnTo>
                    <a:pt x="164592" y="731520"/>
                  </a:lnTo>
                  <a:cubicBezTo>
                    <a:pt x="73660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60120" y="5285803"/>
            <a:ext cx="2051914" cy="548640"/>
            <a:chOff x="0" y="0"/>
            <a:chExt cx="2735885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735834" cy="731520"/>
            </a:xfrm>
            <a:custGeom>
              <a:avLst/>
              <a:gdLst/>
              <a:ahLst/>
              <a:cxnLst/>
              <a:rect r="r" b="b" t="t" l="l"/>
              <a:pathLst>
                <a:path h="731520" w="2735834">
                  <a:moveTo>
                    <a:pt x="0" y="0"/>
                  </a:moveTo>
                  <a:lnTo>
                    <a:pt x="2735834" y="0"/>
                  </a:lnTo>
                  <a:lnTo>
                    <a:pt x="273583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22" r="-1" b="-22824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0120" y="5257228"/>
            <a:ext cx="2051914" cy="577215"/>
            <a:chOff x="0" y="0"/>
            <a:chExt cx="2735885" cy="7696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735885" cy="769620"/>
            </a:xfrm>
            <a:custGeom>
              <a:avLst/>
              <a:gdLst/>
              <a:ahLst/>
              <a:cxnLst/>
              <a:rect r="r" b="b" t="t" l="l"/>
              <a:pathLst>
                <a:path h="769620" w="2735885">
                  <a:moveTo>
                    <a:pt x="0" y="0"/>
                  </a:moveTo>
                  <a:lnTo>
                    <a:pt x="2735885" y="0"/>
                  </a:lnTo>
                  <a:lnTo>
                    <a:pt x="2735885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66" r="0" b="-1926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9525"/>
              <a:ext cx="2735885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Orders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217774" y="5285803"/>
            <a:ext cx="1482662" cy="548640"/>
            <a:chOff x="0" y="0"/>
            <a:chExt cx="1976882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76882" cy="731520"/>
            </a:xfrm>
            <a:custGeom>
              <a:avLst/>
              <a:gdLst/>
              <a:ahLst/>
              <a:cxnLst/>
              <a:rect r="r" b="b" t="t" l="l"/>
              <a:pathLst>
                <a:path h="731520" w="1976882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812290" y="0"/>
                  </a:lnTo>
                  <a:cubicBezTo>
                    <a:pt x="1903222" y="0"/>
                    <a:pt x="1976882" y="73660"/>
                    <a:pt x="1976882" y="164592"/>
                  </a:cubicBezTo>
                  <a:lnTo>
                    <a:pt x="1976882" y="566928"/>
                  </a:lnTo>
                  <a:cubicBezTo>
                    <a:pt x="1976882" y="657860"/>
                    <a:pt x="1903222" y="731520"/>
                    <a:pt x="1812290" y="731520"/>
                  </a:cubicBezTo>
                  <a:lnTo>
                    <a:pt x="164592" y="731520"/>
                  </a:lnTo>
                  <a:cubicBezTo>
                    <a:pt x="73660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3217774" y="5285803"/>
            <a:ext cx="1482700" cy="548640"/>
            <a:chOff x="0" y="0"/>
            <a:chExt cx="1976933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76882" cy="731520"/>
            </a:xfrm>
            <a:custGeom>
              <a:avLst/>
              <a:gdLst/>
              <a:ahLst/>
              <a:cxnLst/>
              <a:rect r="r" b="b" t="t" l="l"/>
              <a:pathLst>
                <a:path h="731520" w="1976882">
                  <a:moveTo>
                    <a:pt x="0" y="0"/>
                  </a:moveTo>
                  <a:lnTo>
                    <a:pt x="1976882" y="0"/>
                  </a:lnTo>
                  <a:lnTo>
                    <a:pt x="197688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1" r="-2" b="-2621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3217774" y="5257228"/>
            <a:ext cx="1482700" cy="577215"/>
            <a:chOff x="0" y="0"/>
            <a:chExt cx="1976933" cy="7696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976933" cy="769620"/>
            </a:xfrm>
            <a:custGeom>
              <a:avLst/>
              <a:gdLst/>
              <a:ahLst/>
              <a:cxnLst/>
              <a:rect r="r" b="b" t="t" l="l"/>
              <a:pathLst>
                <a:path h="769620" w="1976933">
                  <a:moveTo>
                    <a:pt x="0" y="0"/>
                  </a:moveTo>
                  <a:lnTo>
                    <a:pt x="1976933" y="0"/>
                  </a:lnTo>
                  <a:lnTo>
                    <a:pt x="1976933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" r="0" b="-5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1976933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Net ROI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4906213" y="5285803"/>
            <a:ext cx="2279618" cy="548640"/>
            <a:chOff x="0" y="0"/>
            <a:chExt cx="3039491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039491" cy="731520"/>
            </a:xfrm>
            <a:custGeom>
              <a:avLst/>
              <a:gdLst/>
              <a:ahLst/>
              <a:cxnLst/>
              <a:rect r="r" b="b" t="t" l="l"/>
              <a:pathLst>
                <a:path h="731520" w="3039491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874899" y="0"/>
                  </a:lnTo>
                  <a:cubicBezTo>
                    <a:pt x="2965831" y="0"/>
                    <a:pt x="3039491" y="73660"/>
                    <a:pt x="3039491" y="164592"/>
                  </a:cubicBezTo>
                  <a:lnTo>
                    <a:pt x="3039491" y="566928"/>
                  </a:lnTo>
                  <a:cubicBezTo>
                    <a:pt x="3039491" y="657860"/>
                    <a:pt x="2965831" y="731520"/>
                    <a:pt x="2874899" y="731520"/>
                  </a:cubicBezTo>
                  <a:lnTo>
                    <a:pt x="164592" y="731520"/>
                  </a:lnTo>
                  <a:cubicBezTo>
                    <a:pt x="73660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906213" y="5285803"/>
            <a:ext cx="2279599" cy="548640"/>
            <a:chOff x="0" y="0"/>
            <a:chExt cx="3039466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039491" cy="731520"/>
            </a:xfrm>
            <a:custGeom>
              <a:avLst/>
              <a:gdLst/>
              <a:ahLst/>
              <a:cxnLst/>
              <a:rect r="r" b="b" t="t" l="l"/>
              <a:pathLst>
                <a:path h="731520" w="3039491">
                  <a:moveTo>
                    <a:pt x="0" y="0"/>
                  </a:moveTo>
                  <a:lnTo>
                    <a:pt x="3039491" y="0"/>
                  </a:lnTo>
                  <a:lnTo>
                    <a:pt x="303949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04" r="0" b="-30902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906213" y="5257228"/>
            <a:ext cx="2279599" cy="577215"/>
            <a:chOff x="0" y="0"/>
            <a:chExt cx="3039466" cy="7696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039465" cy="769620"/>
            </a:xfrm>
            <a:custGeom>
              <a:avLst/>
              <a:gdLst/>
              <a:ahLst/>
              <a:cxnLst/>
              <a:rect r="r" b="b" t="t" l="l"/>
              <a:pathLst>
                <a:path h="769620" w="3039465">
                  <a:moveTo>
                    <a:pt x="0" y="0"/>
                  </a:moveTo>
                  <a:lnTo>
                    <a:pt x="3039465" y="0"/>
                  </a:lnTo>
                  <a:lnTo>
                    <a:pt x="3039465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952" r="0" b="-2695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9525"/>
              <a:ext cx="3039466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PPC Cost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60120" y="6048756"/>
            <a:ext cx="8298180" cy="411480"/>
            <a:chOff x="0" y="0"/>
            <a:chExt cx="1106424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064240" cy="548640"/>
            </a:xfrm>
            <a:custGeom>
              <a:avLst/>
              <a:gdLst/>
              <a:ahLst/>
              <a:cxnLst/>
              <a:rect r="r" b="b" t="t" l="l"/>
              <a:pathLst>
                <a:path h="54864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75" r="0" b="-342673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60120" y="6034468"/>
            <a:ext cx="8298180" cy="485401"/>
            <a:chOff x="0" y="0"/>
            <a:chExt cx="11064240" cy="64720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064240" cy="647202"/>
            </a:xfrm>
            <a:custGeom>
              <a:avLst/>
              <a:gdLst/>
              <a:ahLst/>
              <a:cxnLst/>
              <a:rect r="r" b="b" t="t" l="l"/>
              <a:pathLst>
                <a:path h="647202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647202"/>
                  </a:lnTo>
                  <a:lnTo>
                    <a:pt x="0" y="6472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249" r="0" b="-27696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9525"/>
              <a:ext cx="11064240" cy="637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68"/>
                </a:lnSpc>
              </a:pPr>
              <a:r>
                <a:rPr lang="en-US" b="true" sz="2474" spc="353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KEY VISUALIZATIONS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60120" y="6694935"/>
            <a:ext cx="329184" cy="487855"/>
            <a:chOff x="0" y="0"/>
            <a:chExt cx="438912" cy="650473"/>
          </a:xfrm>
        </p:grpSpPr>
        <p:sp>
          <p:nvSpPr>
            <p:cNvPr name="Freeform 70" id="70" descr="/home/claude/deck/icons/chartbar_7FB069.png"/>
            <p:cNvSpPr/>
            <p:nvPr/>
          </p:nvSpPr>
          <p:spPr>
            <a:xfrm flipH="false" flipV="false" rot="0">
              <a:off x="0" y="0"/>
              <a:ext cx="438912" cy="650473"/>
            </a:xfrm>
            <a:custGeom>
              <a:avLst/>
              <a:gdLst/>
              <a:ahLst/>
              <a:cxnLst/>
              <a:rect r="r" b="b" t="t" l="l"/>
              <a:pathLst>
                <a:path h="650473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650473"/>
                  </a:lnTo>
                  <a:lnTo>
                    <a:pt x="0" y="650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4100" t="0" r="-24100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99032" y="6532317"/>
            <a:ext cx="3669030" cy="1016364"/>
            <a:chOff x="0" y="0"/>
            <a:chExt cx="4892040" cy="13551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92040" cy="1355152"/>
            </a:xfrm>
            <a:custGeom>
              <a:avLst/>
              <a:gdLst/>
              <a:ahLst/>
              <a:cxnLst/>
              <a:rect r="r" b="b" t="t" l="l"/>
              <a:pathLst>
                <a:path h="1355152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355152"/>
                  </a:lnTo>
                  <a:lnTo>
                    <a:pt x="0" y="1355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91" r="0" b="-20291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399032" y="6479381"/>
            <a:ext cx="3669030" cy="1294990"/>
            <a:chOff x="0" y="0"/>
            <a:chExt cx="4892040" cy="172665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892040" cy="1726653"/>
            </a:xfrm>
            <a:custGeom>
              <a:avLst/>
              <a:gdLst/>
              <a:ahLst/>
              <a:cxnLst/>
              <a:rect r="r" b="b" t="t" l="l"/>
              <a:pathLst>
                <a:path h="1726653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726653"/>
                  </a:lnTo>
                  <a:lnTo>
                    <a:pt x="0" y="17266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347" r="0" b="1693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4892040" cy="1745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7"/>
                </a:lnSpc>
              </a:pPr>
              <a:r>
                <a:rPr lang="en-US" sz="23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Monthly Revenue Growth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177790" y="6694935"/>
            <a:ext cx="329184" cy="487855"/>
            <a:chOff x="0" y="0"/>
            <a:chExt cx="438912" cy="650473"/>
          </a:xfrm>
        </p:grpSpPr>
        <p:sp>
          <p:nvSpPr>
            <p:cNvPr name="Freeform 77" id="77" descr="/home/claude/deck/icons/chartbar_7FB069.png"/>
            <p:cNvSpPr/>
            <p:nvPr/>
          </p:nvSpPr>
          <p:spPr>
            <a:xfrm flipH="false" flipV="false" rot="0">
              <a:off x="0" y="0"/>
              <a:ext cx="438912" cy="650473"/>
            </a:xfrm>
            <a:custGeom>
              <a:avLst/>
              <a:gdLst/>
              <a:ahLst/>
              <a:cxnLst/>
              <a:rect r="r" b="b" t="t" l="l"/>
              <a:pathLst>
                <a:path h="650473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650473"/>
                  </a:lnTo>
                  <a:lnTo>
                    <a:pt x="0" y="650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4100" t="0" r="-2410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5616702" y="6532317"/>
            <a:ext cx="3669030" cy="1016364"/>
            <a:chOff x="0" y="0"/>
            <a:chExt cx="4892040" cy="135515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892040" cy="1355152"/>
            </a:xfrm>
            <a:custGeom>
              <a:avLst/>
              <a:gdLst/>
              <a:ahLst/>
              <a:cxnLst/>
              <a:rect r="r" b="b" t="t" l="l"/>
              <a:pathLst>
                <a:path h="1355152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355152"/>
                  </a:lnTo>
                  <a:lnTo>
                    <a:pt x="0" y="1355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91" r="0" b="-20291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5616702" y="6479381"/>
            <a:ext cx="3669030" cy="1294990"/>
            <a:chOff x="0" y="0"/>
            <a:chExt cx="4892040" cy="172665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92040" cy="1726653"/>
            </a:xfrm>
            <a:custGeom>
              <a:avLst/>
              <a:gdLst/>
              <a:ahLst/>
              <a:cxnLst/>
              <a:rect r="r" b="b" t="t" l="l"/>
              <a:pathLst>
                <a:path h="1726653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726653"/>
                  </a:lnTo>
                  <a:lnTo>
                    <a:pt x="0" y="17266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347" r="0" b="1693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4892040" cy="1745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7"/>
                </a:lnSpc>
              </a:pPr>
              <a:r>
                <a:rPr lang="en-US" sz="23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Net Margin by Marketplace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0120" y="7751954"/>
            <a:ext cx="329184" cy="487855"/>
            <a:chOff x="0" y="0"/>
            <a:chExt cx="438912" cy="650473"/>
          </a:xfrm>
        </p:grpSpPr>
        <p:sp>
          <p:nvSpPr>
            <p:cNvPr name="Freeform 84" id="84" descr="/home/claude/deck/icons/chartbar_7FB069.png"/>
            <p:cNvSpPr/>
            <p:nvPr/>
          </p:nvSpPr>
          <p:spPr>
            <a:xfrm flipH="false" flipV="false" rot="0">
              <a:off x="0" y="0"/>
              <a:ext cx="438912" cy="650473"/>
            </a:xfrm>
            <a:custGeom>
              <a:avLst/>
              <a:gdLst/>
              <a:ahLst/>
              <a:cxnLst/>
              <a:rect r="r" b="b" t="t" l="l"/>
              <a:pathLst>
                <a:path h="650473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650473"/>
                  </a:lnTo>
                  <a:lnTo>
                    <a:pt x="0" y="650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4100" t="0" r="-24100" b="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399032" y="7589335"/>
            <a:ext cx="3669030" cy="1016364"/>
            <a:chOff x="0" y="0"/>
            <a:chExt cx="4892040" cy="135515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892040" cy="1355152"/>
            </a:xfrm>
            <a:custGeom>
              <a:avLst/>
              <a:gdLst/>
              <a:ahLst/>
              <a:cxnLst/>
              <a:rect r="r" b="b" t="t" l="l"/>
              <a:pathLst>
                <a:path h="1355152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355152"/>
                  </a:lnTo>
                  <a:lnTo>
                    <a:pt x="0" y="1355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91" r="0" b="-20291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399032" y="7536400"/>
            <a:ext cx="3669030" cy="1294990"/>
            <a:chOff x="0" y="0"/>
            <a:chExt cx="4892040" cy="172665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892040" cy="1726653"/>
            </a:xfrm>
            <a:custGeom>
              <a:avLst/>
              <a:gdLst/>
              <a:ahLst/>
              <a:cxnLst/>
              <a:rect r="r" b="b" t="t" l="l"/>
              <a:pathLst>
                <a:path h="1726653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726653"/>
                  </a:lnTo>
                  <a:lnTo>
                    <a:pt x="0" y="17266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347" r="0" b="16935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4892040" cy="1745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7"/>
                </a:lnSpc>
              </a:pPr>
              <a:r>
                <a:rPr lang="en-US" sz="23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Profitability Trend Over Time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5177790" y="7751954"/>
            <a:ext cx="329184" cy="487855"/>
            <a:chOff x="0" y="0"/>
            <a:chExt cx="438912" cy="650473"/>
          </a:xfrm>
        </p:grpSpPr>
        <p:sp>
          <p:nvSpPr>
            <p:cNvPr name="Freeform 91" id="91" descr="/home/claude/deck/icons/chartbar_7FB069.png"/>
            <p:cNvSpPr/>
            <p:nvPr/>
          </p:nvSpPr>
          <p:spPr>
            <a:xfrm flipH="false" flipV="false" rot="0">
              <a:off x="0" y="0"/>
              <a:ext cx="438912" cy="650473"/>
            </a:xfrm>
            <a:custGeom>
              <a:avLst/>
              <a:gdLst/>
              <a:ahLst/>
              <a:cxnLst/>
              <a:rect r="r" b="b" t="t" l="l"/>
              <a:pathLst>
                <a:path h="650473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650473"/>
                  </a:lnTo>
                  <a:lnTo>
                    <a:pt x="0" y="650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4100" t="0" r="-24100" b="0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5616702" y="7589335"/>
            <a:ext cx="3669030" cy="1016364"/>
            <a:chOff x="0" y="0"/>
            <a:chExt cx="4892040" cy="13551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892040" cy="1355152"/>
            </a:xfrm>
            <a:custGeom>
              <a:avLst/>
              <a:gdLst/>
              <a:ahLst/>
              <a:cxnLst/>
              <a:rect r="r" b="b" t="t" l="l"/>
              <a:pathLst>
                <a:path h="1355152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355152"/>
                  </a:lnTo>
                  <a:lnTo>
                    <a:pt x="0" y="1355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91" r="0" b="-20291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5616702" y="7536400"/>
            <a:ext cx="3669030" cy="1294990"/>
            <a:chOff x="0" y="0"/>
            <a:chExt cx="4892040" cy="1726653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892040" cy="1726653"/>
            </a:xfrm>
            <a:custGeom>
              <a:avLst/>
              <a:gdLst/>
              <a:ahLst/>
              <a:cxnLst/>
              <a:rect r="r" b="b" t="t" l="l"/>
              <a:pathLst>
                <a:path h="1726653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726653"/>
                  </a:lnTo>
                  <a:lnTo>
                    <a:pt x="0" y="17266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347" r="0" b="1693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4892040" cy="1745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7"/>
                </a:lnSpc>
              </a:pPr>
              <a:r>
                <a:rPr lang="en-US" sz="23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TACoS vs Net Margin Analysis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381811" y="8186738"/>
            <a:ext cx="8298180" cy="850392"/>
            <a:chOff x="0" y="0"/>
            <a:chExt cx="11064240" cy="113385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1064239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064239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0808208" y="0"/>
                  </a:lnTo>
                  <a:cubicBezTo>
                    <a:pt x="10949559" y="0"/>
                    <a:pt x="11064239" y="114681"/>
                    <a:pt x="11064239" y="256032"/>
                  </a:cubicBezTo>
                  <a:lnTo>
                    <a:pt x="11064239" y="877824"/>
                  </a:lnTo>
                  <a:cubicBezTo>
                    <a:pt x="11064239" y="1019175"/>
                    <a:pt x="10949559" y="1133856"/>
                    <a:pt x="10808208" y="1133856"/>
                  </a:cubicBezTo>
                  <a:lnTo>
                    <a:pt x="256032" y="1133856"/>
                  </a:lnTo>
                  <a:cubicBezTo>
                    <a:pt x="114681" y="1133856"/>
                    <a:pt x="0" y="1019175"/>
                    <a:pt x="0" y="877824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9628699" y="8392478"/>
            <a:ext cx="438912" cy="438912"/>
            <a:chOff x="0" y="0"/>
            <a:chExt cx="585216" cy="585216"/>
          </a:xfrm>
        </p:grpSpPr>
        <p:sp>
          <p:nvSpPr>
            <p:cNvPr name="Freeform 100" id="100" descr="/home/claude/deck/icons/filter_1B4332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0232203" y="8186738"/>
            <a:ext cx="7200900" cy="850392"/>
            <a:chOff x="0" y="0"/>
            <a:chExt cx="9601200" cy="113385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6012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79" r="0" b="-11488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0232203" y="8172450"/>
            <a:ext cx="7200900" cy="864679"/>
            <a:chOff x="0" y="0"/>
            <a:chExt cx="9601200" cy="115290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601200" cy="1152906"/>
            </a:xfrm>
            <a:custGeom>
              <a:avLst/>
              <a:gdLst/>
              <a:ahLst/>
              <a:cxnLst/>
              <a:rect r="r" b="b" t="t" l="l"/>
              <a:pathLst>
                <a:path h="115290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152906"/>
                  </a:lnTo>
                  <a:lnTo>
                    <a:pt x="0" y="1152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268" r="0" b="-112268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9525"/>
              <a:ext cx="960120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68"/>
                </a:lnSpc>
              </a:pPr>
              <a:r>
                <a:rPr lang="en-US" sz="2474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Filters:  </a:t>
              </a:r>
              <a:r>
                <a:rPr lang="en-US" sz="2474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Date  ·  Marketplace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2858750" y="4622292"/>
            <a:ext cx="1234440" cy="1234440"/>
            <a:chOff x="0" y="0"/>
            <a:chExt cx="1645920" cy="164592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3167360" y="4930902"/>
            <a:ext cx="617220" cy="617220"/>
            <a:chOff x="0" y="0"/>
            <a:chExt cx="822960" cy="822960"/>
          </a:xfrm>
        </p:grpSpPr>
        <p:sp>
          <p:nvSpPr>
            <p:cNvPr name="Freeform 109" id="109" descr="/home/claude/deck/icons/chartline_1B4332.png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0218420" y="5993892"/>
            <a:ext cx="6515100" cy="480060"/>
            <a:chOff x="0" y="0"/>
            <a:chExt cx="8686800" cy="6400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8686800" cy="640080"/>
            </a:xfrm>
            <a:custGeom>
              <a:avLst/>
              <a:gdLst/>
              <a:ahLst/>
              <a:cxnLst/>
              <a:rect r="r" b="b" t="t" l="l"/>
              <a:pathLst>
                <a:path h="64008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255" r="0" b="-214255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0218420" y="5965317"/>
            <a:ext cx="6515100" cy="943216"/>
            <a:chOff x="0" y="0"/>
            <a:chExt cx="8686800" cy="1257621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8686800" cy="1257621"/>
            </a:xfrm>
            <a:custGeom>
              <a:avLst/>
              <a:gdLst/>
              <a:ahLst/>
              <a:cxnLst/>
              <a:rect r="r" b="b" t="t" l="l"/>
              <a:pathLst>
                <a:path h="1257621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257621"/>
                  </a:lnTo>
                  <a:lnTo>
                    <a:pt x="0" y="12576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626" r="0" b="-61552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9525"/>
              <a:ext cx="8686800" cy="126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b="true" sz="2699" spc="268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INSERT DASHBOARD SCREENSHOT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218420" y="6542532"/>
            <a:ext cx="6515100" cy="480060"/>
            <a:chOff x="0" y="0"/>
            <a:chExt cx="8686800" cy="64008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8686800" cy="640080"/>
            </a:xfrm>
            <a:custGeom>
              <a:avLst/>
              <a:gdLst/>
              <a:ahLst/>
              <a:cxnLst/>
              <a:rect r="r" b="b" t="t" l="l"/>
              <a:pathLst>
                <a:path h="64008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255" r="0" b="-214255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218420" y="6513957"/>
            <a:ext cx="6515100" cy="508635"/>
            <a:chOff x="0" y="0"/>
            <a:chExt cx="8686800" cy="67818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686800" cy="678180"/>
            </a:xfrm>
            <a:custGeom>
              <a:avLst/>
              <a:gdLst/>
              <a:ahLst/>
              <a:cxnLst/>
              <a:rect r="r" b="b" t="t" l="l"/>
              <a:pathLst>
                <a:path h="67818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9583" r="0" b="-199583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9525"/>
              <a:ext cx="86868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i="true">
                  <a:solidFill>
                    <a:srgbClr val="5B6B63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Power BI · Page 1 — Executive Overview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822960" y="9572625"/>
            <a:ext cx="8229600" cy="459467"/>
            <a:chOff x="0" y="0"/>
            <a:chExt cx="10972800" cy="61262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0972800" cy="612622"/>
            </a:xfrm>
            <a:custGeom>
              <a:avLst/>
              <a:gdLst/>
              <a:ahLst/>
              <a:cxnLst/>
              <a:rect r="r" b="b" t="t" l="l"/>
              <a:pathLst>
                <a:path h="61262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12622"/>
                  </a:lnTo>
                  <a:lnTo>
                    <a:pt x="0" y="6126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1112" r="0" b="-296888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0"/>
              <a:ext cx="10972800" cy="6126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8"/>
                </a:lnSpc>
              </a:pPr>
              <a:r>
                <a:rPr lang="en-US" sz="2324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7053103" y="9572625"/>
            <a:ext cx="822960" cy="472231"/>
            <a:chOff x="0" y="0"/>
            <a:chExt cx="1097280" cy="629641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097280" cy="629641"/>
            </a:xfrm>
            <a:custGeom>
              <a:avLst/>
              <a:gdLst/>
              <a:ahLst/>
              <a:cxnLst/>
              <a:rect r="r" b="b" t="t" l="l"/>
              <a:pathLst>
                <a:path h="629641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29641"/>
                  </a:lnTo>
                  <a:lnTo>
                    <a:pt x="0" y="6296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6813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9525"/>
              <a:ext cx="1097280" cy="6201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39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14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131" id="131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133" id="133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1081" r="0" b="-31081"/>
              </a:stretch>
            </a:blip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136" id="136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47" r="0" b="-345"/>
              </a:stretch>
            </a:blip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9525"/>
              <a:ext cx="29260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258300" y="2678049"/>
            <a:ext cx="8948680" cy="5122926"/>
            <a:chOff x="0" y="0"/>
            <a:chExt cx="11931574" cy="683056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1931523" cy="6830568"/>
            </a:xfrm>
            <a:custGeom>
              <a:avLst/>
              <a:gdLst/>
              <a:ahLst/>
              <a:cxnLst/>
              <a:rect r="r" b="b" t="t" l="l"/>
              <a:pathLst>
                <a:path h="6830568" w="11931523">
                  <a:moveTo>
                    <a:pt x="0" y="0"/>
                  </a:moveTo>
                  <a:lnTo>
                    <a:pt x="11931523" y="0"/>
                  </a:lnTo>
                  <a:lnTo>
                    <a:pt x="11931523" y="6830568"/>
                  </a:lnTo>
                  <a:lnTo>
                    <a:pt x="0" y="6830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937" t="0" r="-938" b="0"/>
              </a:stretch>
            </a:blip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17110396" y="9417628"/>
            <a:ext cx="891540" cy="595052"/>
            <a:chOff x="0" y="0"/>
            <a:chExt cx="1188720" cy="793403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352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DASHBOARD 2 OF 7  ·  POWER BI COMMAND CENTER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931875"/>
            <a:ext cx="14401800" cy="1190104"/>
            <a:chOff x="0" y="0"/>
            <a:chExt cx="19202400" cy="15868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586805"/>
            </a:xfrm>
            <a:custGeom>
              <a:avLst/>
              <a:gdLst/>
              <a:ahLst/>
              <a:cxnLst/>
              <a:rect r="r" b="b" t="t" l="l"/>
              <a:pathLst>
                <a:path h="1586805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586805"/>
                  </a:lnTo>
                  <a:lnTo>
                    <a:pt x="0" y="15868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275" r="0" b="-1793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58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SKU Performance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221992"/>
            <a:ext cx="8298180" cy="1371600"/>
            <a:chOff x="0" y="0"/>
            <a:chExt cx="1106424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642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802" r="0" b="-6780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2150554"/>
            <a:ext cx="8298180" cy="1593607"/>
            <a:chOff x="0" y="0"/>
            <a:chExt cx="11064240" cy="21248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64240" cy="2124809"/>
            </a:xfrm>
            <a:custGeom>
              <a:avLst/>
              <a:gdLst/>
              <a:ahLst/>
              <a:cxnLst/>
              <a:rect r="r" b="b" t="t" l="l"/>
              <a:pathLst>
                <a:path h="2124809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2124809"/>
                  </a:lnTo>
                  <a:lnTo>
                    <a:pt x="0" y="21248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186" r="0" b="-4673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1064240" cy="2201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27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Product-level analysis that surfaces top performers and pinpoints underperforming SKUs that quietly erode profitability.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2688" y="3804471"/>
            <a:ext cx="8298180" cy="455972"/>
            <a:chOff x="0" y="0"/>
            <a:chExt cx="11064240" cy="6079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64240" cy="607962"/>
            </a:xfrm>
            <a:custGeom>
              <a:avLst/>
              <a:gdLst/>
              <a:ahLst/>
              <a:cxnLst/>
              <a:rect r="r" b="b" t="t" l="l"/>
              <a:pathLst>
                <a:path h="607962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607962"/>
                  </a:lnTo>
                  <a:lnTo>
                    <a:pt x="0" y="6079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360" r="0" b="-304358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32688" y="3788639"/>
            <a:ext cx="8298180" cy="621618"/>
            <a:chOff x="0" y="0"/>
            <a:chExt cx="11064240" cy="8288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64240" cy="828824"/>
            </a:xfrm>
            <a:custGeom>
              <a:avLst/>
              <a:gdLst/>
              <a:ahLst/>
              <a:cxnLst/>
              <a:rect r="r" b="b" t="t" l="l"/>
              <a:pathLst>
                <a:path h="828824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828824"/>
                  </a:lnTo>
                  <a:lnTo>
                    <a:pt x="0" y="828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5865" r="0" b="-19435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1064240" cy="828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8"/>
                </a:lnSpc>
              </a:pPr>
              <a:r>
                <a:rPr lang="en-US" b="true" sz="2874" spc="410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PRIMARY KPIs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2688" y="4396882"/>
            <a:ext cx="3304222" cy="607962"/>
            <a:chOff x="0" y="0"/>
            <a:chExt cx="4405630" cy="8106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05630" cy="810616"/>
            </a:xfrm>
            <a:custGeom>
              <a:avLst/>
              <a:gdLst/>
              <a:ahLst/>
              <a:cxnLst/>
              <a:rect r="r" b="b" t="t" l="l"/>
              <a:pathLst>
                <a:path h="810616" w="4405630">
                  <a:moveTo>
                    <a:pt x="0" y="182389"/>
                  </a:moveTo>
                  <a:cubicBezTo>
                    <a:pt x="0" y="81625"/>
                    <a:pt x="73660" y="0"/>
                    <a:pt x="164592" y="0"/>
                  </a:cubicBezTo>
                  <a:lnTo>
                    <a:pt x="4241038" y="0"/>
                  </a:lnTo>
                  <a:cubicBezTo>
                    <a:pt x="4331970" y="0"/>
                    <a:pt x="4405630" y="81625"/>
                    <a:pt x="4405630" y="182389"/>
                  </a:cubicBezTo>
                  <a:lnTo>
                    <a:pt x="4405630" y="628228"/>
                  </a:lnTo>
                  <a:cubicBezTo>
                    <a:pt x="4405630" y="728992"/>
                    <a:pt x="4331970" y="810616"/>
                    <a:pt x="4241038" y="810616"/>
                  </a:cubicBezTo>
                  <a:lnTo>
                    <a:pt x="164592" y="810616"/>
                  </a:lnTo>
                  <a:cubicBezTo>
                    <a:pt x="73660" y="810616"/>
                    <a:pt x="0" y="728992"/>
                    <a:pt x="0" y="6282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32688" y="4396882"/>
            <a:ext cx="3304184" cy="607962"/>
            <a:chOff x="0" y="0"/>
            <a:chExt cx="4405579" cy="8106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05630" cy="810616"/>
            </a:xfrm>
            <a:custGeom>
              <a:avLst/>
              <a:gdLst/>
              <a:ahLst/>
              <a:cxnLst/>
              <a:rect r="r" b="b" t="t" l="l"/>
              <a:pathLst>
                <a:path h="810616" w="4405630">
                  <a:moveTo>
                    <a:pt x="0" y="0"/>
                  </a:moveTo>
                  <a:lnTo>
                    <a:pt x="4405630" y="0"/>
                  </a:lnTo>
                  <a:lnTo>
                    <a:pt x="4405630" y="810616"/>
                  </a:lnTo>
                  <a:lnTo>
                    <a:pt x="0" y="810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" t="-55827" r="0" b="-55827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32688" y="4365218"/>
            <a:ext cx="3304184" cy="1071403"/>
            <a:chOff x="0" y="0"/>
            <a:chExt cx="4405579" cy="14285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05579" cy="1428538"/>
            </a:xfrm>
            <a:custGeom>
              <a:avLst/>
              <a:gdLst/>
              <a:ahLst/>
              <a:cxnLst/>
              <a:rect r="r" b="b" t="t" l="l"/>
              <a:pathLst>
                <a:path h="1428538" w="4405579">
                  <a:moveTo>
                    <a:pt x="0" y="0"/>
                  </a:moveTo>
                  <a:lnTo>
                    <a:pt x="4405579" y="0"/>
                  </a:lnTo>
                  <a:lnTo>
                    <a:pt x="4405579" y="1428538"/>
                  </a:lnTo>
                  <a:lnTo>
                    <a:pt x="0" y="1428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154" r="0" b="1297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405579" cy="1428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Distinct Products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42612" y="4396882"/>
            <a:ext cx="3304222" cy="607962"/>
            <a:chOff x="0" y="0"/>
            <a:chExt cx="4405630" cy="8106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405630" cy="810616"/>
            </a:xfrm>
            <a:custGeom>
              <a:avLst/>
              <a:gdLst/>
              <a:ahLst/>
              <a:cxnLst/>
              <a:rect r="r" b="b" t="t" l="l"/>
              <a:pathLst>
                <a:path h="810616" w="4405630">
                  <a:moveTo>
                    <a:pt x="0" y="182389"/>
                  </a:moveTo>
                  <a:cubicBezTo>
                    <a:pt x="0" y="81625"/>
                    <a:pt x="73660" y="0"/>
                    <a:pt x="164592" y="0"/>
                  </a:cubicBezTo>
                  <a:lnTo>
                    <a:pt x="4241038" y="0"/>
                  </a:lnTo>
                  <a:cubicBezTo>
                    <a:pt x="4331970" y="0"/>
                    <a:pt x="4405630" y="81625"/>
                    <a:pt x="4405630" y="182389"/>
                  </a:cubicBezTo>
                  <a:lnTo>
                    <a:pt x="4405630" y="628228"/>
                  </a:lnTo>
                  <a:cubicBezTo>
                    <a:pt x="4405630" y="728992"/>
                    <a:pt x="4331970" y="810616"/>
                    <a:pt x="4241038" y="810616"/>
                  </a:cubicBezTo>
                  <a:lnTo>
                    <a:pt x="164592" y="810616"/>
                  </a:lnTo>
                  <a:cubicBezTo>
                    <a:pt x="73660" y="810616"/>
                    <a:pt x="0" y="728992"/>
                    <a:pt x="0" y="6282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442612" y="4396882"/>
            <a:ext cx="3304184" cy="607962"/>
            <a:chOff x="0" y="0"/>
            <a:chExt cx="4405579" cy="8106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405630" cy="810616"/>
            </a:xfrm>
            <a:custGeom>
              <a:avLst/>
              <a:gdLst/>
              <a:ahLst/>
              <a:cxnLst/>
              <a:rect r="r" b="b" t="t" l="l"/>
              <a:pathLst>
                <a:path h="810616" w="4405630">
                  <a:moveTo>
                    <a:pt x="0" y="0"/>
                  </a:moveTo>
                  <a:lnTo>
                    <a:pt x="4405630" y="0"/>
                  </a:lnTo>
                  <a:lnTo>
                    <a:pt x="4405630" y="810616"/>
                  </a:lnTo>
                  <a:lnTo>
                    <a:pt x="0" y="810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" t="-55827" r="0" b="-55827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442612" y="4365218"/>
            <a:ext cx="3304184" cy="1071403"/>
            <a:chOff x="0" y="0"/>
            <a:chExt cx="4405579" cy="142853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405579" cy="1428538"/>
            </a:xfrm>
            <a:custGeom>
              <a:avLst/>
              <a:gdLst/>
              <a:ahLst/>
              <a:cxnLst/>
              <a:rect r="r" b="b" t="t" l="l"/>
              <a:pathLst>
                <a:path h="1428538" w="4405579">
                  <a:moveTo>
                    <a:pt x="0" y="0"/>
                  </a:moveTo>
                  <a:lnTo>
                    <a:pt x="4405579" y="0"/>
                  </a:lnTo>
                  <a:lnTo>
                    <a:pt x="4405579" y="1428538"/>
                  </a:lnTo>
                  <a:lnTo>
                    <a:pt x="0" y="1428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154" r="0" b="1297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405579" cy="1428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Highest Product Revenue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2688" y="5156835"/>
            <a:ext cx="3076480" cy="607962"/>
            <a:chOff x="0" y="0"/>
            <a:chExt cx="4101973" cy="8106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01973" cy="810616"/>
            </a:xfrm>
            <a:custGeom>
              <a:avLst/>
              <a:gdLst/>
              <a:ahLst/>
              <a:cxnLst/>
              <a:rect r="r" b="b" t="t" l="l"/>
              <a:pathLst>
                <a:path h="810616" w="4101973">
                  <a:moveTo>
                    <a:pt x="0" y="182389"/>
                  </a:moveTo>
                  <a:cubicBezTo>
                    <a:pt x="0" y="81625"/>
                    <a:pt x="73660" y="0"/>
                    <a:pt x="164592" y="0"/>
                  </a:cubicBezTo>
                  <a:lnTo>
                    <a:pt x="3937381" y="0"/>
                  </a:lnTo>
                  <a:cubicBezTo>
                    <a:pt x="4028313" y="0"/>
                    <a:pt x="4101973" y="81625"/>
                    <a:pt x="4101973" y="182389"/>
                  </a:cubicBezTo>
                  <a:lnTo>
                    <a:pt x="4101973" y="628228"/>
                  </a:lnTo>
                  <a:cubicBezTo>
                    <a:pt x="4101973" y="728992"/>
                    <a:pt x="4028313" y="810616"/>
                    <a:pt x="3937381" y="810616"/>
                  </a:cubicBezTo>
                  <a:lnTo>
                    <a:pt x="164592" y="810616"/>
                  </a:lnTo>
                  <a:cubicBezTo>
                    <a:pt x="73660" y="810616"/>
                    <a:pt x="0" y="728992"/>
                    <a:pt x="0" y="6282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32688" y="5156835"/>
            <a:ext cx="3076499" cy="607962"/>
            <a:chOff x="0" y="0"/>
            <a:chExt cx="4101998" cy="8106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01973" cy="810616"/>
            </a:xfrm>
            <a:custGeom>
              <a:avLst/>
              <a:gdLst/>
              <a:ahLst/>
              <a:cxnLst/>
              <a:rect r="r" b="b" t="t" l="l"/>
              <a:pathLst>
                <a:path h="810616" w="4101973">
                  <a:moveTo>
                    <a:pt x="0" y="0"/>
                  </a:moveTo>
                  <a:lnTo>
                    <a:pt x="4101973" y="0"/>
                  </a:lnTo>
                  <a:lnTo>
                    <a:pt x="4101973" y="810616"/>
                  </a:lnTo>
                  <a:lnTo>
                    <a:pt x="0" y="810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31" r="0" b="-48533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2688" y="5125170"/>
            <a:ext cx="3076499" cy="1071403"/>
            <a:chOff x="0" y="0"/>
            <a:chExt cx="4101998" cy="142853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01999" cy="1428538"/>
            </a:xfrm>
            <a:custGeom>
              <a:avLst/>
              <a:gdLst/>
              <a:ahLst/>
              <a:cxnLst/>
              <a:rect r="r" b="b" t="t" l="l"/>
              <a:pathLst>
                <a:path h="1428538" w="4101999">
                  <a:moveTo>
                    <a:pt x="0" y="0"/>
                  </a:moveTo>
                  <a:lnTo>
                    <a:pt x="4101999" y="0"/>
                  </a:lnTo>
                  <a:lnTo>
                    <a:pt x="4101999" y="1428538"/>
                  </a:lnTo>
                  <a:lnTo>
                    <a:pt x="0" y="1428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013" r="0" b="1711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101998" cy="1428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Avg Revenue / Product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214927" y="5156835"/>
            <a:ext cx="1824228" cy="607962"/>
            <a:chOff x="0" y="0"/>
            <a:chExt cx="2432304" cy="8106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32304" cy="810616"/>
            </a:xfrm>
            <a:custGeom>
              <a:avLst/>
              <a:gdLst/>
              <a:ahLst/>
              <a:cxnLst/>
              <a:rect r="r" b="b" t="t" l="l"/>
              <a:pathLst>
                <a:path h="810616" w="2432304">
                  <a:moveTo>
                    <a:pt x="0" y="182389"/>
                  </a:moveTo>
                  <a:cubicBezTo>
                    <a:pt x="0" y="81625"/>
                    <a:pt x="73660" y="0"/>
                    <a:pt x="164592" y="0"/>
                  </a:cubicBezTo>
                  <a:lnTo>
                    <a:pt x="2267712" y="0"/>
                  </a:lnTo>
                  <a:cubicBezTo>
                    <a:pt x="2358644" y="0"/>
                    <a:pt x="2432304" y="81625"/>
                    <a:pt x="2432304" y="182389"/>
                  </a:cubicBezTo>
                  <a:lnTo>
                    <a:pt x="2432304" y="628228"/>
                  </a:lnTo>
                  <a:cubicBezTo>
                    <a:pt x="2432304" y="728992"/>
                    <a:pt x="2358644" y="810616"/>
                    <a:pt x="2267712" y="810616"/>
                  </a:cubicBezTo>
                  <a:lnTo>
                    <a:pt x="164592" y="810616"/>
                  </a:lnTo>
                  <a:cubicBezTo>
                    <a:pt x="73660" y="810616"/>
                    <a:pt x="0" y="728992"/>
                    <a:pt x="0" y="6282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4214927" y="5156835"/>
            <a:ext cx="1824228" cy="607962"/>
            <a:chOff x="0" y="0"/>
            <a:chExt cx="2432304" cy="8106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2304" cy="810616"/>
            </a:xfrm>
            <a:custGeom>
              <a:avLst/>
              <a:gdLst/>
              <a:ahLst/>
              <a:cxnLst/>
              <a:rect r="r" b="b" t="t" l="l"/>
              <a:pathLst>
                <a:path h="810616" w="2432304">
                  <a:moveTo>
                    <a:pt x="0" y="0"/>
                  </a:moveTo>
                  <a:lnTo>
                    <a:pt x="2432304" y="0"/>
                  </a:lnTo>
                  <a:lnTo>
                    <a:pt x="2432304" y="810616"/>
                  </a:lnTo>
                  <a:lnTo>
                    <a:pt x="0" y="810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25" r="0" b="-8425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214927" y="5125170"/>
            <a:ext cx="1824228" cy="1071403"/>
            <a:chOff x="0" y="0"/>
            <a:chExt cx="2432304" cy="142853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432304" cy="1428538"/>
            </a:xfrm>
            <a:custGeom>
              <a:avLst/>
              <a:gdLst/>
              <a:ahLst/>
              <a:cxnLst/>
              <a:rect r="r" b="b" t="t" l="l"/>
              <a:pathLst>
                <a:path h="1428538" w="2432304">
                  <a:moveTo>
                    <a:pt x="0" y="0"/>
                  </a:moveTo>
                  <a:lnTo>
                    <a:pt x="2432304" y="0"/>
                  </a:lnTo>
                  <a:lnTo>
                    <a:pt x="2432304" y="1428538"/>
                  </a:lnTo>
                  <a:lnTo>
                    <a:pt x="0" y="1428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38" r="0" b="3988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2432304" cy="1428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COGS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244895" y="5156835"/>
            <a:ext cx="2735008" cy="607962"/>
            <a:chOff x="0" y="0"/>
            <a:chExt cx="3646678" cy="8106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46678" cy="810616"/>
            </a:xfrm>
            <a:custGeom>
              <a:avLst/>
              <a:gdLst/>
              <a:ahLst/>
              <a:cxnLst/>
              <a:rect r="r" b="b" t="t" l="l"/>
              <a:pathLst>
                <a:path h="810616" w="3646678">
                  <a:moveTo>
                    <a:pt x="0" y="182389"/>
                  </a:moveTo>
                  <a:cubicBezTo>
                    <a:pt x="0" y="81625"/>
                    <a:pt x="73660" y="0"/>
                    <a:pt x="164592" y="0"/>
                  </a:cubicBezTo>
                  <a:lnTo>
                    <a:pt x="3482086" y="0"/>
                  </a:lnTo>
                  <a:cubicBezTo>
                    <a:pt x="3573018" y="0"/>
                    <a:pt x="3646678" y="81625"/>
                    <a:pt x="3646678" y="182389"/>
                  </a:cubicBezTo>
                  <a:lnTo>
                    <a:pt x="3646678" y="628228"/>
                  </a:lnTo>
                  <a:cubicBezTo>
                    <a:pt x="3646678" y="728992"/>
                    <a:pt x="3573018" y="810616"/>
                    <a:pt x="3482086" y="810616"/>
                  </a:cubicBezTo>
                  <a:lnTo>
                    <a:pt x="164592" y="810616"/>
                  </a:lnTo>
                  <a:cubicBezTo>
                    <a:pt x="73660" y="810616"/>
                    <a:pt x="0" y="728992"/>
                    <a:pt x="0" y="6282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244895" y="5156835"/>
            <a:ext cx="2734970" cy="607962"/>
            <a:chOff x="0" y="0"/>
            <a:chExt cx="3646627" cy="81061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46678" cy="810616"/>
            </a:xfrm>
            <a:custGeom>
              <a:avLst/>
              <a:gdLst/>
              <a:ahLst/>
              <a:cxnLst/>
              <a:rect r="r" b="b" t="t" l="l"/>
              <a:pathLst>
                <a:path h="810616" w="3646678">
                  <a:moveTo>
                    <a:pt x="0" y="0"/>
                  </a:moveTo>
                  <a:lnTo>
                    <a:pt x="3646678" y="0"/>
                  </a:lnTo>
                  <a:lnTo>
                    <a:pt x="3646678" y="810616"/>
                  </a:lnTo>
                  <a:lnTo>
                    <a:pt x="0" y="810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" t="-37597" r="0" b="-37595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244895" y="5125170"/>
            <a:ext cx="2734970" cy="1071403"/>
            <a:chOff x="0" y="0"/>
            <a:chExt cx="3646627" cy="142853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46627" cy="1428538"/>
            </a:xfrm>
            <a:custGeom>
              <a:avLst/>
              <a:gdLst/>
              <a:ahLst/>
              <a:cxnLst/>
              <a:rect r="r" b="b" t="t" l="l"/>
              <a:pathLst>
                <a:path h="1428538" w="3646627">
                  <a:moveTo>
                    <a:pt x="0" y="0"/>
                  </a:moveTo>
                  <a:lnTo>
                    <a:pt x="3646627" y="0"/>
                  </a:lnTo>
                  <a:lnTo>
                    <a:pt x="3646627" y="1428538"/>
                  </a:lnTo>
                  <a:lnTo>
                    <a:pt x="0" y="1428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802" r="0" b="2332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3646627" cy="1428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Bleeding SKU Count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32688" y="6241051"/>
            <a:ext cx="8298180" cy="483862"/>
            <a:chOff x="0" y="0"/>
            <a:chExt cx="11064240" cy="6451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064240" cy="645150"/>
            </a:xfrm>
            <a:custGeom>
              <a:avLst/>
              <a:gdLst/>
              <a:ahLst/>
              <a:cxnLst/>
              <a:rect r="r" b="b" t="t" l="l"/>
              <a:pathLst>
                <a:path h="64515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645150"/>
                  </a:lnTo>
                  <a:lnTo>
                    <a:pt x="0" y="64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934" r="0" b="-283932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32688" y="5990280"/>
            <a:ext cx="8298180" cy="659641"/>
            <a:chOff x="0" y="0"/>
            <a:chExt cx="11064240" cy="87952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064240" cy="879521"/>
            </a:xfrm>
            <a:custGeom>
              <a:avLst/>
              <a:gdLst/>
              <a:ahLst/>
              <a:cxnLst/>
              <a:rect r="r" b="b" t="t" l="l"/>
              <a:pathLst>
                <a:path h="879521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879521"/>
                  </a:lnTo>
                  <a:lnTo>
                    <a:pt x="0" y="8795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2846" r="0" b="-17739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11064240" cy="879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8"/>
                </a:lnSpc>
              </a:pPr>
              <a:r>
                <a:rPr lang="en-US" b="true" sz="2874" spc="410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KEY VISUALIZATIONS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32688" y="6607895"/>
            <a:ext cx="329184" cy="451499"/>
            <a:chOff x="0" y="0"/>
            <a:chExt cx="438912" cy="601999"/>
          </a:xfrm>
        </p:grpSpPr>
        <p:sp>
          <p:nvSpPr>
            <p:cNvPr name="Freeform 63" id="63" descr="/home/claude/deck/icons/chartbar_7FB069.png"/>
            <p:cNvSpPr/>
            <p:nvPr/>
          </p:nvSpPr>
          <p:spPr>
            <a:xfrm flipH="false" flipV="false" rot="0">
              <a:off x="0" y="0"/>
              <a:ext cx="438912" cy="601999"/>
            </a:xfrm>
            <a:custGeom>
              <a:avLst/>
              <a:gdLst/>
              <a:ahLst/>
              <a:cxnLst/>
              <a:rect r="r" b="b" t="t" l="l"/>
              <a:pathLst>
                <a:path h="601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601999"/>
                  </a:lnTo>
                  <a:lnTo>
                    <a:pt x="0" y="601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578" t="0" r="-18578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371600" y="6457395"/>
            <a:ext cx="3669030" cy="940624"/>
            <a:chOff x="0" y="0"/>
            <a:chExt cx="4892040" cy="125416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892040" cy="1254165"/>
            </a:xfrm>
            <a:custGeom>
              <a:avLst/>
              <a:gdLst/>
              <a:ahLst/>
              <a:cxnLst/>
              <a:rect r="r" b="b" t="t" l="l"/>
              <a:pathLst>
                <a:path h="1254165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254165"/>
                  </a:lnTo>
                  <a:lnTo>
                    <a:pt x="0" y="1254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51" r="0" b="-25951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71600" y="6408404"/>
            <a:ext cx="3669030" cy="1398233"/>
            <a:chOff x="0" y="0"/>
            <a:chExt cx="4892040" cy="186431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892040" cy="1864311"/>
            </a:xfrm>
            <a:custGeom>
              <a:avLst/>
              <a:gdLst/>
              <a:ahLst/>
              <a:cxnLst/>
              <a:rect r="r" b="b" t="t" l="l"/>
              <a:pathLst>
                <a:path h="1864311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864311"/>
                  </a:lnTo>
                  <a:lnTo>
                    <a:pt x="0" y="1864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28" r="0" b="2306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4892040" cy="1892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5"/>
                </a:lnSpc>
              </a:pPr>
              <a:r>
                <a:rPr lang="en-US" sz="27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Top 10 Products by Revenue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150358" y="6607895"/>
            <a:ext cx="329184" cy="451499"/>
            <a:chOff x="0" y="0"/>
            <a:chExt cx="438912" cy="601999"/>
          </a:xfrm>
        </p:grpSpPr>
        <p:sp>
          <p:nvSpPr>
            <p:cNvPr name="Freeform 70" id="70" descr="/home/claude/deck/icons/chartbar_7FB069.png"/>
            <p:cNvSpPr/>
            <p:nvPr/>
          </p:nvSpPr>
          <p:spPr>
            <a:xfrm flipH="false" flipV="false" rot="0">
              <a:off x="0" y="0"/>
              <a:ext cx="438912" cy="601999"/>
            </a:xfrm>
            <a:custGeom>
              <a:avLst/>
              <a:gdLst/>
              <a:ahLst/>
              <a:cxnLst/>
              <a:rect r="r" b="b" t="t" l="l"/>
              <a:pathLst>
                <a:path h="601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601999"/>
                  </a:lnTo>
                  <a:lnTo>
                    <a:pt x="0" y="601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578" t="0" r="-18578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5589270" y="6457395"/>
            <a:ext cx="3669030" cy="940624"/>
            <a:chOff x="0" y="0"/>
            <a:chExt cx="4892040" cy="125416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92040" cy="1254165"/>
            </a:xfrm>
            <a:custGeom>
              <a:avLst/>
              <a:gdLst/>
              <a:ahLst/>
              <a:cxnLst/>
              <a:rect r="r" b="b" t="t" l="l"/>
              <a:pathLst>
                <a:path h="1254165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254165"/>
                  </a:lnTo>
                  <a:lnTo>
                    <a:pt x="0" y="1254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51" r="0" b="-25951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5589270" y="6408404"/>
            <a:ext cx="3669030" cy="1398233"/>
            <a:chOff x="0" y="0"/>
            <a:chExt cx="4892040" cy="186431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892040" cy="1864311"/>
            </a:xfrm>
            <a:custGeom>
              <a:avLst/>
              <a:gdLst/>
              <a:ahLst/>
              <a:cxnLst/>
              <a:rect r="r" b="b" t="t" l="l"/>
              <a:pathLst>
                <a:path h="1864311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864311"/>
                  </a:lnTo>
                  <a:lnTo>
                    <a:pt x="0" y="1864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28" r="0" b="23069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4892040" cy="1892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5"/>
                </a:lnSpc>
              </a:pPr>
              <a:r>
                <a:rPr lang="en-US" sz="27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Bleeding SKU Alert Table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32688" y="7586143"/>
            <a:ext cx="329184" cy="451499"/>
            <a:chOff x="0" y="0"/>
            <a:chExt cx="438912" cy="601999"/>
          </a:xfrm>
        </p:grpSpPr>
        <p:sp>
          <p:nvSpPr>
            <p:cNvPr name="Freeform 77" id="77" descr="/home/claude/deck/icons/chartbar_7FB069.png"/>
            <p:cNvSpPr/>
            <p:nvPr/>
          </p:nvSpPr>
          <p:spPr>
            <a:xfrm flipH="false" flipV="false" rot="0">
              <a:off x="0" y="0"/>
              <a:ext cx="438912" cy="601999"/>
            </a:xfrm>
            <a:custGeom>
              <a:avLst/>
              <a:gdLst/>
              <a:ahLst/>
              <a:cxnLst/>
              <a:rect r="r" b="b" t="t" l="l"/>
              <a:pathLst>
                <a:path h="601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601999"/>
                  </a:lnTo>
                  <a:lnTo>
                    <a:pt x="0" y="601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578" t="0" r="-18578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371600" y="7435643"/>
            <a:ext cx="3669030" cy="940624"/>
            <a:chOff x="0" y="0"/>
            <a:chExt cx="4892040" cy="125416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892040" cy="1254165"/>
            </a:xfrm>
            <a:custGeom>
              <a:avLst/>
              <a:gdLst/>
              <a:ahLst/>
              <a:cxnLst/>
              <a:rect r="r" b="b" t="t" l="l"/>
              <a:pathLst>
                <a:path h="1254165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254165"/>
                  </a:lnTo>
                  <a:lnTo>
                    <a:pt x="0" y="1254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51" r="0" b="-25951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371600" y="7386653"/>
            <a:ext cx="3669030" cy="1398233"/>
            <a:chOff x="0" y="0"/>
            <a:chExt cx="4892040" cy="186431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92040" cy="1864311"/>
            </a:xfrm>
            <a:custGeom>
              <a:avLst/>
              <a:gdLst/>
              <a:ahLst/>
              <a:cxnLst/>
              <a:rect r="r" b="b" t="t" l="l"/>
              <a:pathLst>
                <a:path h="1864311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864311"/>
                  </a:lnTo>
                  <a:lnTo>
                    <a:pt x="0" y="1864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28" r="0" b="2306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4892040" cy="1892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5"/>
                </a:lnSpc>
              </a:pPr>
              <a:r>
                <a:rPr lang="en-US" sz="27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Profit Pareto Analysis (80/20)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150358" y="7586143"/>
            <a:ext cx="329184" cy="451499"/>
            <a:chOff x="0" y="0"/>
            <a:chExt cx="438912" cy="601999"/>
          </a:xfrm>
        </p:grpSpPr>
        <p:sp>
          <p:nvSpPr>
            <p:cNvPr name="Freeform 84" id="84" descr="/home/claude/deck/icons/chartbar_7FB069.png"/>
            <p:cNvSpPr/>
            <p:nvPr/>
          </p:nvSpPr>
          <p:spPr>
            <a:xfrm flipH="false" flipV="false" rot="0">
              <a:off x="0" y="0"/>
              <a:ext cx="438912" cy="601999"/>
            </a:xfrm>
            <a:custGeom>
              <a:avLst/>
              <a:gdLst/>
              <a:ahLst/>
              <a:cxnLst/>
              <a:rect r="r" b="b" t="t" l="l"/>
              <a:pathLst>
                <a:path h="601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601999"/>
                  </a:lnTo>
                  <a:lnTo>
                    <a:pt x="0" y="601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578" t="0" r="-18578" b="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5589270" y="7435643"/>
            <a:ext cx="3669030" cy="940624"/>
            <a:chOff x="0" y="0"/>
            <a:chExt cx="4892040" cy="125416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892040" cy="1254165"/>
            </a:xfrm>
            <a:custGeom>
              <a:avLst/>
              <a:gdLst/>
              <a:ahLst/>
              <a:cxnLst/>
              <a:rect r="r" b="b" t="t" l="l"/>
              <a:pathLst>
                <a:path h="1254165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254165"/>
                  </a:lnTo>
                  <a:lnTo>
                    <a:pt x="0" y="1254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51" r="0" b="-25951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5589270" y="7386653"/>
            <a:ext cx="3669030" cy="1398233"/>
            <a:chOff x="0" y="0"/>
            <a:chExt cx="4892040" cy="186431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892040" cy="1864311"/>
            </a:xfrm>
            <a:custGeom>
              <a:avLst/>
              <a:gdLst/>
              <a:ahLst/>
              <a:cxnLst/>
              <a:rect r="r" b="b" t="t" l="l"/>
              <a:pathLst>
                <a:path h="1864311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864311"/>
                  </a:lnTo>
                  <a:lnTo>
                    <a:pt x="0" y="1864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28" r="0" b="23069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28575"/>
              <a:ext cx="4892040" cy="1892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5"/>
                </a:lnSpc>
              </a:pPr>
              <a:r>
                <a:rPr lang="en-US" sz="27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Geographic Profitability Map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558833" y="7901193"/>
            <a:ext cx="8298180" cy="850392"/>
            <a:chOff x="0" y="0"/>
            <a:chExt cx="11064240" cy="113385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064239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064239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0808208" y="0"/>
                  </a:lnTo>
                  <a:cubicBezTo>
                    <a:pt x="10949559" y="0"/>
                    <a:pt x="11064239" y="114681"/>
                    <a:pt x="11064239" y="256032"/>
                  </a:cubicBezTo>
                  <a:lnTo>
                    <a:pt x="11064239" y="877824"/>
                  </a:lnTo>
                  <a:cubicBezTo>
                    <a:pt x="11064239" y="1019175"/>
                    <a:pt x="10949559" y="1133856"/>
                    <a:pt x="10808208" y="1133856"/>
                  </a:cubicBezTo>
                  <a:lnTo>
                    <a:pt x="256032" y="1133856"/>
                  </a:lnTo>
                  <a:cubicBezTo>
                    <a:pt x="114681" y="1133856"/>
                    <a:pt x="0" y="1019175"/>
                    <a:pt x="0" y="877824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805721" y="8106933"/>
            <a:ext cx="438912" cy="438912"/>
            <a:chOff x="0" y="0"/>
            <a:chExt cx="585216" cy="585216"/>
          </a:xfrm>
        </p:grpSpPr>
        <p:sp>
          <p:nvSpPr>
            <p:cNvPr name="Freeform 93" id="93" descr="/home/claude/deck/icons/filter_1B4332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409225" y="7901193"/>
            <a:ext cx="7200900" cy="850392"/>
            <a:chOff x="0" y="0"/>
            <a:chExt cx="9601200" cy="113385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6012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79" r="0" b="-114880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0409225" y="7886905"/>
            <a:ext cx="7200900" cy="864679"/>
            <a:chOff x="0" y="0"/>
            <a:chExt cx="9601200" cy="115290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601200" cy="1152906"/>
            </a:xfrm>
            <a:custGeom>
              <a:avLst/>
              <a:gdLst/>
              <a:ahLst/>
              <a:cxnLst/>
              <a:rect r="r" b="b" t="t" l="l"/>
              <a:pathLst>
                <a:path h="115290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152906"/>
                  </a:lnTo>
                  <a:lnTo>
                    <a:pt x="0" y="1152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268" r="0" b="-112268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960120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8"/>
                </a:lnSpc>
              </a:pPr>
              <a:r>
                <a:rPr lang="en-US" sz="2874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Filters:  </a:t>
              </a:r>
              <a:r>
                <a:rPr lang="en-US" sz="2874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Date  ·  SKU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822960" y="9572625"/>
            <a:ext cx="8229600" cy="535032"/>
            <a:chOff x="0" y="0"/>
            <a:chExt cx="10972800" cy="71337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972800" cy="713376"/>
            </a:xfrm>
            <a:custGeom>
              <a:avLst/>
              <a:gdLst/>
              <a:ahLst/>
              <a:cxnLst/>
              <a:rect r="r" b="b" t="t" l="l"/>
              <a:pathLst>
                <a:path h="71337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13376"/>
                  </a:lnTo>
                  <a:lnTo>
                    <a:pt x="0" y="7133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8585" r="0" b="-24083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10972800" cy="713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68"/>
                </a:lnSpc>
              </a:pPr>
              <a:r>
                <a:rPr lang="en-US" sz="2724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7053103" y="9572625"/>
            <a:ext cx="822960" cy="547760"/>
            <a:chOff x="0" y="0"/>
            <a:chExt cx="1097280" cy="730347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97280" cy="730347"/>
            </a:xfrm>
            <a:custGeom>
              <a:avLst/>
              <a:gdLst/>
              <a:ahLst/>
              <a:cxnLst/>
              <a:rect r="r" b="b" t="t" l="l"/>
              <a:pathLst>
                <a:path h="730347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730347"/>
                  </a:lnTo>
                  <a:lnTo>
                    <a:pt x="0" y="7303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19662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1097280" cy="730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15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110" id="110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112" id="112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1081" r="0" b="-31081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47" r="0" b="-345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9525"/>
              <a:ext cx="29260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258300" y="2518093"/>
            <a:ext cx="8809244" cy="5052093"/>
            <a:chOff x="0" y="0"/>
            <a:chExt cx="12019978" cy="689344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2020042" cy="6893433"/>
            </a:xfrm>
            <a:custGeom>
              <a:avLst/>
              <a:gdLst/>
              <a:ahLst/>
              <a:cxnLst/>
              <a:rect r="r" b="b" t="t" l="l"/>
              <a:pathLst>
                <a:path h="6893433" w="12020042">
                  <a:moveTo>
                    <a:pt x="0" y="0"/>
                  </a:moveTo>
                  <a:lnTo>
                    <a:pt x="12020042" y="0"/>
                  </a:lnTo>
                  <a:lnTo>
                    <a:pt x="12020042" y="6893433"/>
                  </a:lnTo>
                  <a:lnTo>
                    <a:pt x="0" y="6893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971" t="0" r="-970" b="0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7135780" y="9417628"/>
            <a:ext cx="891540" cy="595052"/>
            <a:chOff x="0" y="0"/>
            <a:chExt cx="1188720" cy="793403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69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DASHBOARD 3 OF 7  ·  POWER BI COMMAND CENTER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1022363"/>
            <a:ext cx="16623792" cy="1190104"/>
            <a:chOff x="0" y="0"/>
            <a:chExt cx="22165056" cy="15868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65056" cy="1586805"/>
            </a:xfrm>
            <a:custGeom>
              <a:avLst/>
              <a:gdLst/>
              <a:ahLst/>
              <a:cxnLst/>
              <a:rect r="r" b="b" t="t" l="l"/>
              <a:pathLst>
                <a:path h="1586805" w="22165056">
                  <a:moveTo>
                    <a:pt x="0" y="0"/>
                  </a:moveTo>
                  <a:lnTo>
                    <a:pt x="22165056" y="0"/>
                  </a:lnTo>
                  <a:lnTo>
                    <a:pt x="22165056" y="1586805"/>
                  </a:lnTo>
                  <a:lnTo>
                    <a:pt x="0" y="15868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275" r="13366" b="-1793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2165056" cy="158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Marketplace &amp; Geographic Performance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221992"/>
            <a:ext cx="8298180" cy="1371600"/>
            <a:chOff x="0" y="0"/>
            <a:chExt cx="1106424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642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802" r="0" b="-6780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2150554"/>
            <a:ext cx="8298180" cy="1593607"/>
            <a:chOff x="0" y="0"/>
            <a:chExt cx="11064240" cy="21248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64240" cy="2124809"/>
            </a:xfrm>
            <a:custGeom>
              <a:avLst/>
              <a:gdLst/>
              <a:ahLst/>
              <a:cxnLst/>
              <a:rect r="r" b="b" t="t" l="l"/>
              <a:pathLst>
                <a:path h="2124809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2124809"/>
                  </a:lnTo>
                  <a:lnTo>
                    <a:pt x="0" y="21248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186" r="0" b="-4673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1064240" cy="2201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27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Compares performance across UK, DE, FR, IT and ES — helping management evaluate regional sales, profitability, and operational efficiency.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3801311"/>
            <a:ext cx="8298180" cy="411480"/>
            <a:chOff x="0" y="0"/>
            <a:chExt cx="1106424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64240" cy="548640"/>
            </a:xfrm>
            <a:custGeom>
              <a:avLst/>
              <a:gdLst/>
              <a:ahLst/>
              <a:cxnLst/>
              <a:rect r="r" b="b" t="t" l="l"/>
              <a:pathLst>
                <a:path h="54864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75" r="0" b="-34267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28700" y="3841888"/>
            <a:ext cx="8298180" cy="509054"/>
            <a:chOff x="0" y="0"/>
            <a:chExt cx="11064240" cy="6787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64240" cy="678739"/>
            </a:xfrm>
            <a:custGeom>
              <a:avLst/>
              <a:gdLst/>
              <a:ahLst/>
              <a:cxnLst/>
              <a:rect r="r" b="b" t="t" l="l"/>
              <a:pathLst>
                <a:path h="678739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678739"/>
                  </a:lnTo>
                  <a:lnTo>
                    <a:pt x="0" y="6787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5809" r="0" b="-25944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1064240" cy="678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8"/>
                </a:lnSpc>
              </a:pPr>
              <a:r>
                <a:rPr lang="en-US" b="true" sz="2574" spc="367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PRIMARY KPIs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97684" y="4417617"/>
            <a:ext cx="3142369" cy="548640"/>
            <a:chOff x="0" y="0"/>
            <a:chExt cx="4189825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89825" cy="731520"/>
            </a:xfrm>
            <a:custGeom>
              <a:avLst/>
              <a:gdLst/>
              <a:ahLst/>
              <a:cxnLst/>
              <a:rect r="r" b="b" t="t" l="l"/>
              <a:pathLst>
                <a:path h="731520" w="4189825">
                  <a:moveTo>
                    <a:pt x="0" y="164592"/>
                  </a:moveTo>
                  <a:cubicBezTo>
                    <a:pt x="0" y="73660"/>
                    <a:pt x="92318" y="0"/>
                    <a:pt x="206284" y="0"/>
                  </a:cubicBezTo>
                  <a:lnTo>
                    <a:pt x="3983541" y="0"/>
                  </a:lnTo>
                  <a:cubicBezTo>
                    <a:pt x="4097506" y="0"/>
                    <a:pt x="4189825" y="73660"/>
                    <a:pt x="4189825" y="164592"/>
                  </a:cubicBezTo>
                  <a:lnTo>
                    <a:pt x="4189825" y="566928"/>
                  </a:lnTo>
                  <a:cubicBezTo>
                    <a:pt x="4189825" y="657860"/>
                    <a:pt x="4097506" y="731520"/>
                    <a:pt x="3983541" y="731520"/>
                  </a:cubicBezTo>
                  <a:lnTo>
                    <a:pt x="206284" y="731520"/>
                  </a:lnTo>
                  <a:cubicBezTo>
                    <a:pt x="92318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97684" y="4417617"/>
            <a:ext cx="3142393" cy="548640"/>
            <a:chOff x="0" y="0"/>
            <a:chExt cx="4189857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89825" cy="731520"/>
            </a:xfrm>
            <a:custGeom>
              <a:avLst/>
              <a:gdLst/>
              <a:ahLst/>
              <a:cxnLst/>
              <a:rect r="r" b="b" t="t" l="l"/>
              <a:pathLst>
                <a:path h="731520" w="4189825">
                  <a:moveTo>
                    <a:pt x="0" y="0"/>
                  </a:moveTo>
                  <a:lnTo>
                    <a:pt x="4189825" y="0"/>
                  </a:lnTo>
                  <a:lnTo>
                    <a:pt x="418982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524" r="0" b="-6152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97684" y="4430952"/>
            <a:ext cx="3142393" cy="577215"/>
            <a:chOff x="0" y="0"/>
            <a:chExt cx="4189857" cy="7696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89857" cy="769620"/>
            </a:xfrm>
            <a:custGeom>
              <a:avLst/>
              <a:gdLst/>
              <a:ahLst/>
              <a:cxnLst/>
              <a:rect r="r" b="b" t="t" l="l"/>
              <a:pathLst>
                <a:path h="769620" w="4189857">
                  <a:moveTo>
                    <a:pt x="0" y="0"/>
                  </a:moveTo>
                  <a:lnTo>
                    <a:pt x="4189857" y="0"/>
                  </a:lnTo>
                  <a:lnTo>
                    <a:pt x="4189857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638" r="20210" b="-3463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189857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Revenue per Unit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573288" y="4400189"/>
            <a:ext cx="2370153" cy="566068"/>
            <a:chOff x="0" y="0"/>
            <a:chExt cx="2735834" cy="65340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735834" cy="653405"/>
            </a:xfrm>
            <a:custGeom>
              <a:avLst/>
              <a:gdLst/>
              <a:ahLst/>
              <a:cxnLst/>
              <a:rect r="r" b="b" t="t" l="l"/>
              <a:pathLst>
                <a:path h="653405" w="2735834">
                  <a:moveTo>
                    <a:pt x="0" y="147016"/>
                  </a:moveTo>
                  <a:cubicBezTo>
                    <a:pt x="0" y="65794"/>
                    <a:pt x="73660" y="0"/>
                    <a:pt x="164592" y="0"/>
                  </a:cubicBezTo>
                  <a:lnTo>
                    <a:pt x="2571242" y="0"/>
                  </a:lnTo>
                  <a:cubicBezTo>
                    <a:pt x="2662174" y="0"/>
                    <a:pt x="2735834" y="65794"/>
                    <a:pt x="2735834" y="147016"/>
                  </a:cubicBezTo>
                  <a:lnTo>
                    <a:pt x="2735834" y="506389"/>
                  </a:lnTo>
                  <a:cubicBezTo>
                    <a:pt x="2735834" y="587610"/>
                    <a:pt x="2662174" y="653405"/>
                    <a:pt x="2571242" y="653405"/>
                  </a:cubicBezTo>
                  <a:lnTo>
                    <a:pt x="164592" y="653405"/>
                  </a:lnTo>
                  <a:cubicBezTo>
                    <a:pt x="73660" y="653405"/>
                    <a:pt x="0" y="587610"/>
                    <a:pt x="0" y="506389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573288" y="4400189"/>
            <a:ext cx="2370197" cy="566068"/>
            <a:chOff x="0" y="0"/>
            <a:chExt cx="2735885" cy="65340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35834" cy="653405"/>
            </a:xfrm>
            <a:custGeom>
              <a:avLst/>
              <a:gdLst/>
              <a:ahLst/>
              <a:cxnLst/>
              <a:rect r="r" b="b" t="t" l="l"/>
              <a:pathLst>
                <a:path h="653405" w="2735834">
                  <a:moveTo>
                    <a:pt x="0" y="0"/>
                  </a:moveTo>
                  <a:lnTo>
                    <a:pt x="2735834" y="0"/>
                  </a:lnTo>
                  <a:lnTo>
                    <a:pt x="2735834" y="653405"/>
                  </a:lnTo>
                  <a:lnTo>
                    <a:pt x="0" y="6534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29" r="-1" b="-3153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573288" y="4370706"/>
            <a:ext cx="2277957" cy="572374"/>
            <a:chOff x="0" y="0"/>
            <a:chExt cx="2735885" cy="6874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35885" cy="687436"/>
            </a:xfrm>
            <a:custGeom>
              <a:avLst/>
              <a:gdLst/>
              <a:ahLst/>
              <a:cxnLst/>
              <a:rect r="r" b="b" t="t" l="l"/>
              <a:pathLst>
                <a:path h="687436" w="2735885">
                  <a:moveTo>
                    <a:pt x="0" y="0"/>
                  </a:moveTo>
                  <a:lnTo>
                    <a:pt x="2735885" y="0"/>
                  </a:lnTo>
                  <a:lnTo>
                    <a:pt x="2735885" y="687436"/>
                  </a:lnTo>
                  <a:lnTo>
                    <a:pt x="0" y="6874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569" r="0" b="-3352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735885" cy="68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Orders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102513" y="5228152"/>
            <a:ext cx="3311747" cy="548640"/>
            <a:chOff x="0" y="0"/>
            <a:chExt cx="4415663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415663" cy="731520"/>
            </a:xfrm>
            <a:custGeom>
              <a:avLst/>
              <a:gdLst/>
              <a:ahLst/>
              <a:cxnLst/>
              <a:rect r="r" b="b" t="t" l="l"/>
              <a:pathLst>
                <a:path h="731520" w="4415663">
                  <a:moveTo>
                    <a:pt x="0" y="164592"/>
                  </a:moveTo>
                  <a:cubicBezTo>
                    <a:pt x="0" y="73660"/>
                    <a:pt x="89193" y="0"/>
                    <a:pt x="199300" y="0"/>
                  </a:cubicBezTo>
                  <a:lnTo>
                    <a:pt x="4216363" y="0"/>
                  </a:lnTo>
                  <a:cubicBezTo>
                    <a:pt x="4326470" y="0"/>
                    <a:pt x="4415663" y="73660"/>
                    <a:pt x="4415663" y="164592"/>
                  </a:cubicBezTo>
                  <a:lnTo>
                    <a:pt x="4415663" y="566928"/>
                  </a:lnTo>
                  <a:cubicBezTo>
                    <a:pt x="4415663" y="657860"/>
                    <a:pt x="4326470" y="731520"/>
                    <a:pt x="4216363" y="731520"/>
                  </a:cubicBezTo>
                  <a:lnTo>
                    <a:pt x="199300" y="731520"/>
                  </a:lnTo>
                  <a:cubicBezTo>
                    <a:pt x="89193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102513" y="5228152"/>
            <a:ext cx="3311701" cy="548640"/>
            <a:chOff x="0" y="0"/>
            <a:chExt cx="4415601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415653" cy="731520"/>
            </a:xfrm>
            <a:custGeom>
              <a:avLst/>
              <a:gdLst/>
              <a:ahLst/>
              <a:cxnLst/>
              <a:rect r="r" b="b" t="t" l="l"/>
              <a:pathLst>
                <a:path h="731520" w="4415653">
                  <a:moveTo>
                    <a:pt x="0" y="0"/>
                  </a:moveTo>
                  <a:lnTo>
                    <a:pt x="4415653" y="0"/>
                  </a:lnTo>
                  <a:lnTo>
                    <a:pt x="4415653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" t="-67537" r="0" b="-67535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102513" y="5244920"/>
            <a:ext cx="3311701" cy="577215"/>
            <a:chOff x="0" y="0"/>
            <a:chExt cx="4415601" cy="7696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415601" cy="769620"/>
            </a:xfrm>
            <a:custGeom>
              <a:avLst/>
              <a:gdLst/>
              <a:ahLst/>
              <a:cxnLst/>
              <a:rect r="r" b="b" t="t" l="l"/>
              <a:pathLst>
                <a:path h="769620" w="4415601">
                  <a:moveTo>
                    <a:pt x="0" y="0"/>
                  </a:moveTo>
                  <a:lnTo>
                    <a:pt x="4415601" y="0"/>
                  </a:lnTo>
                  <a:lnTo>
                    <a:pt x="4415601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324" r="17414" b="-4232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415601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Average Net Margin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7067" y="5201105"/>
            <a:ext cx="2821436" cy="646747"/>
            <a:chOff x="0" y="0"/>
            <a:chExt cx="3191256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191256" cy="731520"/>
            </a:xfrm>
            <a:custGeom>
              <a:avLst/>
              <a:gdLst/>
              <a:ahLst/>
              <a:cxnLst/>
              <a:rect r="r" b="b" t="t" l="l"/>
              <a:pathLst>
                <a:path h="731520" w="319125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026664" y="0"/>
                  </a:lnTo>
                  <a:cubicBezTo>
                    <a:pt x="3117596" y="0"/>
                    <a:pt x="3191256" y="73660"/>
                    <a:pt x="3191256" y="164592"/>
                  </a:cubicBezTo>
                  <a:lnTo>
                    <a:pt x="3191256" y="566928"/>
                  </a:lnTo>
                  <a:cubicBezTo>
                    <a:pt x="3191256" y="657860"/>
                    <a:pt x="3117596" y="731520"/>
                    <a:pt x="3026664" y="731520"/>
                  </a:cubicBezTo>
                  <a:lnTo>
                    <a:pt x="164592" y="731520"/>
                  </a:lnTo>
                  <a:cubicBezTo>
                    <a:pt x="73660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22960" y="5244920"/>
            <a:ext cx="3064337" cy="577215"/>
            <a:chOff x="0" y="0"/>
            <a:chExt cx="4085782" cy="7696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85782" cy="769620"/>
            </a:xfrm>
            <a:custGeom>
              <a:avLst/>
              <a:gdLst/>
              <a:ahLst/>
              <a:cxnLst/>
              <a:rect r="r" b="b" t="t" l="l"/>
              <a:pathLst>
                <a:path h="769620" w="4085782">
                  <a:moveTo>
                    <a:pt x="0" y="0"/>
                  </a:moveTo>
                  <a:lnTo>
                    <a:pt x="4085782" y="0"/>
                  </a:lnTo>
                  <a:lnTo>
                    <a:pt x="4085782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795" r="21893" b="-3079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408578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Average Net ROI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0120" y="6048756"/>
            <a:ext cx="8298180" cy="411480"/>
            <a:chOff x="0" y="0"/>
            <a:chExt cx="1106424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064240" cy="548640"/>
            </a:xfrm>
            <a:custGeom>
              <a:avLst/>
              <a:gdLst/>
              <a:ahLst/>
              <a:cxnLst/>
              <a:rect r="r" b="b" t="t" l="l"/>
              <a:pathLst>
                <a:path h="54864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75" r="0" b="-342673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60120" y="6034468"/>
            <a:ext cx="8298180" cy="509054"/>
            <a:chOff x="0" y="0"/>
            <a:chExt cx="11064240" cy="67873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064240" cy="678739"/>
            </a:xfrm>
            <a:custGeom>
              <a:avLst/>
              <a:gdLst/>
              <a:ahLst/>
              <a:cxnLst/>
              <a:rect r="r" b="b" t="t" l="l"/>
              <a:pathLst>
                <a:path h="678739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678739"/>
                  </a:lnTo>
                  <a:lnTo>
                    <a:pt x="0" y="6787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5809" r="0" b="-25944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1064240" cy="678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8"/>
                </a:lnSpc>
              </a:pPr>
              <a:r>
                <a:rPr lang="en-US" b="true" sz="2574" spc="367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KEY VISUALIZATIONS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23163" y="6713261"/>
            <a:ext cx="329184" cy="529332"/>
            <a:chOff x="0" y="0"/>
            <a:chExt cx="438912" cy="705776"/>
          </a:xfrm>
        </p:grpSpPr>
        <p:sp>
          <p:nvSpPr>
            <p:cNvPr name="Freeform 54" id="54" descr="/home/claude/deck/icons/chartbar_7FB069.png"/>
            <p:cNvSpPr/>
            <p:nvPr/>
          </p:nvSpPr>
          <p:spPr>
            <a:xfrm flipH="false" flipV="false" rot="0">
              <a:off x="0" y="0"/>
              <a:ext cx="438912" cy="705776"/>
            </a:xfrm>
            <a:custGeom>
              <a:avLst/>
              <a:gdLst/>
              <a:ahLst/>
              <a:cxnLst/>
              <a:rect r="r" b="b" t="t" l="l"/>
              <a:pathLst>
                <a:path h="705776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705776"/>
                  </a:lnTo>
                  <a:lnTo>
                    <a:pt x="0" y="705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0400" t="0" r="-3040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362075" y="6536817"/>
            <a:ext cx="3669030" cy="1102775"/>
            <a:chOff x="0" y="0"/>
            <a:chExt cx="4892040" cy="147036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892040" cy="1470367"/>
            </a:xfrm>
            <a:custGeom>
              <a:avLst/>
              <a:gdLst/>
              <a:ahLst/>
              <a:cxnLst/>
              <a:rect r="r" b="b" t="t" l="l"/>
              <a:pathLst>
                <a:path h="1470367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470367"/>
                  </a:lnTo>
                  <a:lnTo>
                    <a:pt x="0" y="14703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83" r="0" b="-14783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362075" y="6479381"/>
            <a:ext cx="3669030" cy="1440660"/>
            <a:chOff x="0" y="0"/>
            <a:chExt cx="4892040" cy="19208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92040" cy="1920880"/>
            </a:xfrm>
            <a:custGeom>
              <a:avLst/>
              <a:gdLst/>
              <a:ahLst/>
              <a:cxnLst/>
              <a:rect r="r" b="b" t="t" l="l"/>
              <a:pathLst>
                <a:path h="1920880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920880"/>
                  </a:lnTo>
                  <a:lnTo>
                    <a:pt x="0" y="1920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82" r="0" b="2533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4892040" cy="1949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4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Revenue by Marketplace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140833" y="6713261"/>
            <a:ext cx="329184" cy="529332"/>
            <a:chOff x="0" y="0"/>
            <a:chExt cx="438912" cy="705776"/>
          </a:xfrm>
        </p:grpSpPr>
        <p:sp>
          <p:nvSpPr>
            <p:cNvPr name="Freeform 61" id="61" descr="/home/claude/deck/icons/chartbar_7FB069.png"/>
            <p:cNvSpPr/>
            <p:nvPr/>
          </p:nvSpPr>
          <p:spPr>
            <a:xfrm flipH="false" flipV="false" rot="0">
              <a:off x="0" y="0"/>
              <a:ext cx="438912" cy="705776"/>
            </a:xfrm>
            <a:custGeom>
              <a:avLst/>
              <a:gdLst/>
              <a:ahLst/>
              <a:cxnLst/>
              <a:rect r="r" b="b" t="t" l="l"/>
              <a:pathLst>
                <a:path h="705776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705776"/>
                  </a:lnTo>
                  <a:lnTo>
                    <a:pt x="0" y="705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0400" t="0" r="-3040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579745" y="6536817"/>
            <a:ext cx="3669030" cy="1102775"/>
            <a:chOff x="0" y="0"/>
            <a:chExt cx="4892040" cy="147036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892040" cy="1470367"/>
            </a:xfrm>
            <a:custGeom>
              <a:avLst/>
              <a:gdLst/>
              <a:ahLst/>
              <a:cxnLst/>
              <a:rect r="r" b="b" t="t" l="l"/>
              <a:pathLst>
                <a:path h="1470367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470367"/>
                  </a:lnTo>
                  <a:lnTo>
                    <a:pt x="0" y="14703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83" r="0" b="-14783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5579745" y="6479381"/>
            <a:ext cx="3669030" cy="1440660"/>
            <a:chOff x="0" y="0"/>
            <a:chExt cx="4892040" cy="19208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892040" cy="1920880"/>
            </a:xfrm>
            <a:custGeom>
              <a:avLst/>
              <a:gdLst/>
              <a:ahLst/>
              <a:cxnLst/>
              <a:rect r="r" b="b" t="t" l="l"/>
              <a:pathLst>
                <a:path h="1920880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920880"/>
                  </a:lnTo>
                  <a:lnTo>
                    <a:pt x="0" y="1920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82" r="0" b="2533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4892040" cy="1949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4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Geographic Revenue Map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23163" y="7860148"/>
            <a:ext cx="329184" cy="529332"/>
            <a:chOff x="0" y="0"/>
            <a:chExt cx="438912" cy="705776"/>
          </a:xfrm>
        </p:grpSpPr>
        <p:sp>
          <p:nvSpPr>
            <p:cNvPr name="Freeform 68" id="68" descr="/home/claude/deck/icons/chartbar_7FB069.png"/>
            <p:cNvSpPr/>
            <p:nvPr/>
          </p:nvSpPr>
          <p:spPr>
            <a:xfrm flipH="false" flipV="false" rot="0">
              <a:off x="0" y="0"/>
              <a:ext cx="438912" cy="705776"/>
            </a:xfrm>
            <a:custGeom>
              <a:avLst/>
              <a:gdLst/>
              <a:ahLst/>
              <a:cxnLst/>
              <a:rect r="r" b="b" t="t" l="l"/>
              <a:pathLst>
                <a:path h="705776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705776"/>
                  </a:lnTo>
                  <a:lnTo>
                    <a:pt x="0" y="705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0400" t="0" r="-30400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362075" y="7683704"/>
            <a:ext cx="3669030" cy="1102775"/>
            <a:chOff x="0" y="0"/>
            <a:chExt cx="4892040" cy="147036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892040" cy="1470367"/>
            </a:xfrm>
            <a:custGeom>
              <a:avLst/>
              <a:gdLst/>
              <a:ahLst/>
              <a:cxnLst/>
              <a:rect r="r" b="b" t="t" l="l"/>
              <a:pathLst>
                <a:path h="1470367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470367"/>
                  </a:lnTo>
                  <a:lnTo>
                    <a:pt x="0" y="14703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83" r="0" b="-14783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62075" y="7626267"/>
            <a:ext cx="3669030" cy="1440660"/>
            <a:chOff x="0" y="0"/>
            <a:chExt cx="4892040" cy="19208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92040" cy="1920880"/>
            </a:xfrm>
            <a:custGeom>
              <a:avLst/>
              <a:gdLst/>
              <a:ahLst/>
              <a:cxnLst/>
              <a:rect r="r" b="b" t="t" l="l"/>
              <a:pathLst>
                <a:path h="1920880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920880"/>
                  </a:lnTo>
                  <a:lnTo>
                    <a:pt x="0" y="1920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82" r="0" b="2533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4892040" cy="1949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4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Revenue Trend by Marketplace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140833" y="7860148"/>
            <a:ext cx="329184" cy="529332"/>
            <a:chOff x="0" y="0"/>
            <a:chExt cx="438912" cy="705776"/>
          </a:xfrm>
        </p:grpSpPr>
        <p:sp>
          <p:nvSpPr>
            <p:cNvPr name="Freeform 75" id="75" descr="/home/claude/deck/icons/chartbar_7FB069.png"/>
            <p:cNvSpPr/>
            <p:nvPr/>
          </p:nvSpPr>
          <p:spPr>
            <a:xfrm flipH="false" flipV="false" rot="0">
              <a:off x="0" y="0"/>
              <a:ext cx="438912" cy="705776"/>
            </a:xfrm>
            <a:custGeom>
              <a:avLst/>
              <a:gdLst/>
              <a:ahLst/>
              <a:cxnLst/>
              <a:rect r="r" b="b" t="t" l="l"/>
              <a:pathLst>
                <a:path h="705776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705776"/>
                  </a:lnTo>
                  <a:lnTo>
                    <a:pt x="0" y="705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0400" t="0" r="-30400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5579745" y="7683704"/>
            <a:ext cx="3669030" cy="1102775"/>
            <a:chOff x="0" y="0"/>
            <a:chExt cx="4892040" cy="147036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892040" cy="1470367"/>
            </a:xfrm>
            <a:custGeom>
              <a:avLst/>
              <a:gdLst/>
              <a:ahLst/>
              <a:cxnLst/>
              <a:rect r="r" b="b" t="t" l="l"/>
              <a:pathLst>
                <a:path h="1470367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470367"/>
                  </a:lnTo>
                  <a:lnTo>
                    <a:pt x="0" y="14703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83" r="0" b="-14783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5579745" y="7626267"/>
            <a:ext cx="3669030" cy="1440660"/>
            <a:chOff x="0" y="0"/>
            <a:chExt cx="4892040" cy="19208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892040" cy="1920880"/>
            </a:xfrm>
            <a:custGeom>
              <a:avLst/>
              <a:gdLst/>
              <a:ahLst/>
              <a:cxnLst/>
              <a:rect r="r" b="b" t="t" l="l"/>
              <a:pathLst>
                <a:path h="1920880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920880"/>
                  </a:lnTo>
                  <a:lnTo>
                    <a:pt x="0" y="1920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82" r="0" b="2533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4892040" cy="1949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4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Marketplace Cost Breakdown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285732" y="7928419"/>
            <a:ext cx="8298180" cy="850392"/>
            <a:chOff x="0" y="0"/>
            <a:chExt cx="11064240" cy="113385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064239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064239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0808208" y="0"/>
                  </a:lnTo>
                  <a:cubicBezTo>
                    <a:pt x="10949559" y="0"/>
                    <a:pt x="11064239" y="114681"/>
                    <a:pt x="11064239" y="256032"/>
                  </a:cubicBezTo>
                  <a:lnTo>
                    <a:pt x="11064239" y="877824"/>
                  </a:lnTo>
                  <a:cubicBezTo>
                    <a:pt x="11064239" y="1019175"/>
                    <a:pt x="10949559" y="1133856"/>
                    <a:pt x="10808208" y="1133856"/>
                  </a:cubicBezTo>
                  <a:lnTo>
                    <a:pt x="256032" y="1133856"/>
                  </a:lnTo>
                  <a:cubicBezTo>
                    <a:pt x="114681" y="1133856"/>
                    <a:pt x="0" y="1019175"/>
                    <a:pt x="0" y="877824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532620" y="8134159"/>
            <a:ext cx="438912" cy="438912"/>
            <a:chOff x="0" y="0"/>
            <a:chExt cx="585216" cy="585216"/>
          </a:xfrm>
        </p:grpSpPr>
        <p:sp>
          <p:nvSpPr>
            <p:cNvPr name="Freeform 84" id="84" descr="/home/claude/deck/icons/filter_1B4332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136124" y="7928419"/>
            <a:ext cx="7200900" cy="850392"/>
            <a:chOff x="0" y="0"/>
            <a:chExt cx="9601200" cy="113385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6012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79" r="0" b="-11488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136124" y="7914132"/>
            <a:ext cx="7200900" cy="864679"/>
            <a:chOff x="0" y="0"/>
            <a:chExt cx="9601200" cy="115290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601200" cy="1152906"/>
            </a:xfrm>
            <a:custGeom>
              <a:avLst/>
              <a:gdLst/>
              <a:ahLst/>
              <a:cxnLst/>
              <a:rect r="r" b="b" t="t" l="l"/>
              <a:pathLst>
                <a:path h="115290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152906"/>
                  </a:lnTo>
                  <a:lnTo>
                    <a:pt x="0" y="1152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268" r="0" b="-112268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960120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8"/>
                </a:lnSpc>
              </a:pPr>
              <a:r>
                <a:rPr lang="en-US" sz="2574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Filters:  </a:t>
              </a:r>
              <a:r>
                <a:rPr lang="en-US" sz="2574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Date  ·  Marketplace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822960" y="9572625"/>
            <a:ext cx="8229600" cy="473595"/>
            <a:chOff x="0" y="0"/>
            <a:chExt cx="10972800" cy="63146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972800" cy="631461"/>
            </a:xfrm>
            <a:custGeom>
              <a:avLst/>
              <a:gdLst/>
              <a:ahLst/>
              <a:cxnLst/>
              <a:rect r="r" b="b" t="t" l="l"/>
              <a:pathLst>
                <a:path h="631461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31461"/>
                  </a:lnTo>
                  <a:lnTo>
                    <a:pt x="0" y="6314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2129" r="0" b="-28504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10972800" cy="631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8"/>
                </a:lnSpc>
              </a:pPr>
              <a:r>
                <a:rPr lang="en-US" sz="2424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7053103" y="9572625"/>
            <a:ext cx="822960" cy="486351"/>
            <a:chOff x="0" y="0"/>
            <a:chExt cx="1097280" cy="64846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97280" cy="648467"/>
            </a:xfrm>
            <a:custGeom>
              <a:avLst/>
              <a:gdLst/>
              <a:ahLst/>
              <a:cxnLst/>
              <a:rect r="r" b="b" t="t" l="l"/>
              <a:pathLst>
                <a:path h="648467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8467"/>
                  </a:lnTo>
                  <a:lnTo>
                    <a:pt x="0" y="6484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9518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1097280" cy="648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999"/>
                </a:lnSpc>
              </a:pPr>
              <a:r>
                <a:rPr lang="en-US" sz="249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16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101" id="101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103" id="103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1081" r="0" b="-31081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47" r="0" b="-345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144019" y="2326767"/>
            <a:ext cx="9187844" cy="5280260"/>
            <a:chOff x="0" y="0"/>
            <a:chExt cx="12250458" cy="7040347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2250420" cy="7040372"/>
            </a:xfrm>
            <a:custGeom>
              <a:avLst/>
              <a:gdLst/>
              <a:ahLst/>
              <a:cxnLst/>
              <a:rect r="r" b="b" t="t" l="l"/>
              <a:pathLst>
                <a:path h="7040372" w="12250420">
                  <a:moveTo>
                    <a:pt x="0" y="0"/>
                  </a:moveTo>
                  <a:lnTo>
                    <a:pt x="12250420" y="0"/>
                  </a:lnTo>
                  <a:lnTo>
                    <a:pt x="12250420" y="7040372"/>
                  </a:lnTo>
                  <a:lnTo>
                    <a:pt x="0" y="7040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271" t="0" r="-1271" b="0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7119092" y="9417628"/>
            <a:ext cx="891540" cy="595052"/>
            <a:chOff x="0" y="0"/>
            <a:chExt cx="1188720" cy="793403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69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DASHBOARD 4 OF 7  ·  POWER BI COMMAND CENTER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1117568"/>
            <a:ext cx="14401800" cy="1035844"/>
            <a:chOff x="0" y="0"/>
            <a:chExt cx="19202400" cy="13811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381125"/>
            </a:xfrm>
            <a:custGeom>
              <a:avLst/>
              <a:gdLst/>
              <a:ahLst/>
              <a:cxnLst/>
              <a:rect r="r" b="b" t="t" l="l"/>
              <a:pathLst>
                <a:path h="1381125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81125"/>
                  </a:lnTo>
                  <a:lnTo>
                    <a:pt x="0" y="13811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0909" r="0" b="-22090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2024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59"/>
                </a:lnSpc>
              </a:pPr>
              <a:r>
                <a:rPr lang="en-US" sz="5049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Marketing, Traffic &amp; Halo Effect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221992"/>
            <a:ext cx="8298180" cy="1371600"/>
            <a:chOff x="0" y="0"/>
            <a:chExt cx="1106424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642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802" r="0" b="-6780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2150554"/>
            <a:ext cx="8298180" cy="2117482"/>
            <a:chOff x="0" y="0"/>
            <a:chExt cx="11064240" cy="28233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64240" cy="2823309"/>
            </a:xfrm>
            <a:custGeom>
              <a:avLst/>
              <a:gdLst/>
              <a:ahLst/>
              <a:cxnLst/>
              <a:rect r="r" b="b" t="t" l="l"/>
              <a:pathLst>
                <a:path h="2823309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2823309"/>
                  </a:lnTo>
                  <a:lnTo>
                    <a:pt x="0" y="28233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285" r="0" b="-1043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1064240" cy="2899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27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Measures advertising performance and the relationship between PPC campaigns and organic sales — quantifying the Halo Effect of paid ads.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3730752"/>
            <a:ext cx="8298180" cy="411480"/>
            <a:chOff x="0" y="0"/>
            <a:chExt cx="1106424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64240" cy="548640"/>
            </a:xfrm>
            <a:custGeom>
              <a:avLst/>
              <a:gdLst/>
              <a:ahLst/>
              <a:cxnLst/>
              <a:rect r="r" b="b" t="t" l="l"/>
              <a:pathLst>
                <a:path h="54864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75" r="0" b="-34267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0120" y="4383942"/>
            <a:ext cx="8298180" cy="509054"/>
            <a:chOff x="0" y="0"/>
            <a:chExt cx="11064240" cy="6787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64240" cy="678739"/>
            </a:xfrm>
            <a:custGeom>
              <a:avLst/>
              <a:gdLst/>
              <a:ahLst/>
              <a:cxnLst/>
              <a:rect r="r" b="b" t="t" l="l"/>
              <a:pathLst>
                <a:path h="678739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678739"/>
                  </a:lnTo>
                  <a:lnTo>
                    <a:pt x="0" y="6787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5809" r="0" b="-25944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1064240" cy="678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8"/>
                </a:lnSpc>
              </a:pPr>
              <a:r>
                <a:rPr lang="en-US" b="true" sz="2574" spc="367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PRIMARY KPIs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1070" y="4940622"/>
            <a:ext cx="2540583" cy="548640"/>
            <a:chOff x="0" y="0"/>
            <a:chExt cx="3387444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87444" cy="731520"/>
            </a:xfrm>
            <a:custGeom>
              <a:avLst/>
              <a:gdLst/>
              <a:ahLst/>
              <a:cxnLst/>
              <a:rect r="r" b="b" t="t" l="l"/>
              <a:pathLst>
                <a:path h="731520" w="3387444">
                  <a:moveTo>
                    <a:pt x="0" y="164592"/>
                  </a:moveTo>
                  <a:cubicBezTo>
                    <a:pt x="0" y="73660"/>
                    <a:pt x="82092" y="0"/>
                    <a:pt x="183434" y="0"/>
                  </a:cubicBezTo>
                  <a:lnTo>
                    <a:pt x="3204009" y="0"/>
                  </a:lnTo>
                  <a:cubicBezTo>
                    <a:pt x="3305351" y="0"/>
                    <a:pt x="3387444" y="73660"/>
                    <a:pt x="3387444" y="164592"/>
                  </a:cubicBezTo>
                  <a:lnTo>
                    <a:pt x="3387444" y="566928"/>
                  </a:lnTo>
                  <a:cubicBezTo>
                    <a:pt x="3387444" y="657860"/>
                    <a:pt x="3305351" y="731520"/>
                    <a:pt x="3204009" y="731520"/>
                  </a:cubicBezTo>
                  <a:lnTo>
                    <a:pt x="183434" y="731520"/>
                  </a:lnTo>
                  <a:cubicBezTo>
                    <a:pt x="82092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41070" y="4940622"/>
            <a:ext cx="2540561" cy="548640"/>
            <a:chOff x="0" y="0"/>
            <a:chExt cx="3387415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87441" cy="731520"/>
            </a:xfrm>
            <a:custGeom>
              <a:avLst/>
              <a:gdLst/>
              <a:ahLst/>
              <a:cxnLst/>
              <a:rect r="r" b="b" t="t" l="l"/>
              <a:pathLst>
                <a:path h="731520" w="3387441">
                  <a:moveTo>
                    <a:pt x="0" y="0"/>
                  </a:moveTo>
                  <a:lnTo>
                    <a:pt x="3387441" y="0"/>
                  </a:lnTo>
                  <a:lnTo>
                    <a:pt x="338744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67" r="0" b="-4016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41070" y="4912047"/>
            <a:ext cx="2540561" cy="577215"/>
            <a:chOff x="0" y="0"/>
            <a:chExt cx="3387415" cy="7696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87415" cy="769620"/>
            </a:xfrm>
            <a:custGeom>
              <a:avLst/>
              <a:gdLst/>
              <a:ahLst/>
              <a:cxnLst/>
              <a:rect r="r" b="b" t="t" l="l"/>
              <a:pathLst>
                <a:path h="769620" w="3387415">
                  <a:moveTo>
                    <a:pt x="0" y="0"/>
                  </a:moveTo>
                  <a:lnTo>
                    <a:pt x="3387415" y="0"/>
                  </a:lnTo>
                  <a:lnTo>
                    <a:pt x="3387415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952" r="10271" b="-2695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387415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Sessions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710924" y="4940622"/>
            <a:ext cx="2159915" cy="548640"/>
            <a:chOff x="0" y="0"/>
            <a:chExt cx="2879886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79886" cy="731520"/>
            </a:xfrm>
            <a:custGeom>
              <a:avLst/>
              <a:gdLst/>
              <a:ahLst/>
              <a:cxnLst/>
              <a:rect r="r" b="b" t="t" l="l"/>
              <a:pathLst>
                <a:path h="731520" w="2879886">
                  <a:moveTo>
                    <a:pt x="0" y="164592"/>
                  </a:moveTo>
                  <a:cubicBezTo>
                    <a:pt x="0" y="73660"/>
                    <a:pt x="82092" y="0"/>
                    <a:pt x="183434" y="0"/>
                  </a:cubicBezTo>
                  <a:lnTo>
                    <a:pt x="2696452" y="0"/>
                  </a:lnTo>
                  <a:cubicBezTo>
                    <a:pt x="2797794" y="0"/>
                    <a:pt x="2879886" y="73660"/>
                    <a:pt x="2879886" y="164592"/>
                  </a:cubicBezTo>
                  <a:lnTo>
                    <a:pt x="2879886" y="566928"/>
                  </a:lnTo>
                  <a:cubicBezTo>
                    <a:pt x="2879886" y="657860"/>
                    <a:pt x="2797794" y="731520"/>
                    <a:pt x="2696452" y="731520"/>
                  </a:cubicBezTo>
                  <a:lnTo>
                    <a:pt x="183434" y="731520"/>
                  </a:lnTo>
                  <a:cubicBezTo>
                    <a:pt x="82092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710924" y="4940622"/>
            <a:ext cx="2159936" cy="548640"/>
            <a:chOff x="0" y="0"/>
            <a:chExt cx="2879914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879886" cy="731520"/>
            </a:xfrm>
            <a:custGeom>
              <a:avLst/>
              <a:gdLst/>
              <a:ahLst/>
              <a:cxnLst/>
              <a:rect r="r" b="b" t="t" l="l"/>
              <a:pathLst>
                <a:path h="731520" w="2879886">
                  <a:moveTo>
                    <a:pt x="0" y="0"/>
                  </a:moveTo>
                  <a:lnTo>
                    <a:pt x="2879886" y="0"/>
                  </a:lnTo>
                  <a:lnTo>
                    <a:pt x="287988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57" r="0" b="-26657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711616" y="4953957"/>
            <a:ext cx="2159936" cy="577215"/>
            <a:chOff x="0" y="0"/>
            <a:chExt cx="2879914" cy="7696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79915" cy="769620"/>
            </a:xfrm>
            <a:custGeom>
              <a:avLst/>
              <a:gdLst/>
              <a:ahLst/>
              <a:cxnLst/>
              <a:rect r="r" b="b" t="t" l="l"/>
              <a:pathLst>
                <a:path h="769620" w="2879915">
                  <a:moveTo>
                    <a:pt x="0" y="0"/>
                  </a:moveTo>
                  <a:lnTo>
                    <a:pt x="2879915" y="0"/>
                  </a:lnTo>
                  <a:lnTo>
                    <a:pt x="2879915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23" r="10271" b="-1542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87991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Average CTR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100293" y="4940622"/>
            <a:ext cx="2863494" cy="548640"/>
            <a:chOff x="0" y="0"/>
            <a:chExt cx="3817992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817992" cy="731520"/>
            </a:xfrm>
            <a:custGeom>
              <a:avLst/>
              <a:gdLst/>
              <a:ahLst/>
              <a:cxnLst/>
              <a:rect r="r" b="b" t="t" l="l"/>
              <a:pathLst>
                <a:path h="731520" w="3817992">
                  <a:moveTo>
                    <a:pt x="0" y="164592"/>
                  </a:moveTo>
                  <a:cubicBezTo>
                    <a:pt x="0" y="73660"/>
                    <a:pt x="88126" y="0"/>
                    <a:pt x="196917" y="0"/>
                  </a:cubicBezTo>
                  <a:lnTo>
                    <a:pt x="3621076" y="0"/>
                  </a:lnTo>
                  <a:cubicBezTo>
                    <a:pt x="3729866" y="0"/>
                    <a:pt x="3817992" y="73660"/>
                    <a:pt x="3817992" y="164592"/>
                  </a:cubicBezTo>
                  <a:lnTo>
                    <a:pt x="3817992" y="566928"/>
                  </a:lnTo>
                  <a:cubicBezTo>
                    <a:pt x="3817992" y="657860"/>
                    <a:pt x="3729866" y="731520"/>
                    <a:pt x="3621076" y="731520"/>
                  </a:cubicBezTo>
                  <a:lnTo>
                    <a:pt x="196917" y="731520"/>
                  </a:lnTo>
                  <a:cubicBezTo>
                    <a:pt x="88126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100293" y="4940622"/>
            <a:ext cx="2863494" cy="548640"/>
            <a:chOff x="0" y="0"/>
            <a:chExt cx="3817992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817992" cy="731520"/>
            </a:xfrm>
            <a:custGeom>
              <a:avLst/>
              <a:gdLst/>
              <a:ahLst/>
              <a:cxnLst/>
              <a:rect r="r" b="b" t="t" l="l"/>
              <a:pathLst>
                <a:path h="731520" w="3817992">
                  <a:moveTo>
                    <a:pt x="0" y="0"/>
                  </a:moveTo>
                  <a:lnTo>
                    <a:pt x="3817992" y="0"/>
                  </a:lnTo>
                  <a:lnTo>
                    <a:pt x="38179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26" r="0" b="-51626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098239" y="4926334"/>
            <a:ext cx="2863494" cy="577215"/>
            <a:chOff x="0" y="0"/>
            <a:chExt cx="3817992" cy="7696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817992" cy="769620"/>
            </a:xfrm>
            <a:custGeom>
              <a:avLst/>
              <a:gdLst/>
              <a:ahLst/>
              <a:cxnLst/>
              <a:rect r="r" b="b" t="t" l="l"/>
              <a:pathLst>
                <a:path h="769620" w="3817992">
                  <a:moveTo>
                    <a:pt x="0" y="0"/>
                  </a:moveTo>
                  <a:lnTo>
                    <a:pt x="3817992" y="0"/>
                  </a:lnTo>
                  <a:lnTo>
                    <a:pt x="3817992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795" r="16415" b="-3079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38179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PPC Spend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1545" y="5663565"/>
            <a:ext cx="2667119" cy="548640"/>
            <a:chOff x="0" y="0"/>
            <a:chExt cx="3556159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556159" cy="731520"/>
            </a:xfrm>
            <a:custGeom>
              <a:avLst/>
              <a:gdLst/>
              <a:ahLst/>
              <a:cxnLst/>
              <a:rect r="r" b="b" t="t" l="l"/>
              <a:pathLst>
                <a:path h="731520" w="3556159">
                  <a:moveTo>
                    <a:pt x="0" y="164592"/>
                  </a:moveTo>
                  <a:cubicBezTo>
                    <a:pt x="0" y="73660"/>
                    <a:pt x="82083" y="0"/>
                    <a:pt x="183412" y="0"/>
                  </a:cubicBezTo>
                  <a:lnTo>
                    <a:pt x="3372747" y="0"/>
                  </a:lnTo>
                  <a:cubicBezTo>
                    <a:pt x="3474077" y="0"/>
                    <a:pt x="3556159" y="73660"/>
                    <a:pt x="3556159" y="164592"/>
                  </a:cubicBezTo>
                  <a:lnTo>
                    <a:pt x="3556159" y="566928"/>
                  </a:lnTo>
                  <a:cubicBezTo>
                    <a:pt x="3556159" y="657860"/>
                    <a:pt x="3474077" y="731520"/>
                    <a:pt x="3372747" y="731520"/>
                  </a:cubicBezTo>
                  <a:lnTo>
                    <a:pt x="183412" y="731520"/>
                  </a:lnTo>
                  <a:cubicBezTo>
                    <a:pt x="82083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31545" y="5663565"/>
            <a:ext cx="2650014" cy="577215"/>
            <a:chOff x="0" y="0"/>
            <a:chExt cx="3533353" cy="7696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533353" cy="769620"/>
            </a:xfrm>
            <a:custGeom>
              <a:avLst/>
              <a:gdLst/>
              <a:ahLst/>
              <a:cxnLst/>
              <a:rect r="r" b="b" t="t" l="l"/>
              <a:pathLst>
                <a:path h="769620" w="3533353">
                  <a:moveTo>
                    <a:pt x="0" y="0"/>
                  </a:moveTo>
                  <a:lnTo>
                    <a:pt x="3533353" y="0"/>
                  </a:lnTo>
                  <a:lnTo>
                    <a:pt x="3533353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795" r="9681" b="-3079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533353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PPC Sales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942876" y="5644941"/>
            <a:ext cx="3623158" cy="548640"/>
            <a:chOff x="0" y="0"/>
            <a:chExt cx="4830878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30878" cy="731520"/>
            </a:xfrm>
            <a:custGeom>
              <a:avLst/>
              <a:gdLst/>
              <a:ahLst/>
              <a:cxnLst/>
              <a:rect r="r" b="b" t="t" l="l"/>
              <a:pathLst>
                <a:path h="731520" w="4830878">
                  <a:moveTo>
                    <a:pt x="0" y="164592"/>
                  </a:moveTo>
                  <a:cubicBezTo>
                    <a:pt x="0" y="73660"/>
                    <a:pt x="93681" y="0"/>
                    <a:pt x="209329" y="0"/>
                  </a:cubicBezTo>
                  <a:lnTo>
                    <a:pt x="4621549" y="0"/>
                  </a:lnTo>
                  <a:cubicBezTo>
                    <a:pt x="4737197" y="0"/>
                    <a:pt x="4830878" y="73660"/>
                    <a:pt x="4830878" y="164592"/>
                  </a:cubicBezTo>
                  <a:lnTo>
                    <a:pt x="4830878" y="566928"/>
                  </a:lnTo>
                  <a:cubicBezTo>
                    <a:pt x="4830878" y="657860"/>
                    <a:pt x="4737197" y="731520"/>
                    <a:pt x="4621549" y="731520"/>
                  </a:cubicBezTo>
                  <a:lnTo>
                    <a:pt x="209329" y="731520"/>
                  </a:lnTo>
                  <a:cubicBezTo>
                    <a:pt x="93681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120956" y="5626422"/>
            <a:ext cx="3226689" cy="577215"/>
            <a:chOff x="0" y="0"/>
            <a:chExt cx="4302252" cy="7696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02252" cy="769620"/>
            </a:xfrm>
            <a:custGeom>
              <a:avLst/>
              <a:gdLst/>
              <a:ahLst/>
              <a:cxnLst/>
              <a:rect r="r" b="b" t="t" l="l"/>
              <a:pathLst>
                <a:path h="769620" w="4302252">
                  <a:moveTo>
                    <a:pt x="0" y="0"/>
                  </a:moveTo>
                  <a:lnTo>
                    <a:pt x="4302252" y="0"/>
                  </a:lnTo>
                  <a:lnTo>
                    <a:pt x="4302252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167" r="11710" b="-4616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430225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Avg Conversion Rate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1545" y="6536059"/>
            <a:ext cx="8298180" cy="411480"/>
            <a:chOff x="0" y="0"/>
            <a:chExt cx="1106424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064240" cy="548640"/>
            </a:xfrm>
            <a:custGeom>
              <a:avLst/>
              <a:gdLst/>
              <a:ahLst/>
              <a:cxnLst/>
              <a:rect r="r" b="b" t="t" l="l"/>
              <a:pathLst>
                <a:path h="54864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75" r="0" b="-342673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31545" y="6521772"/>
            <a:ext cx="8298180" cy="509054"/>
            <a:chOff x="0" y="0"/>
            <a:chExt cx="11064240" cy="67873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064240" cy="678739"/>
            </a:xfrm>
            <a:custGeom>
              <a:avLst/>
              <a:gdLst/>
              <a:ahLst/>
              <a:cxnLst/>
              <a:rect r="r" b="b" t="t" l="l"/>
              <a:pathLst>
                <a:path h="678739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678739"/>
                  </a:lnTo>
                  <a:lnTo>
                    <a:pt x="0" y="6787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5809" r="0" b="-25944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11064240" cy="678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8"/>
                </a:lnSpc>
              </a:pPr>
              <a:r>
                <a:rPr lang="en-US" b="true" sz="2574" spc="367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KEY VISUALIZATIONS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31545" y="7151209"/>
            <a:ext cx="329184" cy="417627"/>
            <a:chOff x="0" y="0"/>
            <a:chExt cx="438912" cy="556836"/>
          </a:xfrm>
        </p:grpSpPr>
        <p:sp>
          <p:nvSpPr>
            <p:cNvPr name="Freeform 59" id="59" descr="/home/claude/deck/icons/chartbar_7FB069.png"/>
            <p:cNvSpPr/>
            <p:nvPr/>
          </p:nvSpPr>
          <p:spPr>
            <a:xfrm flipH="false" flipV="false" rot="0">
              <a:off x="0" y="0"/>
              <a:ext cx="438912" cy="556837"/>
            </a:xfrm>
            <a:custGeom>
              <a:avLst/>
              <a:gdLst/>
              <a:ahLst/>
              <a:cxnLst/>
              <a:rect r="r" b="b" t="t" l="l"/>
              <a:pathLst>
                <a:path h="556837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56837"/>
                  </a:lnTo>
                  <a:lnTo>
                    <a:pt x="0" y="556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433" t="0" r="-13433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70457" y="7012000"/>
            <a:ext cx="3669030" cy="870057"/>
            <a:chOff x="0" y="0"/>
            <a:chExt cx="4892040" cy="11600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892040" cy="1160076"/>
            </a:xfrm>
            <a:custGeom>
              <a:avLst/>
              <a:gdLst/>
              <a:ahLst/>
              <a:cxnLst/>
              <a:rect r="r" b="b" t="t" l="l"/>
              <a:pathLst>
                <a:path h="1160076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160076"/>
                  </a:lnTo>
                  <a:lnTo>
                    <a:pt x="0" y="11600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11" r="0" b="-32111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70457" y="6966684"/>
            <a:ext cx="3669030" cy="915372"/>
            <a:chOff x="0" y="0"/>
            <a:chExt cx="4892040" cy="122049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892040" cy="1220497"/>
            </a:xfrm>
            <a:custGeom>
              <a:avLst/>
              <a:gdLst/>
              <a:ahLst/>
              <a:cxnLst/>
              <a:rect r="r" b="b" t="t" l="l"/>
              <a:pathLst>
                <a:path h="1220497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220497"/>
                  </a:lnTo>
                  <a:lnTo>
                    <a:pt x="0" y="12204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689" r="0" b="-1751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4892040" cy="12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4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Halo Effect Trend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874895" y="7151209"/>
            <a:ext cx="329184" cy="417627"/>
            <a:chOff x="0" y="0"/>
            <a:chExt cx="438912" cy="556836"/>
          </a:xfrm>
        </p:grpSpPr>
        <p:sp>
          <p:nvSpPr>
            <p:cNvPr name="Freeform 66" id="66" descr="/home/claude/deck/icons/chartbar_7FB069.png"/>
            <p:cNvSpPr/>
            <p:nvPr/>
          </p:nvSpPr>
          <p:spPr>
            <a:xfrm flipH="false" flipV="false" rot="0">
              <a:off x="0" y="0"/>
              <a:ext cx="438912" cy="556837"/>
            </a:xfrm>
            <a:custGeom>
              <a:avLst/>
              <a:gdLst/>
              <a:ahLst/>
              <a:cxnLst/>
              <a:rect r="r" b="b" t="t" l="l"/>
              <a:pathLst>
                <a:path h="556837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56837"/>
                  </a:lnTo>
                  <a:lnTo>
                    <a:pt x="0" y="556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433" t="0" r="-13433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313807" y="7012000"/>
            <a:ext cx="3669030" cy="870057"/>
            <a:chOff x="0" y="0"/>
            <a:chExt cx="4892040" cy="116007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892040" cy="1160076"/>
            </a:xfrm>
            <a:custGeom>
              <a:avLst/>
              <a:gdLst/>
              <a:ahLst/>
              <a:cxnLst/>
              <a:rect r="r" b="b" t="t" l="l"/>
              <a:pathLst>
                <a:path h="1160076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160076"/>
                  </a:lnTo>
                  <a:lnTo>
                    <a:pt x="0" y="11600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11" r="0" b="-32111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313807" y="6966684"/>
            <a:ext cx="3669030" cy="915372"/>
            <a:chOff x="0" y="0"/>
            <a:chExt cx="4892040" cy="122049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892040" cy="1220497"/>
            </a:xfrm>
            <a:custGeom>
              <a:avLst/>
              <a:gdLst/>
              <a:ahLst/>
              <a:cxnLst/>
              <a:rect r="r" b="b" t="t" l="l"/>
              <a:pathLst>
                <a:path h="1220497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220497"/>
                  </a:lnTo>
                  <a:lnTo>
                    <a:pt x="0" y="12204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689" r="0" b="-1751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4892040" cy="12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4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PPC Cost vs PPC Sales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31545" y="8056068"/>
            <a:ext cx="329184" cy="417627"/>
            <a:chOff x="0" y="0"/>
            <a:chExt cx="438912" cy="556836"/>
          </a:xfrm>
        </p:grpSpPr>
        <p:sp>
          <p:nvSpPr>
            <p:cNvPr name="Freeform 73" id="73" descr="/home/claude/deck/icons/chartbar_7FB069.png"/>
            <p:cNvSpPr/>
            <p:nvPr/>
          </p:nvSpPr>
          <p:spPr>
            <a:xfrm flipH="false" flipV="false" rot="0">
              <a:off x="0" y="0"/>
              <a:ext cx="438912" cy="556837"/>
            </a:xfrm>
            <a:custGeom>
              <a:avLst/>
              <a:gdLst/>
              <a:ahLst/>
              <a:cxnLst/>
              <a:rect r="r" b="b" t="t" l="l"/>
              <a:pathLst>
                <a:path h="556837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56837"/>
                  </a:lnTo>
                  <a:lnTo>
                    <a:pt x="0" y="556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433" t="0" r="-13433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70457" y="7916859"/>
            <a:ext cx="3669030" cy="870057"/>
            <a:chOff x="0" y="0"/>
            <a:chExt cx="4892040" cy="116007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892040" cy="1160076"/>
            </a:xfrm>
            <a:custGeom>
              <a:avLst/>
              <a:gdLst/>
              <a:ahLst/>
              <a:cxnLst/>
              <a:rect r="r" b="b" t="t" l="l"/>
              <a:pathLst>
                <a:path h="1160076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160076"/>
                  </a:lnTo>
                  <a:lnTo>
                    <a:pt x="0" y="11600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11" r="0" b="-32111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370457" y="7871544"/>
            <a:ext cx="3669030" cy="1136638"/>
            <a:chOff x="0" y="0"/>
            <a:chExt cx="4892040" cy="151551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892040" cy="1515518"/>
            </a:xfrm>
            <a:custGeom>
              <a:avLst/>
              <a:gdLst/>
              <a:ahLst/>
              <a:cxnLst/>
              <a:rect r="r" b="b" t="t" l="l"/>
              <a:pathLst>
                <a:path h="1515518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515518"/>
                  </a:lnTo>
                  <a:lnTo>
                    <a:pt x="0" y="151551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157" r="0" b="536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4892040" cy="15440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4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Traffic vs Conversion Scatter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4874895" y="8056068"/>
            <a:ext cx="329184" cy="417627"/>
            <a:chOff x="0" y="0"/>
            <a:chExt cx="438912" cy="556836"/>
          </a:xfrm>
        </p:grpSpPr>
        <p:sp>
          <p:nvSpPr>
            <p:cNvPr name="Freeform 80" id="80" descr="/home/claude/deck/icons/chartbar_7FB069.png"/>
            <p:cNvSpPr/>
            <p:nvPr/>
          </p:nvSpPr>
          <p:spPr>
            <a:xfrm flipH="false" flipV="false" rot="0">
              <a:off x="0" y="0"/>
              <a:ext cx="438912" cy="556837"/>
            </a:xfrm>
            <a:custGeom>
              <a:avLst/>
              <a:gdLst/>
              <a:ahLst/>
              <a:cxnLst/>
              <a:rect r="r" b="b" t="t" l="l"/>
              <a:pathLst>
                <a:path h="556837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56837"/>
                  </a:lnTo>
                  <a:lnTo>
                    <a:pt x="0" y="556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433" t="0" r="-13433" b="0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5313807" y="7916859"/>
            <a:ext cx="3669030" cy="870057"/>
            <a:chOff x="0" y="0"/>
            <a:chExt cx="4892040" cy="116007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892040" cy="1160076"/>
            </a:xfrm>
            <a:custGeom>
              <a:avLst/>
              <a:gdLst/>
              <a:ahLst/>
              <a:cxnLst/>
              <a:rect r="r" b="b" t="t" l="l"/>
              <a:pathLst>
                <a:path h="1160076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160076"/>
                  </a:lnTo>
                  <a:lnTo>
                    <a:pt x="0" y="11600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11" r="0" b="-32111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5313807" y="7871544"/>
            <a:ext cx="3669030" cy="915372"/>
            <a:chOff x="0" y="0"/>
            <a:chExt cx="4892040" cy="122049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892040" cy="1220497"/>
            </a:xfrm>
            <a:custGeom>
              <a:avLst/>
              <a:gdLst/>
              <a:ahLst/>
              <a:cxnLst/>
              <a:rect r="r" b="b" t="t" l="l"/>
              <a:pathLst>
                <a:path h="1220497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220497"/>
                  </a:lnTo>
                  <a:lnTo>
                    <a:pt x="0" y="12204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689" r="0" b="-1751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4892040" cy="12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4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PPC Sales Distribution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381811" y="7670487"/>
            <a:ext cx="8298180" cy="850392"/>
            <a:chOff x="0" y="0"/>
            <a:chExt cx="11064240" cy="113385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1064239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064239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0808208" y="0"/>
                  </a:lnTo>
                  <a:cubicBezTo>
                    <a:pt x="10949559" y="0"/>
                    <a:pt x="11064239" y="114681"/>
                    <a:pt x="11064239" y="256032"/>
                  </a:cubicBezTo>
                  <a:lnTo>
                    <a:pt x="11064239" y="877824"/>
                  </a:lnTo>
                  <a:cubicBezTo>
                    <a:pt x="11064239" y="1019175"/>
                    <a:pt x="10949559" y="1133856"/>
                    <a:pt x="10808208" y="1133856"/>
                  </a:cubicBezTo>
                  <a:lnTo>
                    <a:pt x="256032" y="1133856"/>
                  </a:lnTo>
                  <a:cubicBezTo>
                    <a:pt x="114681" y="1133856"/>
                    <a:pt x="0" y="1019175"/>
                    <a:pt x="0" y="877824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628699" y="7876227"/>
            <a:ext cx="438912" cy="438912"/>
            <a:chOff x="0" y="0"/>
            <a:chExt cx="585216" cy="585216"/>
          </a:xfrm>
        </p:grpSpPr>
        <p:sp>
          <p:nvSpPr>
            <p:cNvPr name="Freeform 89" id="89" descr="/home/claude/deck/icons/filter_1B4332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0232203" y="7670487"/>
            <a:ext cx="7200900" cy="850392"/>
            <a:chOff x="0" y="0"/>
            <a:chExt cx="9601200" cy="113385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6012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79" r="0" b="-114880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232203" y="7656199"/>
            <a:ext cx="7200900" cy="864679"/>
            <a:chOff x="0" y="0"/>
            <a:chExt cx="9601200" cy="115290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601200" cy="1152906"/>
            </a:xfrm>
            <a:custGeom>
              <a:avLst/>
              <a:gdLst/>
              <a:ahLst/>
              <a:cxnLst/>
              <a:rect r="r" b="b" t="t" l="l"/>
              <a:pathLst>
                <a:path h="115290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152906"/>
                  </a:lnTo>
                  <a:lnTo>
                    <a:pt x="0" y="1152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268" r="0" b="-11226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960120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8"/>
                </a:lnSpc>
              </a:pPr>
              <a:r>
                <a:rPr lang="en-US" sz="2574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Filters:  </a:t>
              </a:r>
              <a:r>
                <a:rPr lang="en-US" sz="2574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Date  ·  Marketplace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822960" y="9572625"/>
            <a:ext cx="8229600" cy="473595"/>
            <a:chOff x="0" y="0"/>
            <a:chExt cx="10972800" cy="63146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972800" cy="631461"/>
            </a:xfrm>
            <a:custGeom>
              <a:avLst/>
              <a:gdLst/>
              <a:ahLst/>
              <a:cxnLst/>
              <a:rect r="r" b="b" t="t" l="l"/>
              <a:pathLst>
                <a:path h="631461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31461"/>
                  </a:lnTo>
                  <a:lnTo>
                    <a:pt x="0" y="6314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2129" r="0" b="-285047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10972800" cy="631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8"/>
                </a:lnSpc>
              </a:pPr>
              <a:r>
                <a:rPr lang="en-US" sz="2424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7053103" y="9572625"/>
            <a:ext cx="822960" cy="486351"/>
            <a:chOff x="0" y="0"/>
            <a:chExt cx="1097280" cy="64846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97280" cy="648467"/>
            </a:xfrm>
            <a:custGeom>
              <a:avLst/>
              <a:gdLst/>
              <a:ahLst/>
              <a:cxnLst/>
              <a:rect r="r" b="b" t="t" l="l"/>
              <a:pathLst>
                <a:path h="648467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8467"/>
                  </a:lnTo>
                  <a:lnTo>
                    <a:pt x="0" y="6484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9518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1097280" cy="648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999"/>
                </a:lnSpc>
              </a:pPr>
              <a:r>
                <a:rPr lang="en-US" sz="249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17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106" id="106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108" id="108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1081" r="0" b="-31081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47" r="0" b="-345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011412" y="2203333"/>
            <a:ext cx="9162288" cy="5176247"/>
            <a:chOff x="0" y="0"/>
            <a:chExt cx="12216384" cy="6901663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2216384" cy="6901688"/>
            </a:xfrm>
            <a:custGeom>
              <a:avLst/>
              <a:gdLst/>
              <a:ahLst/>
              <a:cxnLst/>
              <a:rect r="r" b="b" t="t" l="l"/>
              <a:pathLst>
                <a:path h="6901688" w="12216384">
                  <a:moveTo>
                    <a:pt x="0" y="0"/>
                  </a:moveTo>
                  <a:lnTo>
                    <a:pt x="12216384" y="0"/>
                  </a:lnTo>
                  <a:lnTo>
                    <a:pt x="12216384" y="6901688"/>
                  </a:lnTo>
                  <a:lnTo>
                    <a:pt x="0" y="6901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12" r="0" b="-212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7148496" y="9417628"/>
            <a:ext cx="891540" cy="595052"/>
            <a:chOff x="0" y="0"/>
            <a:chExt cx="1188720" cy="793403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18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69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DASHBOARD 5 OF 7  ·  POWER BI COMMAND CENTER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1117568"/>
            <a:ext cx="14401800" cy="1192399"/>
            <a:chOff x="0" y="0"/>
            <a:chExt cx="19202400" cy="15898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589866"/>
            </a:xfrm>
            <a:custGeom>
              <a:avLst/>
              <a:gdLst/>
              <a:ahLst/>
              <a:cxnLst/>
              <a:rect r="r" b="b" t="t" l="l"/>
              <a:pathLst>
                <a:path h="1589866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589866"/>
                  </a:lnTo>
                  <a:lnTo>
                    <a:pt x="0" y="15898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1905" r="0" b="-1787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589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59"/>
                </a:lnSpc>
              </a:pPr>
              <a:r>
                <a:rPr lang="en-US" sz="6049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Refund Leakage &amp; Quality Control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221992"/>
            <a:ext cx="8298180" cy="1371600"/>
            <a:chOff x="0" y="0"/>
            <a:chExt cx="1106424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642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802" r="0" b="-6780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87552" y="1926574"/>
            <a:ext cx="8298180" cy="1964803"/>
            <a:chOff x="0" y="0"/>
            <a:chExt cx="11064240" cy="26197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64240" cy="2619737"/>
            </a:xfrm>
            <a:custGeom>
              <a:avLst/>
              <a:gdLst/>
              <a:ahLst/>
              <a:cxnLst/>
              <a:rect r="r" b="b" t="t" l="l"/>
              <a:pathLst>
                <a:path h="2619737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2619737"/>
                  </a:lnTo>
                  <a:lnTo>
                    <a:pt x="0" y="261973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571" r="0" b="-190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1064240" cy="2648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37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Focuses on product quality, refund behavior, and the financial losses caused by customer returns across the business.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3730752"/>
            <a:ext cx="8298180" cy="411480"/>
            <a:chOff x="0" y="0"/>
            <a:chExt cx="1106424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64240" cy="548640"/>
            </a:xfrm>
            <a:custGeom>
              <a:avLst/>
              <a:gdLst/>
              <a:ahLst/>
              <a:cxnLst/>
              <a:rect r="r" b="b" t="t" l="l"/>
              <a:pathLst>
                <a:path h="54864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75" r="0" b="-34267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0120" y="3876103"/>
            <a:ext cx="8298180" cy="707485"/>
            <a:chOff x="0" y="0"/>
            <a:chExt cx="11064240" cy="94331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64240" cy="943313"/>
            </a:xfrm>
            <a:custGeom>
              <a:avLst/>
              <a:gdLst/>
              <a:ahLst/>
              <a:cxnLst/>
              <a:rect r="r" b="b" t="t" l="l"/>
              <a:pathLst>
                <a:path h="943313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943313"/>
                  </a:lnTo>
                  <a:lnTo>
                    <a:pt x="0" y="9433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452" r="0" b="-15863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11064240" cy="9337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87"/>
                </a:lnSpc>
              </a:pPr>
              <a:r>
                <a:rPr lang="en-US" b="true" sz="3574" spc="510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PRIMARY KPIs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8550" y="4454271"/>
            <a:ext cx="2962656" cy="548640"/>
            <a:chOff x="0" y="0"/>
            <a:chExt cx="3950208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50208" cy="731520"/>
            </a:xfrm>
            <a:custGeom>
              <a:avLst/>
              <a:gdLst/>
              <a:ahLst/>
              <a:cxnLst/>
              <a:rect r="r" b="b" t="t" l="l"/>
              <a:pathLst>
                <a:path h="731520" w="3950208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785616" y="0"/>
                  </a:lnTo>
                  <a:cubicBezTo>
                    <a:pt x="3876548" y="0"/>
                    <a:pt x="3950208" y="73660"/>
                    <a:pt x="3950208" y="164592"/>
                  </a:cubicBezTo>
                  <a:lnTo>
                    <a:pt x="3950208" y="566928"/>
                  </a:lnTo>
                  <a:cubicBezTo>
                    <a:pt x="3950208" y="657860"/>
                    <a:pt x="3876548" y="731520"/>
                    <a:pt x="3785616" y="731520"/>
                  </a:cubicBezTo>
                  <a:lnTo>
                    <a:pt x="164592" y="731520"/>
                  </a:lnTo>
                  <a:cubicBezTo>
                    <a:pt x="73660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8550" y="4454271"/>
            <a:ext cx="2962656" cy="548640"/>
            <a:chOff x="0" y="0"/>
            <a:chExt cx="3950208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50208" cy="731520"/>
            </a:xfrm>
            <a:custGeom>
              <a:avLst/>
              <a:gdLst/>
              <a:ahLst/>
              <a:cxnLst/>
              <a:rect r="r" b="b" t="t" l="l"/>
              <a:pathLst>
                <a:path h="731520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45" r="0" b="-5514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8550" y="4425696"/>
            <a:ext cx="2962656" cy="684700"/>
            <a:chOff x="0" y="0"/>
            <a:chExt cx="3950208" cy="91293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50208" cy="912933"/>
            </a:xfrm>
            <a:custGeom>
              <a:avLst/>
              <a:gdLst/>
              <a:ahLst/>
              <a:cxnLst/>
              <a:rect r="r" b="b" t="t" l="l"/>
              <a:pathLst>
                <a:path h="912933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912933"/>
                  </a:lnTo>
                  <a:lnTo>
                    <a:pt x="0" y="9129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159" r="0" b="-2646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3950208" cy="903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Refunded Units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136946" y="4454271"/>
            <a:ext cx="1938052" cy="548640"/>
            <a:chOff x="0" y="0"/>
            <a:chExt cx="2584069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84069" cy="731520"/>
            </a:xfrm>
            <a:custGeom>
              <a:avLst/>
              <a:gdLst/>
              <a:ahLst/>
              <a:cxnLst/>
              <a:rect r="r" b="b" t="t" l="l"/>
              <a:pathLst>
                <a:path h="731520" w="258406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419477" y="0"/>
                  </a:lnTo>
                  <a:cubicBezTo>
                    <a:pt x="2510409" y="0"/>
                    <a:pt x="2584069" y="73660"/>
                    <a:pt x="2584069" y="164592"/>
                  </a:cubicBezTo>
                  <a:lnTo>
                    <a:pt x="2584069" y="566928"/>
                  </a:lnTo>
                  <a:cubicBezTo>
                    <a:pt x="2584069" y="657860"/>
                    <a:pt x="2510409" y="731520"/>
                    <a:pt x="2419477" y="731520"/>
                  </a:cubicBezTo>
                  <a:lnTo>
                    <a:pt x="164592" y="731520"/>
                  </a:lnTo>
                  <a:cubicBezTo>
                    <a:pt x="73660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136946" y="4454271"/>
            <a:ext cx="1938071" cy="548640"/>
            <a:chOff x="0" y="0"/>
            <a:chExt cx="2584094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84069" cy="731520"/>
            </a:xfrm>
            <a:custGeom>
              <a:avLst/>
              <a:gdLst/>
              <a:ahLst/>
              <a:cxnLst/>
              <a:rect r="r" b="b" t="t" l="l"/>
              <a:pathLst>
                <a:path h="731520" w="2584069">
                  <a:moveTo>
                    <a:pt x="0" y="0"/>
                  </a:moveTo>
                  <a:lnTo>
                    <a:pt x="2584069" y="0"/>
                  </a:lnTo>
                  <a:lnTo>
                    <a:pt x="258406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82" r="0" b="-18782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136946" y="4425696"/>
            <a:ext cx="1938071" cy="684700"/>
            <a:chOff x="0" y="0"/>
            <a:chExt cx="2584094" cy="91293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84095" cy="912933"/>
            </a:xfrm>
            <a:custGeom>
              <a:avLst/>
              <a:gdLst/>
              <a:ahLst/>
              <a:cxnLst/>
              <a:rect r="r" b="b" t="t" l="l"/>
              <a:pathLst>
                <a:path h="912933" w="2584095">
                  <a:moveTo>
                    <a:pt x="0" y="0"/>
                  </a:moveTo>
                  <a:lnTo>
                    <a:pt x="2584095" y="0"/>
                  </a:lnTo>
                  <a:lnTo>
                    <a:pt x="2584095" y="912933"/>
                  </a:lnTo>
                  <a:lnTo>
                    <a:pt x="0" y="9129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02" r="0" b="269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2584094" cy="903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Refund Rate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280756" y="4454271"/>
            <a:ext cx="2279618" cy="548640"/>
            <a:chOff x="0" y="0"/>
            <a:chExt cx="3039491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39491" cy="731520"/>
            </a:xfrm>
            <a:custGeom>
              <a:avLst/>
              <a:gdLst/>
              <a:ahLst/>
              <a:cxnLst/>
              <a:rect r="r" b="b" t="t" l="l"/>
              <a:pathLst>
                <a:path h="731520" w="3039491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874899" y="0"/>
                  </a:lnTo>
                  <a:cubicBezTo>
                    <a:pt x="2965831" y="0"/>
                    <a:pt x="3039491" y="73660"/>
                    <a:pt x="3039491" y="164592"/>
                  </a:cubicBezTo>
                  <a:lnTo>
                    <a:pt x="3039491" y="566928"/>
                  </a:lnTo>
                  <a:cubicBezTo>
                    <a:pt x="3039491" y="657860"/>
                    <a:pt x="2965831" y="731520"/>
                    <a:pt x="2874899" y="731520"/>
                  </a:cubicBezTo>
                  <a:lnTo>
                    <a:pt x="164592" y="731520"/>
                  </a:lnTo>
                  <a:cubicBezTo>
                    <a:pt x="73660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280756" y="4454271"/>
            <a:ext cx="2279599" cy="548640"/>
            <a:chOff x="0" y="0"/>
            <a:chExt cx="3039466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39491" cy="731520"/>
            </a:xfrm>
            <a:custGeom>
              <a:avLst/>
              <a:gdLst/>
              <a:ahLst/>
              <a:cxnLst/>
              <a:rect r="r" b="b" t="t" l="l"/>
              <a:pathLst>
                <a:path h="731520" w="3039491">
                  <a:moveTo>
                    <a:pt x="0" y="0"/>
                  </a:moveTo>
                  <a:lnTo>
                    <a:pt x="3039491" y="0"/>
                  </a:lnTo>
                  <a:lnTo>
                    <a:pt x="303949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04" r="0" b="-30902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280756" y="4425696"/>
            <a:ext cx="2279599" cy="684700"/>
            <a:chOff x="0" y="0"/>
            <a:chExt cx="3039466" cy="91293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39465" cy="912933"/>
            </a:xfrm>
            <a:custGeom>
              <a:avLst/>
              <a:gdLst/>
              <a:ahLst/>
              <a:cxnLst/>
              <a:rect r="r" b="b" t="t" l="l"/>
              <a:pathLst>
                <a:path h="912933" w="3039465">
                  <a:moveTo>
                    <a:pt x="0" y="0"/>
                  </a:moveTo>
                  <a:lnTo>
                    <a:pt x="3039465" y="0"/>
                  </a:lnTo>
                  <a:lnTo>
                    <a:pt x="3039465" y="912933"/>
                  </a:lnTo>
                  <a:lnTo>
                    <a:pt x="0" y="9129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721" r="0" b="-702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9525"/>
              <a:ext cx="3039466" cy="903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High-Risk SKUs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68550" y="5140071"/>
            <a:ext cx="3594115" cy="548640"/>
            <a:chOff x="0" y="0"/>
            <a:chExt cx="4792153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792153" cy="731520"/>
            </a:xfrm>
            <a:custGeom>
              <a:avLst/>
              <a:gdLst/>
              <a:ahLst/>
              <a:cxnLst/>
              <a:rect r="r" b="b" t="t" l="l"/>
              <a:pathLst>
                <a:path h="731520" w="4792153">
                  <a:moveTo>
                    <a:pt x="0" y="164592"/>
                  </a:moveTo>
                  <a:cubicBezTo>
                    <a:pt x="0" y="73660"/>
                    <a:pt x="80122" y="0"/>
                    <a:pt x="179032" y="0"/>
                  </a:cubicBezTo>
                  <a:lnTo>
                    <a:pt x="4613121" y="0"/>
                  </a:lnTo>
                  <a:cubicBezTo>
                    <a:pt x="4712031" y="0"/>
                    <a:pt x="4792153" y="73660"/>
                    <a:pt x="4792153" y="164592"/>
                  </a:cubicBezTo>
                  <a:lnTo>
                    <a:pt x="4792153" y="566928"/>
                  </a:lnTo>
                  <a:cubicBezTo>
                    <a:pt x="4792153" y="657860"/>
                    <a:pt x="4712031" y="731520"/>
                    <a:pt x="4613121" y="731520"/>
                  </a:cubicBezTo>
                  <a:lnTo>
                    <a:pt x="179032" y="731520"/>
                  </a:lnTo>
                  <a:cubicBezTo>
                    <a:pt x="80122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68550" y="5140071"/>
            <a:ext cx="3594073" cy="548640"/>
            <a:chOff x="0" y="0"/>
            <a:chExt cx="4792098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792149" cy="731520"/>
            </a:xfrm>
            <a:custGeom>
              <a:avLst/>
              <a:gdLst/>
              <a:ahLst/>
              <a:cxnLst/>
              <a:rect r="r" b="b" t="t" l="l"/>
              <a:pathLst>
                <a:path h="731520" w="4792149">
                  <a:moveTo>
                    <a:pt x="0" y="0"/>
                  </a:moveTo>
                  <a:lnTo>
                    <a:pt x="4792149" y="0"/>
                  </a:lnTo>
                  <a:lnTo>
                    <a:pt x="479214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" t="-77558" r="0" b="-77558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8550" y="5159268"/>
            <a:ext cx="3594073" cy="684700"/>
            <a:chOff x="0" y="0"/>
            <a:chExt cx="4792098" cy="91293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792097" cy="912933"/>
            </a:xfrm>
            <a:custGeom>
              <a:avLst/>
              <a:gdLst/>
              <a:ahLst/>
              <a:cxnLst/>
              <a:rect r="r" b="b" t="t" l="l"/>
              <a:pathLst>
                <a:path h="912933" w="4792097">
                  <a:moveTo>
                    <a:pt x="0" y="0"/>
                  </a:moveTo>
                  <a:lnTo>
                    <a:pt x="4792097" y="0"/>
                  </a:lnTo>
                  <a:lnTo>
                    <a:pt x="4792097" y="912933"/>
                  </a:lnTo>
                  <a:lnTo>
                    <a:pt x="0" y="9129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878" r="8065" b="-3618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9525"/>
              <a:ext cx="4792098" cy="903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Revenue Lost to Refunds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900555" y="5149743"/>
            <a:ext cx="3268874" cy="548640"/>
            <a:chOff x="0" y="0"/>
            <a:chExt cx="4358499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58499" cy="731520"/>
            </a:xfrm>
            <a:custGeom>
              <a:avLst/>
              <a:gdLst/>
              <a:ahLst/>
              <a:cxnLst/>
              <a:rect r="r" b="b" t="t" l="l"/>
              <a:pathLst>
                <a:path h="731520" w="4358499">
                  <a:moveTo>
                    <a:pt x="0" y="164592"/>
                  </a:moveTo>
                  <a:cubicBezTo>
                    <a:pt x="0" y="73660"/>
                    <a:pt x="78266" y="0"/>
                    <a:pt x="174885" y="0"/>
                  </a:cubicBezTo>
                  <a:lnTo>
                    <a:pt x="4183614" y="0"/>
                  </a:lnTo>
                  <a:cubicBezTo>
                    <a:pt x="4280232" y="0"/>
                    <a:pt x="4358499" y="73660"/>
                    <a:pt x="4358499" y="164592"/>
                  </a:cubicBezTo>
                  <a:lnTo>
                    <a:pt x="4358499" y="566928"/>
                  </a:lnTo>
                  <a:cubicBezTo>
                    <a:pt x="4358499" y="657860"/>
                    <a:pt x="4280232" y="731520"/>
                    <a:pt x="4183614" y="731520"/>
                  </a:cubicBezTo>
                  <a:lnTo>
                    <a:pt x="174885" y="731520"/>
                  </a:lnTo>
                  <a:cubicBezTo>
                    <a:pt x="78266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900555" y="5149743"/>
            <a:ext cx="3268894" cy="548640"/>
            <a:chOff x="0" y="0"/>
            <a:chExt cx="4358526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358499" cy="731520"/>
            </a:xfrm>
            <a:custGeom>
              <a:avLst/>
              <a:gdLst/>
              <a:ahLst/>
              <a:cxnLst/>
              <a:rect r="r" b="b" t="t" l="l"/>
              <a:pathLst>
                <a:path h="731520" w="4358499">
                  <a:moveTo>
                    <a:pt x="0" y="0"/>
                  </a:moveTo>
                  <a:lnTo>
                    <a:pt x="4358499" y="0"/>
                  </a:lnTo>
                  <a:lnTo>
                    <a:pt x="435849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013" r="0" b="-66015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4900555" y="5121168"/>
            <a:ext cx="3268894" cy="684700"/>
            <a:chOff x="0" y="0"/>
            <a:chExt cx="4358526" cy="91293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358526" cy="912933"/>
            </a:xfrm>
            <a:custGeom>
              <a:avLst/>
              <a:gdLst/>
              <a:ahLst/>
              <a:cxnLst/>
              <a:rect r="r" b="b" t="t" l="l"/>
              <a:pathLst>
                <a:path h="912933" w="4358526">
                  <a:moveTo>
                    <a:pt x="0" y="0"/>
                  </a:moveTo>
                  <a:lnTo>
                    <a:pt x="4358526" y="0"/>
                  </a:lnTo>
                  <a:lnTo>
                    <a:pt x="4358526" y="912933"/>
                  </a:lnTo>
                  <a:lnTo>
                    <a:pt x="0" y="9129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399" r="5885" b="-2970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4358526" cy="903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Highest Refund Market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60120" y="6048756"/>
            <a:ext cx="8298180" cy="411480"/>
            <a:chOff x="0" y="0"/>
            <a:chExt cx="1106424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064240" cy="548640"/>
            </a:xfrm>
            <a:custGeom>
              <a:avLst/>
              <a:gdLst/>
              <a:ahLst/>
              <a:cxnLst/>
              <a:rect r="r" b="b" t="t" l="l"/>
              <a:pathLst>
                <a:path h="54864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75" r="0" b="-342673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60120" y="6034468"/>
            <a:ext cx="8298180" cy="707485"/>
            <a:chOff x="0" y="0"/>
            <a:chExt cx="11064240" cy="94331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064240" cy="943313"/>
            </a:xfrm>
            <a:custGeom>
              <a:avLst/>
              <a:gdLst/>
              <a:ahLst/>
              <a:cxnLst/>
              <a:rect r="r" b="b" t="t" l="l"/>
              <a:pathLst>
                <a:path h="943313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943313"/>
                  </a:lnTo>
                  <a:lnTo>
                    <a:pt x="0" y="9433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452" r="0" b="-15863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9525"/>
              <a:ext cx="11064240" cy="9337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87"/>
                </a:lnSpc>
              </a:pPr>
              <a:r>
                <a:rPr lang="en-US" b="true" sz="3574" spc="510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KEY VISUALIZATIONS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0120" y="6671777"/>
            <a:ext cx="329184" cy="435442"/>
            <a:chOff x="0" y="0"/>
            <a:chExt cx="438912" cy="580589"/>
          </a:xfrm>
        </p:grpSpPr>
        <p:sp>
          <p:nvSpPr>
            <p:cNvPr name="Freeform 63" id="63" descr="/home/claude/deck/icons/chartbar_7FB069.png"/>
            <p:cNvSpPr/>
            <p:nvPr/>
          </p:nvSpPr>
          <p:spPr>
            <a:xfrm flipH="false" flipV="false" rot="0">
              <a:off x="0" y="0"/>
              <a:ext cx="438912" cy="580589"/>
            </a:xfrm>
            <a:custGeom>
              <a:avLst/>
              <a:gdLst/>
              <a:ahLst/>
              <a:cxnLst/>
              <a:rect r="r" b="b" t="t" l="l"/>
              <a:pathLst>
                <a:path h="58058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80589"/>
                  </a:lnTo>
                  <a:lnTo>
                    <a:pt x="0" y="580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139" t="0" r="-16139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399032" y="6526630"/>
            <a:ext cx="3669030" cy="907170"/>
            <a:chOff x="0" y="0"/>
            <a:chExt cx="4892040" cy="12095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892040" cy="1209560"/>
            </a:xfrm>
            <a:custGeom>
              <a:avLst/>
              <a:gdLst/>
              <a:ahLst/>
              <a:cxnLst/>
              <a:rect r="r" b="b" t="t" l="l"/>
              <a:pathLst>
                <a:path h="1209560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209560"/>
                  </a:lnTo>
                  <a:lnTo>
                    <a:pt x="0" y="1209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51" r="0" b="-28751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99032" y="6479381"/>
            <a:ext cx="3669030" cy="954418"/>
            <a:chOff x="0" y="0"/>
            <a:chExt cx="4892040" cy="127255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892040" cy="1272558"/>
            </a:xfrm>
            <a:custGeom>
              <a:avLst/>
              <a:gdLst/>
              <a:ahLst/>
              <a:cxnLst/>
              <a:rect r="r" b="b" t="t" l="l"/>
              <a:pathLst>
                <a:path h="1272558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272558"/>
                  </a:lnTo>
                  <a:lnTo>
                    <a:pt x="0" y="12725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106" r="0" b="-1270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892040" cy="1310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19"/>
                </a:lnSpc>
              </a:pPr>
              <a:r>
                <a:rPr lang="en-US" sz="34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Refund Cost Trend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177790" y="6671777"/>
            <a:ext cx="329184" cy="435442"/>
            <a:chOff x="0" y="0"/>
            <a:chExt cx="438912" cy="580589"/>
          </a:xfrm>
        </p:grpSpPr>
        <p:sp>
          <p:nvSpPr>
            <p:cNvPr name="Freeform 70" id="70" descr="/home/claude/deck/icons/chartbar_7FB069.png"/>
            <p:cNvSpPr/>
            <p:nvPr/>
          </p:nvSpPr>
          <p:spPr>
            <a:xfrm flipH="false" flipV="false" rot="0">
              <a:off x="0" y="0"/>
              <a:ext cx="438912" cy="580589"/>
            </a:xfrm>
            <a:custGeom>
              <a:avLst/>
              <a:gdLst/>
              <a:ahLst/>
              <a:cxnLst/>
              <a:rect r="r" b="b" t="t" l="l"/>
              <a:pathLst>
                <a:path h="58058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80589"/>
                  </a:lnTo>
                  <a:lnTo>
                    <a:pt x="0" y="580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139" t="0" r="-16139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5616702" y="6526630"/>
            <a:ext cx="3669030" cy="907170"/>
            <a:chOff x="0" y="0"/>
            <a:chExt cx="4892040" cy="12095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92040" cy="1209560"/>
            </a:xfrm>
            <a:custGeom>
              <a:avLst/>
              <a:gdLst/>
              <a:ahLst/>
              <a:cxnLst/>
              <a:rect r="r" b="b" t="t" l="l"/>
              <a:pathLst>
                <a:path h="1209560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209560"/>
                  </a:lnTo>
                  <a:lnTo>
                    <a:pt x="0" y="1209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51" r="0" b="-28751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5616702" y="6479381"/>
            <a:ext cx="3669030" cy="954418"/>
            <a:chOff x="0" y="0"/>
            <a:chExt cx="4892040" cy="127255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892040" cy="1272558"/>
            </a:xfrm>
            <a:custGeom>
              <a:avLst/>
              <a:gdLst/>
              <a:ahLst/>
              <a:cxnLst/>
              <a:rect r="r" b="b" t="t" l="l"/>
              <a:pathLst>
                <a:path h="1272558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272558"/>
                  </a:lnTo>
                  <a:lnTo>
                    <a:pt x="0" y="12725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106" r="0" b="-1270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4892040" cy="1310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19"/>
                </a:lnSpc>
              </a:pPr>
              <a:r>
                <a:rPr lang="en-US" sz="34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Worst Offending SKUs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60120" y="7615234"/>
            <a:ext cx="329184" cy="435442"/>
            <a:chOff x="0" y="0"/>
            <a:chExt cx="438912" cy="580589"/>
          </a:xfrm>
        </p:grpSpPr>
        <p:sp>
          <p:nvSpPr>
            <p:cNvPr name="Freeform 77" id="77" descr="/home/claude/deck/icons/chartbar_7FB069.png"/>
            <p:cNvSpPr/>
            <p:nvPr/>
          </p:nvSpPr>
          <p:spPr>
            <a:xfrm flipH="false" flipV="false" rot="0">
              <a:off x="0" y="0"/>
              <a:ext cx="438912" cy="580589"/>
            </a:xfrm>
            <a:custGeom>
              <a:avLst/>
              <a:gdLst/>
              <a:ahLst/>
              <a:cxnLst/>
              <a:rect r="r" b="b" t="t" l="l"/>
              <a:pathLst>
                <a:path h="58058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80589"/>
                  </a:lnTo>
                  <a:lnTo>
                    <a:pt x="0" y="580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139" t="0" r="-16139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399032" y="7470087"/>
            <a:ext cx="3669030" cy="907170"/>
            <a:chOff x="0" y="0"/>
            <a:chExt cx="4892040" cy="12095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892040" cy="1209560"/>
            </a:xfrm>
            <a:custGeom>
              <a:avLst/>
              <a:gdLst/>
              <a:ahLst/>
              <a:cxnLst/>
              <a:rect r="r" b="b" t="t" l="l"/>
              <a:pathLst>
                <a:path h="1209560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209560"/>
                  </a:lnTo>
                  <a:lnTo>
                    <a:pt x="0" y="1209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51" r="0" b="-28751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399032" y="7422838"/>
            <a:ext cx="3669030" cy="954418"/>
            <a:chOff x="0" y="0"/>
            <a:chExt cx="4892040" cy="127255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92040" cy="1272558"/>
            </a:xfrm>
            <a:custGeom>
              <a:avLst/>
              <a:gdLst/>
              <a:ahLst/>
              <a:cxnLst/>
              <a:rect r="r" b="b" t="t" l="l"/>
              <a:pathLst>
                <a:path h="1272558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272558"/>
                  </a:lnTo>
                  <a:lnTo>
                    <a:pt x="0" y="12725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106" r="0" b="-1270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892040" cy="1310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19"/>
                </a:lnSpc>
              </a:pPr>
              <a:r>
                <a:rPr lang="en-US" sz="34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Refund Rate vs Net Margin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177790" y="7615234"/>
            <a:ext cx="329184" cy="435442"/>
            <a:chOff x="0" y="0"/>
            <a:chExt cx="438912" cy="580589"/>
          </a:xfrm>
        </p:grpSpPr>
        <p:sp>
          <p:nvSpPr>
            <p:cNvPr name="Freeform 84" id="84" descr="/home/claude/deck/icons/chartbar_7FB069.png"/>
            <p:cNvSpPr/>
            <p:nvPr/>
          </p:nvSpPr>
          <p:spPr>
            <a:xfrm flipH="false" flipV="false" rot="0">
              <a:off x="0" y="0"/>
              <a:ext cx="438912" cy="580589"/>
            </a:xfrm>
            <a:custGeom>
              <a:avLst/>
              <a:gdLst/>
              <a:ahLst/>
              <a:cxnLst/>
              <a:rect r="r" b="b" t="t" l="l"/>
              <a:pathLst>
                <a:path h="58058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80589"/>
                  </a:lnTo>
                  <a:lnTo>
                    <a:pt x="0" y="580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139" t="0" r="-16139" b="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5616702" y="7470087"/>
            <a:ext cx="3669030" cy="907170"/>
            <a:chOff x="0" y="0"/>
            <a:chExt cx="4892040" cy="12095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892040" cy="1209560"/>
            </a:xfrm>
            <a:custGeom>
              <a:avLst/>
              <a:gdLst/>
              <a:ahLst/>
              <a:cxnLst/>
              <a:rect r="r" b="b" t="t" l="l"/>
              <a:pathLst>
                <a:path h="1209560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209560"/>
                  </a:lnTo>
                  <a:lnTo>
                    <a:pt x="0" y="1209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51" r="0" b="-28751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5616702" y="7422838"/>
            <a:ext cx="3669030" cy="954418"/>
            <a:chOff x="0" y="0"/>
            <a:chExt cx="4892040" cy="127255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892040" cy="1272558"/>
            </a:xfrm>
            <a:custGeom>
              <a:avLst/>
              <a:gdLst/>
              <a:ahLst/>
              <a:cxnLst/>
              <a:rect r="r" b="b" t="t" l="l"/>
              <a:pathLst>
                <a:path h="1272558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272558"/>
                  </a:lnTo>
                  <a:lnTo>
                    <a:pt x="0" y="12725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106" r="0" b="-1270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4892040" cy="1310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19"/>
                </a:lnSpc>
              </a:pPr>
              <a:r>
                <a:rPr lang="en-US" sz="34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High-Risk Product Matrix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499502" y="7629521"/>
            <a:ext cx="8298180" cy="850392"/>
            <a:chOff x="0" y="0"/>
            <a:chExt cx="11064240" cy="113385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064239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064239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0808208" y="0"/>
                  </a:lnTo>
                  <a:cubicBezTo>
                    <a:pt x="10949559" y="0"/>
                    <a:pt x="11064239" y="114681"/>
                    <a:pt x="11064239" y="256032"/>
                  </a:cubicBezTo>
                  <a:lnTo>
                    <a:pt x="11064239" y="877824"/>
                  </a:lnTo>
                  <a:cubicBezTo>
                    <a:pt x="11064239" y="1019175"/>
                    <a:pt x="10949559" y="1133856"/>
                    <a:pt x="10808208" y="1133856"/>
                  </a:cubicBezTo>
                  <a:lnTo>
                    <a:pt x="256032" y="1133856"/>
                  </a:lnTo>
                  <a:cubicBezTo>
                    <a:pt x="114681" y="1133856"/>
                    <a:pt x="0" y="1019175"/>
                    <a:pt x="0" y="877824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746390" y="7835261"/>
            <a:ext cx="438912" cy="438912"/>
            <a:chOff x="0" y="0"/>
            <a:chExt cx="585216" cy="585216"/>
          </a:xfrm>
        </p:grpSpPr>
        <p:sp>
          <p:nvSpPr>
            <p:cNvPr name="Freeform 93" id="93" descr="/home/claude/deck/icons/filter_1B4332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349894" y="7629521"/>
            <a:ext cx="7200900" cy="850392"/>
            <a:chOff x="0" y="0"/>
            <a:chExt cx="9601200" cy="113385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6012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79" r="0" b="-114880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0349894" y="7615234"/>
            <a:ext cx="7200900" cy="864679"/>
            <a:chOff x="0" y="0"/>
            <a:chExt cx="9601200" cy="115290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601200" cy="1152906"/>
            </a:xfrm>
            <a:custGeom>
              <a:avLst/>
              <a:gdLst/>
              <a:ahLst/>
              <a:cxnLst/>
              <a:rect r="r" b="b" t="t" l="l"/>
              <a:pathLst>
                <a:path h="115290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152906"/>
                  </a:lnTo>
                  <a:lnTo>
                    <a:pt x="0" y="1152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268" r="0" b="-112268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9525"/>
              <a:ext cx="960120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87"/>
                </a:lnSpc>
              </a:pPr>
              <a:r>
                <a:rPr lang="en-US" sz="3574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Filters:  </a:t>
              </a:r>
              <a:r>
                <a:rPr lang="en-US" sz="3574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SKU  ·  Marketplace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822960" y="9572625"/>
            <a:ext cx="8229600" cy="672034"/>
            <a:chOff x="0" y="0"/>
            <a:chExt cx="10972800" cy="89604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972800" cy="896045"/>
            </a:xfrm>
            <a:custGeom>
              <a:avLst/>
              <a:gdLst/>
              <a:ahLst/>
              <a:cxnLst/>
              <a:rect r="r" b="b" t="t" l="l"/>
              <a:pathLst>
                <a:path h="89604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6045"/>
                  </a:lnTo>
                  <a:lnTo>
                    <a:pt x="0" y="8960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869" r="0" b="-17135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10972800" cy="896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07"/>
                </a:lnSpc>
              </a:pPr>
              <a:r>
                <a:rPr lang="en-US" sz="3424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7053103" y="9572625"/>
            <a:ext cx="822960" cy="684700"/>
            <a:chOff x="0" y="0"/>
            <a:chExt cx="1097280" cy="912933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97280" cy="912933"/>
            </a:xfrm>
            <a:custGeom>
              <a:avLst/>
              <a:gdLst/>
              <a:ahLst/>
              <a:cxnLst/>
              <a:rect r="r" b="b" t="t" l="l"/>
              <a:pathLst>
                <a:path h="912933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12933"/>
                  </a:lnTo>
                  <a:lnTo>
                    <a:pt x="0" y="9129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3573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9525"/>
              <a:ext cx="1097280" cy="903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199"/>
                </a:lnSpc>
              </a:pPr>
              <a:r>
                <a:rPr lang="en-US" sz="349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18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110" id="110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112" id="112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1081" r="0" b="-31081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47" r="0" b="-345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274320" y="9673209"/>
            <a:ext cx="2194560" cy="746110"/>
            <a:chOff x="0" y="0"/>
            <a:chExt cx="2926080" cy="99481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926080" cy="994814"/>
            </a:xfrm>
            <a:custGeom>
              <a:avLst/>
              <a:gdLst/>
              <a:ahLst/>
              <a:cxnLst/>
              <a:rect r="r" b="b" t="t" l="l"/>
              <a:pathLst>
                <a:path h="99481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94814"/>
                  </a:lnTo>
                  <a:lnTo>
                    <a:pt x="0" y="9948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179" r="0" b="1555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0"/>
              <a:ext cx="2926080" cy="994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59"/>
                </a:lnSpc>
              </a:pPr>
              <a:r>
                <a:rPr lang="en-US" sz="3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8956729" y="2120308"/>
            <a:ext cx="9276226" cy="5216566"/>
            <a:chOff x="0" y="0"/>
            <a:chExt cx="12368301" cy="695542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2368276" cy="6955409"/>
            </a:xfrm>
            <a:custGeom>
              <a:avLst/>
              <a:gdLst/>
              <a:ahLst/>
              <a:cxnLst/>
              <a:rect r="r" b="b" t="t" l="l"/>
              <a:pathLst>
                <a:path h="6955409" w="12368276">
                  <a:moveTo>
                    <a:pt x="0" y="0"/>
                  </a:moveTo>
                  <a:lnTo>
                    <a:pt x="12368276" y="0"/>
                  </a:lnTo>
                  <a:lnTo>
                    <a:pt x="12368276" y="6955409"/>
                  </a:lnTo>
                  <a:lnTo>
                    <a:pt x="0" y="6955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38" t="0" r="-239" b="0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7147667" y="9417628"/>
            <a:ext cx="891540" cy="595052"/>
            <a:chOff x="0" y="0"/>
            <a:chExt cx="1188720" cy="793403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19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69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DASHBOARD 6 OF 7  ·  POWER BI COMMAND CENTER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1117568"/>
            <a:ext cx="14401800" cy="1190104"/>
            <a:chOff x="0" y="0"/>
            <a:chExt cx="19202400" cy="15868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586805"/>
            </a:xfrm>
            <a:custGeom>
              <a:avLst/>
              <a:gdLst/>
              <a:ahLst/>
              <a:cxnLst/>
              <a:rect r="r" b="b" t="t" l="l"/>
              <a:pathLst>
                <a:path h="1586805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586805"/>
                  </a:lnTo>
                  <a:lnTo>
                    <a:pt x="0" y="15868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275" r="0" b="-1793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58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Promotions Analysis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221992"/>
            <a:ext cx="8298180" cy="1371600"/>
            <a:chOff x="0" y="0"/>
            <a:chExt cx="1106424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642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802" r="0" b="-6780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2150554"/>
            <a:ext cx="7899777" cy="1443037"/>
            <a:chOff x="0" y="0"/>
            <a:chExt cx="10533037" cy="1924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33037" cy="1924050"/>
            </a:xfrm>
            <a:custGeom>
              <a:avLst/>
              <a:gdLst/>
              <a:ahLst/>
              <a:cxnLst/>
              <a:rect r="r" b="b" t="t" l="l"/>
              <a:pathLst>
                <a:path h="1924050" w="10533037">
                  <a:moveTo>
                    <a:pt x="0" y="0"/>
                  </a:moveTo>
                  <a:lnTo>
                    <a:pt x="10533037" y="0"/>
                  </a:lnTo>
                  <a:lnTo>
                    <a:pt x="10533037" y="1924050"/>
                  </a:lnTo>
                  <a:lnTo>
                    <a:pt x="0" y="19240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048" r="-5043" b="-6204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533037" cy="1990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2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Evaluates promotional campaign effectiveness by comparing promo sales against organic sales while tracking financial impact.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3914584"/>
            <a:ext cx="8298180" cy="411480"/>
            <a:chOff x="0" y="0"/>
            <a:chExt cx="1106424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64240" cy="548640"/>
            </a:xfrm>
            <a:custGeom>
              <a:avLst/>
              <a:gdLst/>
              <a:ahLst/>
              <a:cxnLst/>
              <a:rect r="r" b="b" t="t" l="l"/>
              <a:pathLst>
                <a:path h="54864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75" r="0" b="-34267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0120" y="3900297"/>
            <a:ext cx="8298180" cy="425767"/>
            <a:chOff x="0" y="0"/>
            <a:chExt cx="11064240" cy="5676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64240" cy="567690"/>
            </a:xfrm>
            <a:custGeom>
              <a:avLst/>
              <a:gdLst/>
              <a:ahLst/>
              <a:cxnLst/>
              <a:rect r="r" b="b" t="t" l="l"/>
              <a:pathLst>
                <a:path h="56769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9762" r="0" b="-32976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110642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8"/>
                </a:lnSpc>
              </a:pPr>
              <a:r>
                <a:rPr lang="en-US" b="true" sz="2074" spc="296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PRIMARY KPIs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0120" y="4380928"/>
            <a:ext cx="2621090" cy="548640"/>
            <a:chOff x="0" y="0"/>
            <a:chExt cx="3494786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94786" cy="731520"/>
            </a:xfrm>
            <a:custGeom>
              <a:avLst/>
              <a:gdLst/>
              <a:ahLst/>
              <a:cxnLst/>
              <a:rect r="r" b="b" t="t" l="l"/>
              <a:pathLst>
                <a:path h="731520" w="349478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330194" y="0"/>
                  </a:lnTo>
                  <a:cubicBezTo>
                    <a:pt x="3421126" y="0"/>
                    <a:pt x="3494786" y="73660"/>
                    <a:pt x="3494786" y="164592"/>
                  </a:cubicBezTo>
                  <a:lnTo>
                    <a:pt x="3494786" y="566928"/>
                  </a:lnTo>
                  <a:cubicBezTo>
                    <a:pt x="3494786" y="657860"/>
                    <a:pt x="3421126" y="731520"/>
                    <a:pt x="3330194" y="731520"/>
                  </a:cubicBezTo>
                  <a:lnTo>
                    <a:pt x="164592" y="731520"/>
                  </a:lnTo>
                  <a:cubicBezTo>
                    <a:pt x="73660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0120" y="4380928"/>
            <a:ext cx="2621128" cy="548640"/>
            <a:chOff x="0" y="0"/>
            <a:chExt cx="3494837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94786" cy="731520"/>
            </a:xfrm>
            <a:custGeom>
              <a:avLst/>
              <a:gdLst/>
              <a:ahLst/>
              <a:cxnLst/>
              <a:rect r="r" b="b" t="t" l="l"/>
              <a:pathLst>
                <a:path h="731520" w="3494786">
                  <a:moveTo>
                    <a:pt x="0" y="0"/>
                  </a:moveTo>
                  <a:lnTo>
                    <a:pt x="3494786" y="0"/>
                  </a:lnTo>
                  <a:lnTo>
                    <a:pt x="349478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24" r="-1" b="-43026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0120" y="4352353"/>
            <a:ext cx="2621128" cy="577215"/>
            <a:chOff x="0" y="0"/>
            <a:chExt cx="3494837" cy="7696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94837" cy="769620"/>
            </a:xfrm>
            <a:custGeom>
              <a:avLst/>
              <a:gdLst/>
              <a:ahLst/>
              <a:cxnLst/>
              <a:rect r="r" b="b" t="t" l="l"/>
              <a:pathLst>
                <a:path h="769620" w="3494837">
                  <a:moveTo>
                    <a:pt x="0" y="0"/>
                  </a:moveTo>
                  <a:lnTo>
                    <a:pt x="3494837" y="0"/>
                  </a:lnTo>
                  <a:lnTo>
                    <a:pt x="3494837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481" r="0" b="-3848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494837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Promo Units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786988" y="4380928"/>
            <a:ext cx="2735008" cy="548640"/>
            <a:chOff x="0" y="0"/>
            <a:chExt cx="3646678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46678" cy="731520"/>
            </a:xfrm>
            <a:custGeom>
              <a:avLst/>
              <a:gdLst/>
              <a:ahLst/>
              <a:cxnLst/>
              <a:rect r="r" b="b" t="t" l="l"/>
              <a:pathLst>
                <a:path h="731520" w="3646678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482086" y="0"/>
                  </a:lnTo>
                  <a:cubicBezTo>
                    <a:pt x="3573018" y="0"/>
                    <a:pt x="3646678" y="73660"/>
                    <a:pt x="3646678" y="164592"/>
                  </a:cubicBezTo>
                  <a:lnTo>
                    <a:pt x="3646678" y="566928"/>
                  </a:lnTo>
                  <a:cubicBezTo>
                    <a:pt x="3646678" y="657860"/>
                    <a:pt x="3573018" y="731520"/>
                    <a:pt x="3482086" y="731520"/>
                  </a:cubicBezTo>
                  <a:lnTo>
                    <a:pt x="164592" y="731520"/>
                  </a:lnTo>
                  <a:cubicBezTo>
                    <a:pt x="73660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786988" y="4380928"/>
            <a:ext cx="2734970" cy="548640"/>
            <a:chOff x="0" y="0"/>
            <a:chExt cx="3646627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46678" cy="731520"/>
            </a:xfrm>
            <a:custGeom>
              <a:avLst/>
              <a:gdLst/>
              <a:ahLst/>
              <a:cxnLst/>
              <a:rect r="r" b="b" t="t" l="l"/>
              <a:pathLst>
                <a:path h="731520" w="3646678">
                  <a:moveTo>
                    <a:pt x="0" y="0"/>
                  </a:moveTo>
                  <a:lnTo>
                    <a:pt x="3646678" y="0"/>
                  </a:lnTo>
                  <a:lnTo>
                    <a:pt x="364667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65" r="1" b="-47064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786988" y="4352353"/>
            <a:ext cx="2734970" cy="577215"/>
            <a:chOff x="0" y="0"/>
            <a:chExt cx="3646627" cy="7696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46627" cy="769620"/>
            </a:xfrm>
            <a:custGeom>
              <a:avLst/>
              <a:gdLst/>
              <a:ahLst/>
              <a:cxnLst/>
              <a:rect r="r" b="b" t="t" l="l"/>
              <a:pathLst>
                <a:path h="769620" w="3646627">
                  <a:moveTo>
                    <a:pt x="0" y="0"/>
                  </a:moveTo>
                  <a:lnTo>
                    <a:pt x="3646627" y="0"/>
                  </a:lnTo>
                  <a:lnTo>
                    <a:pt x="3646627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324" r="0" b="-4232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646627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Promo Amount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727698" y="4380928"/>
            <a:ext cx="1710404" cy="548640"/>
            <a:chOff x="0" y="0"/>
            <a:chExt cx="2280539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805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8053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15947" y="0"/>
                  </a:lnTo>
                  <a:cubicBezTo>
                    <a:pt x="2206879" y="0"/>
                    <a:pt x="2280539" y="73660"/>
                    <a:pt x="2280539" y="164592"/>
                  </a:cubicBezTo>
                  <a:lnTo>
                    <a:pt x="2280539" y="566928"/>
                  </a:lnTo>
                  <a:cubicBezTo>
                    <a:pt x="2280539" y="657860"/>
                    <a:pt x="2206879" y="731520"/>
                    <a:pt x="2115947" y="731520"/>
                  </a:cubicBezTo>
                  <a:lnTo>
                    <a:pt x="164592" y="731520"/>
                  </a:lnTo>
                  <a:cubicBezTo>
                    <a:pt x="73660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727698" y="4380928"/>
            <a:ext cx="1710385" cy="548640"/>
            <a:chOff x="0" y="0"/>
            <a:chExt cx="2280514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805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80539">
                  <a:moveTo>
                    <a:pt x="0" y="0"/>
                  </a:moveTo>
                  <a:lnTo>
                    <a:pt x="2280539" y="0"/>
                  </a:lnTo>
                  <a:lnTo>
                    <a:pt x="22805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03" r="1" b="-10701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727698" y="4352353"/>
            <a:ext cx="1710385" cy="577215"/>
            <a:chOff x="0" y="0"/>
            <a:chExt cx="2280514" cy="7696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80513" cy="769620"/>
            </a:xfrm>
            <a:custGeom>
              <a:avLst/>
              <a:gdLst/>
              <a:ahLst/>
              <a:cxnLst/>
              <a:rect r="r" b="b" t="t" l="l"/>
              <a:pathLst>
                <a:path h="769620" w="2280513">
                  <a:moveTo>
                    <a:pt x="0" y="0"/>
                  </a:moveTo>
                  <a:lnTo>
                    <a:pt x="2280513" y="0"/>
                  </a:lnTo>
                  <a:lnTo>
                    <a:pt x="2280513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37" r="0" b="-773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28051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Promo ROI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60120" y="5066728"/>
            <a:ext cx="3350380" cy="548640"/>
            <a:chOff x="0" y="0"/>
            <a:chExt cx="4467173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467173" cy="731520"/>
            </a:xfrm>
            <a:custGeom>
              <a:avLst/>
              <a:gdLst/>
              <a:ahLst/>
              <a:cxnLst/>
              <a:rect r="r" b="b" t="t" l="l"/>
              <a:pathLst>
                <a:path h="731520" w="4467173">
                  <a:moveTo>
                    <a:pt x="0" y="164592"/>
                  </a:moveTo>
                  <a:cubicBezTo>
                    <a:pt x="0" y="73660"/>
                    <a:pt x="80218" y="0"/>
                    <a:pt x="179246" y="0"/>
                  </a:cubicBezTo>
                  <a:lnTo>
                    <a:pt x="4287927" y="0"/>
                  </a:lnTo>
                  <a:cubicBezTo>
                    <a:pt x="4386955" y="0"/>
                    <a:pt x="4467173" y="73660"/>
                    <a:pt x="4467173" y="164592"/>
                  </a:cubicBezTo>
                  <a:lnTo>
                    <a:pt x="4467173" y="566928"/>
                  </a:lnTo>
                  <a:cubicBezTo>
                    <a:pt x="4467173" y="657860"/>
                    <a:pt x="4386955" y="731520"/>
                    <a:pt x="4287927" y="731520"/>
                  </a:cubicBezTo>
                  <a:lnTo>
                    <a:pt x="179246" y="731520"/>
                  </a:lnTo>
                  <a:cubicBezTo>
                    <a:pt x="80218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60120" y="5066728"/>
            <a:ext cx="3350401" cy="548640"/>
            <a:chOff x="0" y="0"/>
            <a:chExt cx="4467201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467173" cy="731520"/>
            </a:xfrm>
            <a:custGeom>
              <a:avLst/>
              <a:gdLst/>
              <a:ahLst/>
              <a:cxnLst/>
              <a:rect r="r" b="b" t="t" l="l"/>
              <a:pathLst>
                <a:path h="731520" w="4467173">
                  <a:moveTo>
                    <a:pt x="0" y="0"/>
                  </a:moveTo>
                  <a:lnTo>
                    <a:pt x="4467173" y="0"/>
                  </a:lnTo>
                  <a:lnTo>
                    <a:pt x="4467173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906" r="0" b="-68908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0120" y="5038153"/>
            <a:ext cx="3350401" cy="577215"/>
            <a:chOff x="0" y="0"/>
            <a:chExt cx="4467201" cy="7696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467201" cy="769620"/>
            </a:xfrm>
            <a:custGeom>
              <a:avLst/>
              <a:gdLst/>
              <a:ahLst/>
              <a:cxnLst/>
              <a:rect r="r" b="b" t="t" l="l"/>
              <a:pathLst>
                <a:path h="769620" w="4467201">
                  <a:moveTo>
                    <a:pt x="0" y="0"/>
                  </a:moveTo>
                  <a:lnTo>
                    <a:pt x="4467201" y="0"/>
                  </a:lnTo>
                  <a:lnTo>
                    <a:pt x="4467201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853" r="8175" b="-5385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4467201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Promo Conversion Rate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0120" y="6048756"/>
            <a:ext cx="8298180" cy="411480"/>
            <a:chOff x="0" y="0"/>
            <a:chExt cx="1106424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064240" cy="548640"/>
            </a:xfrm>
            <a:custGeom>
              <a:avLst/>
              <a:gdLst/>
              <a:ahLst/>
              <a:cxnLst/>
              <a:rect r="r" b="b" t="t" l="l"/>
              <a:pathLst>
                <a:path h="54864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75" r="0" b="-342673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60120" y="6034468"/>
            <a:ext cx="8298180" cy="425768"/>
            <a:chOff x="0" y="0"/>
            <a:chExt cx="11064240" cy="56769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064240" cy="567690"/>
            </a:xfrm>
            <a:custGeom>
              <a:avLst/>
              <a:gdLst/>
              <a:ahLst/>
              <a:cxnLst/>
              <a:rect r="r" b="b" t="t" l="l"/>
              <a:pathLst>
                <a:path h="56769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9762" r="0" b="-32976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9525"/>
              <a:ext cx="110642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8"/>
                </a:lnSpc>
              </a:pPr>
              <a:r>
                <a:rPr lang="en-US" b="true" sz="2074" spc="296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KEY VISUALIZATIONS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60120" y="6677614"/>
            <a:ext cx="329184" cy="448653"/>
            <a:chOff x="0" y="0"/>
            <a:chExt cx="438912" cy="598203"/>
          </a:xfrm>
        </p:grpSpPr>
        <p:sp>
          <p:nvSpPr>
            <p:cNvPr name="Freeform 56" id="56" descr="/home/claude/deck/icons/chartbar_7FB069.png"/>
            <p:cNvSpPr/>
            <p:nvPr/>
          </p:nvSpPr>
          <p:spPr>
            <a:xfrm flipH="false" flipV="false" rot="0">
              <a:off x="0" y="0"/>
              <a:ext cx="438912" cy="598203"/>
            </a:xfrm>
            <a:custGeom>
              <a:avLst/>
              <a:gdLst/>
              <a:ahLst/>
              <a:cxnLst/>
              <a:rect r="r" b="b" t="t" l="l"/>
              <a:pathLst>
                <a:path h="598203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98203"/>
                  </a:lnTo>
                  <a:lnTo>
                    <a:pt x="0" y="598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146" t="0" r="-18146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399032" y="6528063"/>
            <a:ext cx="3669030" cy="934693"/>
            <a:chOff x="0" y="0"/>
            <a:chExt cx="4892040" cy="124625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92040" cy="1246257"/>
            </a:xfrm>
            <a:custGeom>
              <a:avLst/>
              <a:gdLst/>
              <a:ahLst/>
              <a:cxnLst/>
              <a:rect r="r" b="b" t="t" l="l"/>
              <a:pathLst>
                <a:path h="1246257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246257"/>
                  </a:lnTo>
                  <a:lnTo>
                    <a:pt x="0" y="12462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32" r="0" b="-26432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99032" y="6479381"/>
            <a:ext cx="3669030" cy="983375"/>
            <a:chOff x="0" y="0"/>
            <a:chExt cx="4892040" cy="131116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892040" cy="1311166"/>
            </a:xfrm>
            <a:custGeom>
              <a:avLst/>
              <a:gdLst/>
              <a:ahLst/>
              <a:cxnLst/>
              <a:rect r="r" b="b" t="t" l="l"/>
              <a:pathLst>
                <a:path h="1311166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311166"/>
                  </a:lnTo>
                  <a:lnTo>
                    <a:pt x="0" y="13111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013" r="0" b="-938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4892040" cy="1339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Organic vs Promotional Units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177790" y="6677614"/>
            <a:ext cx="329184" cy="448653"/>
            <a:chOff x="0" y="0"/>
            <a:chExt cx="438912" cy="598203"/>
          </a:xfrm>
        </p:grpSpPr>
        <p:sp>
          <p:nvSpPr>
            <p:cNvPr name="Freeform 63" id="63" descr="/home/claude/deck/icons/chartbar_7FB069.png"/>
            <p:cNvSpPr/>
            <p:nvPr/>
          </p:nvSpPr>
          <p:spPr>
            <a:xfrm flipH="false" flipV="false" rot="0">
              <a:off x="0" y="0"/>
              <a:ext cx="438912" cy="598203"/>
            </a:xfrm>
            <a:custGeom>
              <a:avLst/>
              <a:gdLst/>
              <a:ahLst/>
              <a:cxnLst/>
              <a:rect r="r" b="b" t="t" l="l"/>
              <a:pathLst>
                <a:path h="598203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98203"/>
                  </a:lnTo>
                  <a:lnTo>
                    <a:pt x="0" y="598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146" t="0" r="-18146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5616702" y="6528063"/>
            <a:ext cx="3669030" cy="934693"/>
            <a:chOff x="0" y="0"/>
            <a:chExt cx="4892040" cy="124625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892040" cy="1246257"/>
            </a:xfrm>
            <a:custGeom>
              <a:avLst/>
              <a:gdLst/>
              <a:ahLst/>
              <a:cxnLst/>
              <a:rect r="r" b="b" t="t" l="l"/>
              <a:pathLst>
                <a:path h="1246257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246257"/>
                  </a:lnTo>
                  <a:lnTo>
                    <a:pt x="0" y="12462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32" r="0" b="-26432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5616702" y="6479381"/>
            <a:ext cx="3669030" cy="983375"/>
            <a:chOff x="0" y="0"/>
            <a:chExt cx="4892040" cy="131116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892040" cy="1311166"/>
            </a:xfrm>
            <a:custGeom>
              <a:avLst/>
              <a:gdLst/>
              <a:ahLst/>
              <a:cxnLst/>
              <a:rect r="r" b="b" t="t" l="l"/>
              <a:pathLst>
                <a:path h="1311166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311166"/>
                  </a:lnTo>
                  <a:lnTo>
                    <a:pt x="0" y="13111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013" r="0" b="-938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4892040" cy="1339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Promo Amount Trend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60120" y="7649695"/>
            <a:ext cx="329184" cy="448653"/>
            <a:chOff x="0" y="0"/>
            <a:chExt cx="438912" cy="598203"/>
          </a:xfrm>
        </p:grpSpPr>
        <p:sp>
          <p:nvSpPr>
            <p:cNvPr name="Freeform 70" id="70" descr="/home/claude/deck/icons/chartbar_7FB069.png"/>
            <p:cNvSpPr/>
            <p:nvPr/>
          </p:nvSpPr>
          <p:spPr>
            <a:xfrm flipH="false" flipV="false" rot="0">
              <a:off x="0" y="0"/>
              <a:ext cx="438912" cy="598203"/>
            </a:xfrm>
            <a:custGeom>
              <a:avLst/>
              <a:gdLst/>
              <a:ahLst/>
              <a:cxnLst/>
              <a:rect r="r" b="b" t="t" l="l"/>
              <a:pathLst>
                <a:path h="598203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98203"/>
                  </a:lnTo>
                  <a:lnTo>
                    <a:pt x="0" y="598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146" t="0" r="-18146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99032" y="7500144"/>
            <a:ext cx="3669030" cy="934693"/>
            <a:chOff x="0" y="0"/>
            <a:chExt cx="4892040" cy="124625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92040" cy="1246257"/>
            </a:xfrm>
            <a:custGeom>
              <a:avLst/>
              <a:gdLst/>
              <a:ahLst/>
              <a:cxnLst/>
              <a:rect r="r" b="b" t="t" l="l"/>
              <a:pathLst>
                <a:path h="1246257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246257"/>
                  </a:lnTo>
                  <a:lnTo>
                    <a:pt x="0" y="12462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32" r="0" b="-26432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399032" y="7451462"/>
            <a:ext cx="3669030" cy="983375"/>
            <a:chOff x="0" y="0"/>
            <a:chExt cx="4892040" cy="131116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892040" cy="1311166"/>
            </a:xfrm>
            <a:custGeom>
              <a:avLst/>
              <a:gdLst/>
              <a:ahLst/>
              <a:cxnLst/>
              <a:rect r="r" b="b" t="t" l="l"/>
              <a:pathLst>
                <a:path h="1311166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311166"/>
                  </a:lnTo>
                  <a:lnTo>
                    <a:pt x="0" y="13111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013" r="0" b="-938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4892040" cy="1339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Top Products by Promo Units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177790" y="7649695"/>
            <a:ext cx="329184" cy="448653"/>
            <a:chOff x="0" y="0"/>
            <a:chExt cx="438912" cy="598203"/>
          </a:xfrm>
        </p:grpSpPr>
        <p:sp>
          <p:nvSpPr>
            <p:cNvPr name="Freeform 77" id="77" descr="/home/claude/deck/icons/chartbar_7FB069.png"/>
            <p:cNvSpPr/>
            <p:nvPr/>
          </p:nvSpPr>
          <p:spPr>
            <a:xfrm flipH="false" flipV="false" rot="0">
              <a:off x="0" y="0"/>
              <a:ext cx="438912" cy="598203"/>
            </a:xfrm>
            <a:custGeom>
              <a:avLst/>
              <a:gdLst/>
              <a:ahLst/>
              <a:cxnLst/>
              <a:rect r="r" b="b" t="t" l="l"/>
              <a:pathLst>
                <a:path h="598203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98203"/>
                  </a:lnTo>
                  <a:lnTo>
                    <a:pt x="0" y="598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146" t="0" r="-18146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5616702" y="7500144"/>
            <a:ext cx="3669030" cy="934693"/>
            <a:chOff x="0" y="0"/>
            <a:chExt cx="4892040" cy="1246257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892040" cy="1246257"/>
            </a:xfrm>
            <a:custGeom>
              <a:avLst/>
              <a:gdLst/>
              <a:ahLst/>
              <a:cxnLst/>
              <a:rect r="r" b="b" t="t" l="l"/>
              <a:pathLst>
                <a:path h="1246257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246257"/>
                  </a:lnTo>
                  <a:lnTo>
                    <a:pt x="0" y="12462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32" r="0" b="-26432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5616702" y="7451462"/>
            <a:ext cx="3669030" cy="992441"/>
            <a:chOff x="0" y="0"/>
            <a:chExt cx="4892040" cy="132325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92040" cy="1323255"/>
            </a:xfrm>
            <a:custGeom>
              <a:avLst/>
              <a:gdLst/>
              <a:ahLst/>
              <a:cxnLst/>
              <a:rect r="r" b="b" t="t" l="l"/>
              <a:pathLst>
                <a:path h="1323255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323255"/>
                  </a:lnTo>
                  <a:lnTo>
                    <a:pt x="0" y="13232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684" r="0" b="-838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4892040" cy="1351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Promo Amount vs Refund Rate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246870" y="8238163"/>
            <a:ext cx="8298180" cy="850392"/>
            <a:chOff x="0" y="0"/>
            <a:chExt cx="11064240" cy="113385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1064239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064239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0808208" y="0"/>
                  </a:lnTo>
                  <a:cubicBezTo>
                    <a:pt x="10949559" y="0"/>
                    <a:pt x="11064239" y="114681"/>
                    <a:pt x="11064239" y="256032"/>
                  </a:cubicBezTo>
                  <a:lnTo>
                    <a:pt x="11064239" y="877824"/>
                  </a:lnTo>
                  <a:cubicBezTo>
                    <a:pt x="11064239" y="1019175"/>
                    <a:pt x="10949559" y="1133856"/>
                    <a:pt x="10808208" y="1133856"/>
                  </a:cubicBezTo>
                  <a:lnTo>
                    <a:pt x="256032" y="1133856"/>
                  </a:lnTo>
                  <a:cubicBezTo>
                    <a:pt x="114681" y="1133856"/>
                    <a:pt x="0" y="1019175"/>
                    <a:pt x="0" y="877824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493758" y="8443903"/>
            <a:ext cx="438912" cy="438912"/>
            <a:chOff x="0" y="0"/>
            <a:chExt cx="585216" cy="585216"/>
          </a:xfrm>
        </p:grpSpPr>
        <p:sp>
          <p:nvSpPr>
            <p:cNvPr name="Freeform 86" id="86" descr="/home/claude/deck/icons/filter_1B4332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097262" y="8238163"/>
            <a:ext cx="7200900" cy="850392"/>
            <a:chOff x="0" y="0"/>
            <a:chExt cx="9601200" cy="113385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6012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79" r="0" b="-11488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0097262" y="8223875"/>
            <a:ext cx="7200900" cy="864679"/>
            <a:chOff x="0" y="0"/>
            <a:chExt cx="9601200" cy="115290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601200" cy="1152906"/>
            </a:xfrm>
            <a:custGeom>
              <a:avLst/>
              <a:gdLst/>
              <a:ahLst/>
              <a:cxnLst/>
              <a:rect r="r" b="b" t="t" l="l"/>
              <a:pathLst>
                <a:path h="115290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152906"/>
                  </a:lnTo>
                  <a:lnTo>
                    <a:pt x="0" y="1152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268" r="0" b="-11226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9525"/>
              <a:ext cx="960120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8"/>
                </a:lnSpc>
              </a:pPr>
              <a:r>
                <a:rPr lang="en-US" sz="2074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Filters:  </a:t>
              </a:r>
              <a:r>
                <a:rPr lang="en-US" sz="2074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Date  ·  SKU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109728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8"/>
                </a:lnSpc>
              </a:pPr>
              <a:r>
                <a:rPr lang="en-US" sz="1924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7053103" y="9572625"/>
            <a:ext cx="822960" cy="440055"/>
            <a:chOff x="0" y="0"/>
            <a:chExt cx="1097280" cy="5867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9728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19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103" id="103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105" id="105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1081" r="0" b="-31081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47" r="0" b="-345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016605" y="2872073"/>
            <a:ext cx="9239058" cy="5218452"/>
            <a:chOff x="0" y="0"/>
            <a:chExt cx="12148871" cy="686198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2148820" cy="6861937"/>
            </a:xfrm>
            <a:custGeom>
              <a:avLst/>
              <a:gdLst/>
              <a:ahLst/>
              <a:cxnLst/>
              <a:rect r="r" b="b" t="t" l="l"/>
              <a:pathLst>
                <a:path h="6861937" w="12148820">
                  <a:moveTo>
                    <a:pt x="0" y="0"/>
                  </a:moveTo>
                  <a:lnTo>
                    <a:pt x="12148820" y="0"/>
                  </a:lnTo>
                  <a:lnTo>
                    <a:pt x="12148820" y="6861937"/>
                  </a:lnTo>
                  <a:lnTo>
                    <a:pt x="0" y="686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7135475" y="9417628"/>
            <a:ext cx="891540" cy="595052"/>
            <a:chOff x="0" y="0"/>
            <a:chExt cx="1188720" cy="79340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20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69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DASHBOARD 7 OF 7  ·  POWER BI COMMAND CENTER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1060418"/>
            <a:ext cx="14401800" cy="1190104"/>
            <a:chOff x="0" y="0"/>
            <a:chExt cx="19202400" cy="15868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586805"/>
            </a:xfrm>
            <a:custGeom>
              <a:avLst/>
              <a:gdLst/>
              <a:ahLst/>
              <a:cxnLst/>
              <a:rect r="r" b="b" t="t" l="l"/>
              <a:pathLst>
                <a:path h="1586805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586805"/>
                  </a:lnTo>
                  <a:lnTo>
                    <a:pt x="0" y="15868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275" r="0" b="-1793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58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AI &amp; Machine Learning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221992"/>
            <a:ext cx="8298180" cy="1371600"/>
            <a:chOff x="0" y="0"/>
            <a:chExt cx="1106424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642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802" r="0" b="-6780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2150554"/>
            <a:ext cx="7910572" cy="1443037"/>
            <a:chOff x="0" y="0"/>
            <a:chExt cx="10547429" cy="1924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47429" cy="1924050"/>
            </a:xfrm>
            <a:custGeom>
              <a:avLst/>
              <a:gdLst/>
              <a:ahLst/>
              <a:cxnLst/>
              <a:rect r="r" b="b" t="t" l="l"/>
              <a:pathLst>
                <a:path h="1924050" w="10547429">
                  <a:moveTo>
                    <a:pt x="0" y="0"/>
                  </a:moveTo>
                  <a:lnTo>
                    <a:pt x="10547429" y="0"/>
                  </a:lnTo>
                  <a:lnTo>
                    <a:pt x="10547429" y="1924050"/>
                  </a:lnTo>
                  <a:lnTo>
                    <a:pt x="0" y="19240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048" r="-4899" b="-6204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547429" cy="1990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Surfaces predictive analytics results — Isolation Forest anomaly detection, revealing unusual behaviors before they hit the bottom line.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3730752"/>
            <a:ext cx="8298180" cy="411480"/>
            <a:chOff x="0" y="0"/>
            <a:chExt cx="1106424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64240" cy="548640"/>
            </a:xfrm>
            <a:custGeom>
              <a:avLst/>
              <a:gdLst/>
              <a:ahLst/>
              <a:cxnLst/>
              <a:rect r="r" b="b" t="t" l="l"/>
              <a:pathLst>
                <a:path h="548640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75" r="0" b="-34267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8972" y="3730752"/>
            <a:ext cx="8298180" cy="523183"/>
            <a:chOff x="0" y="0"/>
            <a:chExt cx="11064240" cy="6975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64240" cy="697577"/>
            </a:xfrm>
            <a:custGeom>
              <a:avLst/>
              <a:gdLst/>
              <a:ahLst/>
              <a:cxnLst/>
              <a:rect r="r" b="b" t="t" l="l"/>
              <a:pathLst>
                <a:path h="697577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697577"/>
                  </a:lnTo>
                  <a:lnTo>
                    <a:pt x="0" y="6975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8361" r="0" b="-24974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1064240" cy="707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8"/>
                </a:lnSpc>
              </a:pPr>
              <a:r>
                <a:rPr lang="en-US" b="true" sz="2674" spc="382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PRIMARY KPIs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9645" y="4406144"/>
            <a:ext cx="4070632" cy="548640"/>
            <a:chOff x="0" y="0"/>
            <a:chExt cx="542751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27509" cy="731520"/>
            </a:xfrm>
            <a:custGeom>
              <a:avLst/>
              <a:gdLst/>
              <a:ahLst/>
              <a:cxnLst/>
              <a:rect r="r" b="b" t="t" l="l"/>
              <a:pathLst>
                <a:path h="731520" w="5427509">
                  <a:moveTo>
                    <a:pt x="0" y="164592"/>
                  </a:moveTo>
                  <a:cubicBezTo>
                    <a:pt x="0" y="73660"/>
                    <a:pt x="109631" y="0"/>
                    <a:pt x="244969" y="0"/>
                  </a:cubicBezTo>
                  <a:lnTo>
                    <a:pt x="5182540" y="0"/>
                  </a:lnTo>
                  <a:cubicBezTo>
                    <a:pt x="5317878" y="0"/>
                    <a:pt x="5427509" y="73660"/>
                    <a:pt x="5427509" y="164592"/>
                  </a:cubicBezTo>
                  <a:lnTo>
                    <a:pt x="5427509" y="566928"/>
                  </a:lnTo>
                  <a:cubicBezTo>
                    <a:pt x="5427509" y="657860"/>
                    <a:pt x="5317878" y="731520"/>
                    <a:pt x="5182540" y="731520"/>
                  </a:cubicBezTo>
                  <a:lnTo>
                    <a:pt x="244969" y="731520"/>
                  </a:lnTo>
                  <a:cubicBezTo>
                    <a:pt x="109631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9645" y="4406144"/>
            <a:ext cx="4070576" cy="548640"/>
            <a:chOff x="0" y="0"/>
            <a:chExt cx="5427434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27485" cy="731520"/>
            </a:xfrm>
            <a:custGeom>
              <a:avLst/>
              <a:gdLst/>
              <a:ahLst/>
              <a:cxnLst/>
              <a:rect r="r" b="b" t="t" l="l"/>
              <a:pathLst>
                <a:path h="731520" w="5427485">
                  <a:moveTo>
                    <a:pt x="0" y="0"/>
                  </a:moveTo>
                  <a:lnTo>
                    <a:pt x="5427485" y="0"/>
                  </a:lnTo>
                  <a:lnTo>
                    <a:pt x="542748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" t="-94470" r="0" b="-9446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9645" y="4391857"/>
            <a:ext cx="4070576" cy="577215"/>
            <a:chOff x="0" y="0"/>
            <a:chExt cx="5427434" cy="7696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27433" cy="769620"/>
            </a:xfrm>
            <a:custGeom>
              <a:avLst/>
              <a:gdLst/>
              <a:ahLst/>
              <a:cxnLst/>
              <a:rect r="r" b="b" t="t" l="l"/>
              <a:pathLst>
                <a:path h="769620" w="5427433">
                  <a:moveTo>
                    <a:pt x="0" y="0"/>
                  </a:moveTo>
                  <a:lnTo>
                    <a:pt x="5427433" y="0"/>
                  </a:lnTo>
                  <a:lnTo>
                    <a:pt x="5427433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324" r="32811" b="-4232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2743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Detected Anomalies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6432" y="4406144"/>
            <a:ext cx="3223446" cy="548640"/>
            <a:chOff x="0" y="0"/>
            <a:chExt cx="4297928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97928" cy="731520"/>
            </a:xfrm>
            <a:custGeom>
              <a:avLst/>
              <a:gdLst/>
              <a:ahLst/>
              <a:cxnLst/>
              <a:rect r="r" b="b" t="t" l="l"/>
              <a:pathLst>
                <a:path h="731520" w="4297928">
                  <a:moveTo>
                    <a:pt x="0" y="164592"/>
                  </a:moveTo>
                  <a:cubicBezTo>
                    <a:pt x="0" y="73660"/>
                    <a:pt x="109631" y="0"/>
                    <a:pt x="244969" y="0"/>
                  </a:cubicBezTo>
                  <a:lnTo>
                    <a:pt x="4052959" y="0"/>
                  </a:lnTo>
                  <a:cubicBezTo>
                    <a:pt x="4188297" y="0"/>
                    <a:pt x="4297928" y="73660"/>
                    <a:pt x="4297928" y="164592"/>
                  </a:cubicBezTo>
                  <a:lnTo>
                    <a:pt x="4297928" y="566928"/>
                  </a:lnTo>
                  <a:cubicBezTo>
                    <a:pt x="4297928" y="657860"/>
                    <a:pt x="4188297" y="731520"/>
                    <a:pt x="4052959" y="731520"/>
                  </a:cubicBezTo>
                  <a:lnTo>
                    <a:pt x="244969" y="731520"/>
                  </a:lnTo>
                  <a:cubicBezTo>
                    <a:pt x="109631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346432" y="4406144"/>
            <a:ext cx="3223390" cy="548640"/>
            <a:chOff x="0" y="0"/>
            <a:chExt cx="4297853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97904" cy="731520"/>
            </a:xfrm>
            <a:custGeom>
              <a:avLst/>
              <a:gdLst/>
              <a:ahLst/>
              <a:cxnLst/>
              <a:rect r="r" b="b" t="t" l="l"/>
              <a:pathLst>
                <a:path h="731520" w="4297904">
                  <a:moveTo>
                    <a:pt x="0" y="0"/>
                  </a:moveTo>
                  <a:lnTo>
                    <a:pt x="4297904" y="0"/>
                  </a:lnTo>
                  <a:lnTo>
                    <a:pt x="4297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" t="-64401" r="0" b="-64404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346432" y="4387285"/>
            <a:ext cx="3223390" cy="577215"/>
            <a:chOff x="0" y="0"/>
            <a:chExt cx="4297853" cy="7696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97852" cy="769620"/>
            </a:xfrm>
            <a:custGeom>
              <a:avLst/>
              <a:gdLst/>
              <a:ahLst/>
              <a:cxnLst/>
              <a:rect r="r" b="b" t="t" l="l"/>
              <a:pathLst>
                <a:path h="769620" w="4297852">
                  <a:moveTo>
                    <a:pt x="0" y="0"/>
                  </a:moveTo>
                  <a:lnTo>
                    <a:pt x="4297852" y="0"/>
                  </a:lnTo>
                  <a:lnTo>
                    <a:pt x="4297852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109" r="32811" b="-2310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4297853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Revenue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780141" y="5150047"/>
            <a:ext cx="2780212" cy="548640"/>
            <a:chOff x="0" y="0"/>
            <a:chExt cx="3706949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06950" cy="731520"/>
            </a:xfrm>
            <a:custGeom>
              <a:avLst/>
              <a:gdLst/>
              <a:ahLst/>
              <a:cxnLst/>
              <a:rect r="r" b="b" t="t" l="l"/>
              <a:pathLst>
                <a:path h="731520" w="3706950">
                  <a:moveTo>
                    <a:pt x="0" y="164592"/>
                  </a:moveTo>
                  <a:cubicBezTo>
                    <a:pt x="0" y="73660"/>
                    <a:pt x="81679" y="0"/>
                    <a:pt x="182510" y="0"/>
                  </a:cubicBezTo>
                  <a:lnTo>
                    <a:pt x="3524440" y="0"/>
                  </a:lnTo>
                  <a:cubicBezTo>
                    <a:pt x="3625271" y="0"/>
                    <a:pt x="3706950" y="73660"/>
                    <a:pt x="3706950" y="164592"/>
                  </a:cubicBezTo>
                  <a:lnTo>
                    <a:pt x="3706950" y="566928"/>
                  </a:lnTo>
                  <a:cubicBezTo>
                    <a:pt x="3706950" y="657860"/>
                    <a:pt x="3625271" y="731520"/>
                    <a:pt x="3524440" y="731520"/>
                  </a:cubicBezTo>
                  <a:lnTo>
                    <a:pt x="182510" y="731520"/>
                  </a:lnTo>
                  <a:cubicBezTo>
                    <a:pt x="81679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780141" y="5150047"/>
            <a:ext cx="2780233" cy="548640"/>
            <a:chOff x="0" y="0"/>
            <a:chExt cx="3706978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06950" cy="731520"/>
            </a:xfrm>
            <a:custGeom>
              <a:avLst/>
              <a:gdLst/>
              <a:ahLst/>
              <a:cxnLst/>
              <a:rect r="r" b="b" t="t" l="l"/>
              <a:pathLst>
                <a:path h="731520" w="3706950">
                  <a:moveTo>
                    <a:pt x="0" y="0"/>
                  </a:moveTo>
                  <a:lnTo>
                    <a:pt x="3706950" y="0"/>
                  </a:lnTo>
                  <a:lnTo>
                    <a:pt x="370695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671" r="0" b="-48671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780141" y="5121472"/>
            <a:ext cx="2780233" cy="577215"/>
            <a:chOff x="0" y="0"/>
            <a:chExt cx="3706978" cy="7696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706978" cy="769620"/>
            </a:xfrm>
            <a:custGeom>
              <a:avLst/>
              <a:gdLst/>
              <a:ahLst/>
              <a:cxnLst/>
              <a:rect r="r" b="b" t="t" l="l"/>
              <a:pathLst>
                <a:path h="769620" w="3706978">
                  <a:moveTo>
                    <a:pt x="0" y="0"/>
                  </a:moveTo>
                  <a:lnTo>
                    <a:pt x="3706978" y="0"/>
                  </a:lnTo>
                  <a:lnTo>
                    <a:pt x="3706978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638" r="9817" b="-3463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370697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Net Profit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60120" y="5150047"/>
            <a:ext cx="4492874" cy="548640"/>
            <a:chOff x="0" y="0"/>
            <a:chExt cx="5990499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990499" cy="731520"/>
            </a:xfrm>
            <a:custGeom>
              <a:avLst/>
              <a:gdLst/>
              <a:ahLst/>
              <a:cxnLst/>
              <a:rect r="r" b="b" t="t" l="l"/>
              <a:pathLst>
                <a:path h="731520" w="5990499">
                  <a:moveTo>
                    <a:pt x="0" y="164592"/>
                  </a:moveTo>
                  <a:cubicBezTo>
                    <a:pt x="0" y="73660"/>
                    <a:pt x="96823" y="0"/>
                    <a:pt x="216349" y="0"/>
                  </a:cubicBezTo>
                  <a:lnTo>
                    <a:pt x="5774150" y="0"/>
                  </a:lnTo>
                  <a:cubicBezTo>
                    <a:pt x="5893676" y="0"/>
                    <a:pt x="5990499" y="73660"/>
                    <a:pt x="5990499" y="164592"/>
                  </a:cubicBezTo>
                  <a:lnTo>
                    <a:pt x="5990499" y="566928"/>
                  </a:lnTo>
                  <a:cubicBezTo>
                    <a:pt x="5990499" y="657860"/>
                    <a:pt x="5893676" y="731520"/>
                    <a:pt x="5774150" y="731520"/>
                  </a:cubicBezTo>
                  <a:lnTo>
                    <a:pt x="216349" y="731520"/>
                  </a:lnTo>
                  <a:cubicBezTo>
                    <a:pt x="96823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60120" y="5150047"/>
            <a:ext cx="4492849" cy="548640"/>
            <a:chOff x="0" y="0"/>
            <a:chExt cx="5990465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990491" cy="731520"/>
            </a:xfrm>
            <a:custGeom>
              <a:avLst/>
              <a:gdLst/>
              <a:ahLst/>
              <a:cxnLst/>
              <a:rect r="r" b="b" t="t" l="l"/>
              <a:pathLst>
                <a:path h="731520" w="5990491">
                  <a:moveTo>
                    <a:pt x="0" y="0"/>
                  </a:moveTo>
                  <a:lnTo>
                    <a:pt x="5990491" y="0"/>
                  </a:lnTo>
                  <a:lnTo>
                    <a:pt x="599049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54" r="0" b="-109454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0120" y="5162429"/>
            <a:ext cx="4492849" cy="577215"/>
            <a:chOff x="0" y="0"/>
            <a:chExt cx="5990465" cy="7696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990465" cy="769620"/>
            </a:xfrm>
            <a:custGeom>
              <a:avLst/>
              <a:gdLst/>
              <a:ahLst/>
              <a:cxnLst/>
              <a:rect r="r" b="b" t="t" l="l"/>
              <a:pathLst>
                <a:path h="769620" w="5990465">
                  <a:moveTo>
                    <a:pt x="0" y="0"/>
                  </a:moveTo>
                  <a:lnTo>
                    <a:pt x="5990465" y="0"/>
                  </a:lnTo>
                  <a:lnTo>
                    <a:pt x="5990465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382" r="23922" b="-6538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5990465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Avg Predicted Net Margin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9645" y="5902071"/>
            <a:ext cx="2547485" cy="485266"/>
            <a:chOff x="0" y="0"/>
            <a:chExt cx="3396647" cy="64702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396647" cy="647021"/>
            </a:xfrm>
            <a:custGeom>
              <a:avLst/>
              <a:gdLst/>
              <a:ahLst/>
              <a:cxnLst/>
              <a:rect r="r" b="b" t="t" l="l"/>
              <a:pathLst>
                <a:path h="647021" w="3396647">
                  <a:moveTo>
                    <a:pt x="0" y="145580"/>
                  </a:moveTo>
                  <a:cubicBezTo>
                    <a:pt x="0" y="65151"/>
                    <a:pt x="96823" y="0"/>
                    <a:pt x="216349" y="0"/>
                  </a:cubicBezTo>
                  <a:lnTo>
                    <a:pt x="3180298" y="0"/>
                  </a:lnTo>
                  <a:cubicBezTo>
                    <a:pt x="3299824" y="0"/>
                    <a:pt x="3396647" y="65151"/>
                    <a:pt x="3396647" y="145580"/>
                  </a:cubicBezTo>
                  <a:lnTo>
                    <a:pt x="3396647" y="501441"/>
                  </a:lnTo>
                  <a:cubicBezTo>
                    <a:pt x="3396647" y="581870"/>
                    <a:pt x="3299824" y="647021"/>
                    <a:pt x="3180298" y="647021"/>
                  </a:cubicBezTo>
                  <a:lnTo>
                    <a:pt x="216349" y="647021"/>
                  </a:lnTo>
                  <a:cubicBezTo>
                    <a:pt x="96823" y="647021"/>
                    <a:pt x="0" y="581870"/>
                    <a:pt x="0" y="501441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69645" y="5902071"/>
            <a:ext cx="2547510" cy="485266"/>
            <a:chOff x="0" y="0"/>
            <a:chExt cx="3396680" cy="64702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396647" cy="647021"/>
            </a:xfrm>
            <a:custGeom>
              <a:avLst/>
              <a:gdLst/>
              <a:ahLst/>
              <a:cxnLst/>
              <a:rect r="r" b="b" t="t" l="l"/>
              <a:pathLst>
                <a:path h="647021" w="3396647">
                  <a:moveTo>
                    <a:pt x="0" y="0"/>
                  </a:moveTo>
                  <a:lnTo>
                    <a:pt x="3396647" y="0"/>
                  </a:lnTo>
                  <a:lnTo>
                    <a:pt x="3396647" y="647021"/>
                  </a:lnTo>
                  <a:lnTo>
                    <a:pt x="0" y="6470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19" r="0" b="-52219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69645" y="5902071"/>
            <a:ext cx="2547510" cy="510540"/>
            <a:chOff x="0" y="0"/>
            <a:chExt cx="3396680" cy="6807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396681" cy="680720"/>
            </a:xfrm>
            <a:custGeom>
              <a:avLst/>
              <a:gdLst/>
              <a:ahLst/>
              <a:cxnLst/>
              <a:rect r="r" b="b" t="t" l="l"/>
              <a:pathLst>
                <a:path h="680720" w="3396681">
                  <a:moveTo>
                    <a:pt x="0" y="0"/>
                  </a:moveTo>
                  <a:lnTo>
                    <a:pt x="3396681" y="0"/>
                  </a:lnTo>
                  <a:lnTo>
                    <a:pt x="3396681" y="680720"/>
                  </a:lnTo>
                  <a:lnTo>
                    <a:pt x="0" y="68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37" r="23922" b="-3049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3396680" cy="69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Average ROI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60120" y="6545961"/>
            <a:ext cx="8298180" cy="523183"/>
            <a:chOff x="0" y="0"/>
            <a:chExt cx="11064240" cy="69757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064240" cy="697577"/>
            </a:xfrm>
            <a:custGeom>
              <a:avLst/>
              <a:gdLst/>
              <a:ahLst/>
              <a:cxnLst/>
              <a:rect r="r" b="b" t="t" l="l"/>
              <a:pathLst>
                <a:path h="697577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697577"/>
                  </a:lnTo>
                  <a:lnTo>
                    <a:pt x="0" y="6975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8361" r="0" b="-24974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11064240" cy="707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8"/>
                </a:lnSpc>
              </a:pPr>
              <a:r>
                <a:rPr lang="en-US" b="true" sz="2674" spc="382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KEY VISUALIZATIONS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60120" y="7169177"/>
            <a:ext cx="329184" cy="403547"/>
            <a:chOff x="0" y="0"/>
            <a:chExt cx="438912" cy="538062"/>
          </a:xfrm>
        </p:grpSpPr>
        <p:sp>
          <p:nvSpPr>
            <p:cNvPr name="Freeform 61" id="61" descr="/home/claude/deck/icons/chartbar_7FB069.png"/>
            <p:cNvSpPr/>
            <p:nvPr/>
          </p:nvSpPr>
          <p:spPr>
            <a:xfrm flipH="false" flipV="false" rot="0">
              <a:off x="0" y="0"/>
              <a:ext cx="438912" cy="538062"/>
            </a:xfrm>
            <a:custGeom>
              <a:avLst/>
              <a:gdLst/>
              <a:ahLst/>
              <a:cxnLst/>
              <a:rect r="r" b="b" t="t" l="l"/>
              <a:pathLst>
                <a:path h="53806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38062"/>
                  </a:lnTo>
                  <a:lnTo>
                    <a:pt x="0" y="538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294" t="0" r="-11294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99032" y="7034661"/>
            <a:ext cx="3669030" cy="840722"/>
            <a:chOff x="0" y="0"/>
            <a:chExt cx="4892040" cy="112096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892040" cy="1120962"/>
            </a:xfrm>
            <a:custGeom>
              <a:avLst/>
              <a:gdLst/>
              <a:ahLst/>
              <a:cxnLst/>
              <a:rect r="r" b="b" t="t" l="l"/>
              <a:pathLst>
                <a:path h="1120962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120962"/>
                  </a:lnTo>
                  <a:lnTo>
                    <a:pt x="0" y="11209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76" r="0" b="-34976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399032" y="6990874"/>
            <a:ext cx="3669030" cy="1148787"/>
            <a:chOff x="0" y="0"/>
            <a:chExt cx="4892040" cy="153171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892040" cy="1531716"/>
            </a:xfrm>
            <a:custGeom>
              <a:avLst/>
              <a:gdLst/>
              <a:ahLst/>
              <a:cxnLst/>
              <a:rect r="r" b="b" t="t" l="l"/>
              <a:pathLst>
                <a:path h="1531716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531716"/>
                  </a:lnTo>
                  <a:lnTo>
                    <a:pt x="0" y="15317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828" r="0" b="636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4892040" cy="1569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5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Revenue Trend with Detected Anomalies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5177790" y="7169177"/>
            <a:ext cx="329184" cy="403547"/>
            <a:chOff x="0" y="0"/>
            <a:chExt cx="438912" cy="538062"/>
          </a:xfrm>
        </p:grpSpPr>
        <p:sp>
          <p:nvSpPr>
            <p:cNvPr name="Freeform 68" id="68" descr="/home/claude/deck/icons/chartbar_7FB069.png"/>
            <p:cNvSpPr/>
            <p:nvPr/>
          </p:nvSpPr>
          <p:spPr>
            <a:xfrm flipH="false" flipV="false" rot="0">
              <a:off x="0" y="0"/>
              <a:ext cx="438912" cy="538062"/>
            </a:xfrm>
            <a:custGeom>
              <a:avLst/>
              <a:gdLst/>
              <a:ahLst/>
              <a:cxnLst/>
              <a:rect r="r" b="b" t="t" l="l"/>
              <a:pathLst>
                <a:path h="53806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38062"/>
                  </a:lnTo>
                  <a:lnTo>
                    <a:pt x="0" y="538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294" t="0" r="-11294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616702" y="7034661"/>
            <a:ext cx="3669030" cy="840722"/>
            <a:chOff x="0" y="0"/>
            <a:chExt cx="4892040" cy="112096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892040" cy="1120962"/>
            </a:xfrm>
            <a:custGeom>
              <a:avLst/>
              <a:gdLst/>
              <a:ahLst/>
              <a:cxnLst/>
              <a:rect r="r" b="b" t="t" l="l"/>
              <a:pathLst>
                <a:path h="1120962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120962"/>
                  </a:lnTo>
                  <a:lnTo>
                    <a:pt x="0" y="11209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76" r="0" b="-34976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5616702" y="6990874"/>
            <a:ext cx="3669030" cy="1148787"/>
            <a:chOff x="0" y="0"/>
            <a:chExt cx="4892040" cy="153171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92040" cy="1531716"/>
            </a:xfrm>
            <a:custGeom>
              <a:avLst/>
              <a:gdLst/>
              <a:ahLst/>
              <a:cxnLst/>
              <a:rect r="r" b="b" t="t" l="l"/>
              <a:pathLst>
                <a:path h="1531716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531716"/>
                  </a:lnTo>
                  <a:lnTo>
                    <a:pt x="0" y="15317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828" r="0" b="636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892040" cy="1569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5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Daily Detected Anomalies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60120" y="8043528"/>
            <a:ext cx="329184" cy="403547"/>
            <a:chOff x="0" y="0"/>
            <a:chExt cx="438912" cy="538062"/>
          </a:xfrm>
        </p:grpSpPr>
        <p:sp>
          <p:nvSpPr>
            <p:cNvPr name="Freeform 75" id="75" descr="/home/claude/deck/icons/chartbar_7FB069.png"/>
            <p:cNvSpPr/>
            <p:nvPr/>
          </p:nvSpPr>
          <p:spPr>
            <a:xfrm flipH="false" flipV="false" rot="0">
              <a:off x="0" y="0"/>
              <a:ext cx="438912" cy="538062"/>
            </a:xfrm>
            <a:custGeom>
              <a:avLst/>
              <a:gdLst/>
              <a:ahLst/>
              <a:cxnLst/>
              <a:rect r="r" b="b" t="t" l="l"/>
              <a:pathLst>
                <a:path h="53806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38062"/>
                  </a:lnTo>
                  <a:lnTo>
                    <a:pt x="0" y="538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294" t="0" r="-11294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399032" y="7909012"/>
            <a:ext cx="3669030" cy="840722"/>
            <a:chOff x="0" y="0"/>
            <a:chExt cx="4892040" cy="112096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892040" cy="1120962"/>
            </a:xfrm>
            <a:custGeom>
              <a:avLst/>
              <a:gdLst/>
              <a:ahLst/>
              <a:cxnLst/>
              <a:rect r="r" b="b" t="t" l="l"/>
              <a:pathLst>
                <a:path h="1120962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120962"/>
                  </a:lnTo>
                  <a:lnTo>
                    <a:pt x="0" y="11209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76" r="0" b="-34976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399032" y="7865225"/>
            <a:ext cx="3669030" cy="1148787"/>
            <a:chOff x="0" y="0"/>
            <a:chExt cx="4892040" cy="153171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892040" cy="1531716"/>
            </a:xfrm>
            <a:custGeom>
              <a:avLst/>
              <a:gdLst/>
              <a:ahLst/>
              <a:cxnLst/>
              <a:rect r="r" b="b" t="t" l="l"/>
              <a:pathLst>
                <a:path h="1531716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531716"/>
                  </a:lnTo>
                  <a:lnTo>
                    <a:pt x="0" y="15317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828" r="0" b="636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4892040" cy="1569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5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Top 10 Anomalous Products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5177790" y="8043528"/>
            <a:ext cx="329184" cy="403547"/>
            <a:chOff x="0" y="0"/>
            <a:chExt cx="438912" cy="538062"/>
          </a:xfrm>
        </p:grpSpPr>
        <p:sp>
          <p:nvSpPr>
            <p:cNvPr name="Freeform 82" id="82" descr="/home/claude/deck/icons/chartbar_7FB069.png"/>
            <p:cNvSpPr/>
            <p:nvPr/>
          </p:nvSpPr>
          <p:spPr>
            <a:xfrm flipH="false" flipV="false" rot="0">
              <a:off x="0" y="0"/>
              <a:ext cx="438912" cy="538062"/>
            </a:xfrm>
            <a:custGeom>
              <a:avLst/>
              <a:gdLst/>
              <a:ahLst/>
              <a:cxnLst/>
              <a:rect r="r" b="b" t="t" l="l"/>
              <a:pathLst>
                <a:path h="53806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38062"/>
                  </a:lnTo>
                  <a:lnTo>
                    <a:pt x="0" y="538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294" t="0" r="-11294" b="0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5616702" y="7909012"/>
            <a:ext cx="3669030" cy="840722"/>
            <a:chOff x="0" y="0"/>
            <a:chExt cx="4892040" cy="112096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892040" cy="1120962"/>
            </a:xfrm>
            <a:custGeom>
              <a:avLst/>
              <a:gdLst/>
              <a:ahLst/>
              <a:cxnLst/>
              <a:rect r="r" b="b" t="t" l="l"/>
              <a:pathLst>
                <a:path h="1120962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120962"/>
                  </a:lnTo>
                  <a:lnTo>
                    <a:pt x="0" y="11209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76" r="0" b="-34976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5616702" y="7865225"/>
            <a:ext cx="3669030" cy="1148787"/>
            <a:chOff x="0" y="0"/>
            <a:chExt cx="4892040" cy="15317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892040" cy="1531716"/>
            </a:xfrm>
            <a:custGeom>
              <a:avLst/>
              <a:gdLst/>
              <a:ahLst/>
              <a:cxnLst/>
              <a:rect r="r" b="b" t="t" l="l"/>
              <a:pathLst>
                <a:path h="1531716" w="4892040">
                  <a:moveTo>
                    <a:pt x="0" y="0"/>
                  </a:moveTo>
                  <a:lnTo>
                    <a:pt x="4892040" y="0"/>
                  </a:lnTo>
                  <a:lnTo>
                    <a:pt x="4892040" y="1531716"/>
                  </a:lnTo>
                  <a:lnTo>
                    <a:pt x="0" y="15317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828" r="0" b="636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4892040" cy="1569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1"/>
                </a:lnSpc>
              </a:pPr>
              <a:r>
                <a:rPr lang="en-US" sz="2599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Normal vs. Anomaly Distribution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400032" y="7976875"/>
            <a:ext cx="8298180" cy="850392"/>
            <a:chOff x="0" y="0"/>
            <a:chExt cx="11064240" cy="113385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1064239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064239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0808208" y="0"/>
                  </a:lnTo>
                  <a:cubicBezTo>
                    <a:pt x="10949559" y="0"/>
                    <a:pt x="11064239" y="114681"/>
                    <a:pt x="11064239" y="256032"/>
                  </a:cubicBezTo>
                  <a:lnTo>
                    <a:pt x="11064239" y="877824"/>
                  </a:lnTo>
                  <a:cubicBezTo>
                    <a:pt x="11064239" y="1019175"/>
                    <a:pt x="10949559" y="1133856"/>
                    <a:pt x="10808208" y="1133856"/>
                  </a:cubicBezTo>
                  <a:lnTo>
                    <a:pt x="256032" y="1133856"/>
                  </a:lnTo>
                  <a:cubicBezTo>
                    <a:pt x="114681" y="1133856"/>
                    <a:pt x="0" y="1019175"/>
                    <a:pt x="0" y="877824"/>
                  </a:cubicBezTo>
                  <a:close/>
                </a:path>
              </a:pathLst>
            </a:custGeom>
            <a:solidFill>
              <a:srgbClr val="EAF3EA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646920" y="8182615"/>
            <a:ext cx="438912" cy="438912"/>
            <a:chOff x="0" y="0"/>
            <a:chExt cx="585216" cy="585216"/>
          </a:xfrm>
        </p:grpSpPr>
        <p:sp>
          <p:nvSpPr>
            <p:cNvPr name="Freeform 91" id="91" descr="/home/claude/deck/icons/filter_1B4332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250424" y="7976875"/>
            <a:ext cx="7200900" cy="850392"/>
            <a:chOff x="0" y="0"/>
            <a:chExt cx="9601200" cy="113385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6012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79" r="0" b="-114880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250424" y="7962587"/>
            <a:ext cx="7200900" cy="864679"/>
            <a:chOff x="0" y="0"/>
            <a:chExt cx="9601200" cy="115290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601200" cy="1152906"/>
            </a:xfrm>
            <a:custGeom>
              <a:avLst/>
              <a:gdLst/>
              <a:ahLst/>
              <a:cxnLst/>
              <a:rect r="r" b="b" t="t" l="l"/>
              <a:pathLst>
                <a:path h="115290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152906"/>
                  </a:lnTo>
                  <a:lnTo>
                    <a:pt x="0" y="1152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268" r="0" b="-112268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960120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8"/>
                </a:lnSpc>
              </a:pPr>
              <a:r>
                <a:rPr lang="en-US" sz="2674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Filters:  </a:t>
              </a:r>
              <a:r>
                <a:rPr lang="en-US" sz="2674">
                  <a:solidFill>
                    <a:srgbClr val="1F2A2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Date  ·  Marketplace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822960" y="9572625"/>
            <a:ext cx="8229600" cy="497249"/>
            <a:chOff x="0" y="0"/>
            <a:chExt cx="10972800" cy="662999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972800" cy="662999"/>
            </a:xfrm>
            <a:custGeom>
              <a:avLst/>
              <a:gdLst/>
              <a:ahLst/>
              <a:cxnLst/>
              <a:rect r="r" b="b" t="t" l="l"/>
              <a:pathLst>
                <a:path h="66299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99"/>
                  </a:lnTo>
                  <a:lnTo>
                    <a:pt x="0" y="6629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8233" r="0" b="-266731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10972800" cy="672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8"/>
                </a:lnSpc>
              </a:pPr>
              <a:r>
                <a:rPr lang="en-US" sz="2524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7053103" y="9572625"/>
            <a:ext cx="822960" cy="509996"/>
            <a:chOff x="0" y="0"/>
            <a:chExt cx="1097280" cy="67999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97280" cy="679994"/>
            </a:xfrm>
            <a:custGeom>
              <a:avLst/>
              <a:gdLst/>
              <a:ahLst/>
              <a:cxnLst/>
              <a:rect r="r" b="b" t="t" l="l"/>
              <a:pathLst>
                <a:path h="67999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79994"/>
                  </a:lnTo>
                  <a:lnTo>
                    <a:pt x="0" y="67999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1371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1097280" cy="689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19"/>
                </a:lnSpc>
              </a:pPr>
              <a:r>
                <a:rPr lang="en-US" sz="259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20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108" id="108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110" id="110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1081" r="0" b="-31081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47" r="0" b="-345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8984992" y="2480381"/>
            <a:ext cx="9303008" cy="5244082"/>
            <a:chOff x="0" y="0"/>
            <a:chExt cx="12139066" cy="684276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2139041" cy="6842760"/>
            </a:xfrm>
            <a:custGeom>
              <a:avLst/>
              <a:gdLst/>
              <a:ahLst/>
              <a:cxnLst/>
              <a:rect r="r" b="b" t="t" l="l"/>
              <a:pathLst>
                <a:path h="6842760" w="12139041">
                  <a:moveTo>
                    <a:pt x="0" y="0"/>
                  </a:moveTo>
                  <a:lnTo>
                    <a:pt x="12139041" y="0"/>
                  </a:lnTo>
                  <a:lnTo>
                    <a:pt x="12139041" y="6842760"/>
                  </a:lnTo>
                  <a:lnTo>
                    <a:pt x="0" y="6842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7116425" y="9417628"/>
            <a:ext cx="891540" cy="595052"/>
            <a:chOff x="0" y="0"/>
            <a:chExt cx="1188720" cy="793403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21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428910" cy="10388329"/>
            <a:chOff x="0" y="0"/>
            <a:chExt cx="12139066" cy="6842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39041" cy="6842760"/>
            </a:xfrm>
            <a:custGeom>
              <a:avLst/>
              <a:gdLst/>
              <a:ahLst/>
              <a:cxnLst/>
              <a:rect r="r" b="b" t="t" l="l"/>
              <a:pathLst>
                <a:path h="6842760" w="12139041">
                  <a:moveTo>
                    <a:pt x="0" y="0"/>
                  </a:moveTo>
                  <a:lnTo>
                    <a:pt x="12139041" y="0"/>
                  </a:lnTo>
                  <a:lnTo>
                    <a:pt x="12139041" y="6842760"/>
                  </a:lnTo>
                  <a:lnTo>
                    <a:pt x="0" y="6842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657225"/>
            <a:ext cx="10972800" cy="508635"/>
            <a:chOff x="0" y="0"/>
            <a:chExt cx="146304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78180"/>
            </a:xfrm>
            <a:custGeom>
              <a:avLst/>
              <a:gdLst/>
              <a:ahLst/>
              <a:cxnLst/>
              <a:rect r="r" b="b" t="t" l="l"/>
              <a:pathLst>
                <a:path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351" r="0" b="-37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46304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16">
                  <a:solidFill>
                    <a:srgbClr val="7FB06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CHAPTER 5 · DESIGN SUMMARY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24712"/>
            <a:ext cx="14401800" cy="1028700"/>
            <a:chOff x="0" y="0"/>
            <a:chExt cx="1920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1081088"/>
            <a:ext cx="16915943" cy="1042987"/>
            <a:chOff x="0" y="0"/>
            <a:chExt cx="22554590" cy="13906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554591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554591">
                  <a:moveTo>
                    <a:pt x="0" y="0"/>
                  </a:moveTo>
                  <a:lnTo>
                    <a:pt x="22554591" y="0"/>
                  </a:lnTo>
                  <a:lnTo>
                    <a:pt x="22554591" y="1390650"/>
                  </a:lnTo>
                  <a:lnTo>
                    <a:pt x="0" y="13906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053" r="14862" b="-21905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255459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B43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From 13,000 Rows to Real Commercial Value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057400"/>
            <a:ext cx="16322040" cy="685800"/>
            <a:chOff x="0" y="0"/>
            <a:chExt cx="2176272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420" r="0" b="-41342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2028825"/>
            <a:ext cx="16322040" cy="899372"/>
            <a:chOff x="0" y="0"/>
            <a:chExt cx="21762720" cy="11991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62720" cy="1199163"/>
            </a:xfrm>
            <a:custGeom>
              <a:avLst/>
              <a:gdLst/>
              <a:ahLst/>
              <a:cxnLst/>
              <a:rect r="r" b="b" t="t" l="l"/>
              <a:pathLst>
                <a:path h="1199163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99163"/>
                  </a:lnTo>
                  <a:lnTo>
                    <a:pt x="0" y="11991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3904" r="0" b="-29333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1762720" cy="1199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9"/>
                </a:lnSpc>
              </a:pPr>
              <a:r>
                <a:rPr lang="en-US" sz="2574" i="true">
                  <a:solidFill>
                    <a:srgbClr val="5B6B63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The suite transforms raw corporate records into an executive intelligence system — pairing a clean Medallion data architecture with Prophet &amp; Random Forest predictive outputs.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3086100"/>
            <a:ext cx="16322040" cy="1851660"/>
            <a:chOff x="0" y="0"/>
            <a:chExt cx="21762720" cy="2468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62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2176272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21506687" y="0"/>
                  </a:lnTo>
                  <a:cubicBezTo>
                    <a:pt x="21648038" y="0"/>
                    <a:pt x="21762720" y="114681"/>
                    <a:pt x="21762720" y="256032"/>
                  </a:cubicBezTo>
                  <a:lnTo>
                    <a:pt x="21762720" y="2212848"/>
                  </a:lnTo>
                  <a:cubicBezTo>
                    <a:pt x="21762720" y="2354199"/>
                    <a:pt x="21648038" y="2468880"/>
                    <a:pt x="21506687" y="2468880"/>
                  </a:cubicBezTo>
                  <a:lnTo>
                    <a:pt x="256032" y="2468880"/>
                  </a:lnTo>
                  <a:cubicBezTo>
                    <a:pt x="114681" y="2468880"/>
                    <a:pt x="0" y="2354199"/>
                    <a:pt x="0" y="221284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71600" y="3566160"/>
            <a:ext cx="905256" cy="905256"/>
            <a:chOff x="0" y="0"/>
            <a:chExt cx="1207008" cy="12070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070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570758" y="3765318"/>
            <a:ext cx="506920" cy="506920"/>
            <a:chOff x="0" y="0"/>
            <a:chExt cx="675894" cy="675894"/>
          </a:xfrm>
        </p:grpSpPr>
        <p:sp>
          <p:nvSpPr>
            <p:cNvPr name="Freeform 22" id="22" descr="/home/claude/deck/icons/database_1B4332.png"/>
            <p:cNvSpPr/>
            <p:nvPr/>
          </p:nvSpPr>
          <p:spPr>
            <a:xfrm flipH="false" flipV="false" rot="0">
              <a:off x="0" y="0"/>
              <a:ext cx="675894" cy="675894"/>
            </a:xfrm>
            <a:custGeom>
              <a:avLst/>
              <a:gdLst/>
              <a:ahLst/>
              <a:cxnLst/>
              <a:rect r="r" b="b" t="t" l="l"/>
              <a:pathLst>
                <a:path h="675894" w="675894">
                  <a:moveTo>
                    <a:pt x="0" y="0"/>
                  </a:moveTo>
                  <a:lnTo>
                    <a:pt x="675894" y="0"/>
                  </a:lnTo>
                  <a:lnTo>
                    <a:pt x="675894" y="675894"/>
                  </a:lnTo>
                  <a:lnTo>
                    <a:pt x="0" y="675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606040" y="3264408"/>
            <a:ext cx="3429000" cy="1508760"/>
            <a:chOff x="0" y="0"/>
            <a:chExt cx="4572000" cy="2011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720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92" t="0" r="-6493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606040" y="3235833"/>
            <a:ext cx="3429000" cy="1537335"/>
            <a:chOff x="0" y="0"/>
            <a:chExt cx="4572000" cy="20497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72000" cy="2049780"/>
            </a:xfrm>
            <a:custGeom>
              <a:avLst/>
              <a:gdLst/>
              <a:ahLst/>
              <a:cxnLst/>
              <a:rect r="r" b="b" t="t" l="l"/>
              <a:pathLst>
                <a:path h="20497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049780"/>
                  </a:lnTo>
                  <a:lnTo>
                    <a:pt x="0" y="20497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522" t="0" r="-752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4572000" cy="207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 Engineering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224111" y="3343751"/>
            <a:ext cx="33338" cy="1336358"/>
            <a:chOff x="0" y="0"/>
            <a:chExt cx="44450" cy="17818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450" cy="1781810"/>
            </a:xfrm>
            <a:custGeom>
              <a:avLst/>
              <a:gdLst/>
              <a:ahLst/>
              <a:cxnLst/>
              <a:rect r="r" b="b" t="t" l="l"/>
              <a:pathLst>
                <a:path h="1781810" w="44450">
                  <a:moveTo>
                    <a:pt x="0" y="0"/>
                  </a:moveTo>
                  <a:lnTo>
                    <a:pt x="44450" y="178181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5096714" t="0" r="-5096714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583680" y="3264408"/>
            <a:ext cx="5006340" cy="1508760"/>
            <a:chOff x="0" y="0"/>
            <a:chExt cx="6675120" cy="2011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6751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09" r="0" b="-14609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583680" y="3214402"/>
            <a:ext cx="5195411" cy="1558766"/>
            <a:chOff x="0" y="0"/>
            <a:chExt cx="6927215" cy="207835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27214" cy="2078355"/>
            </a:xfrm>
            <a:custGeom>
              <a:avLst/>
              <a:gdLst/>
              <a:ahLst/>
              <a:cxnLst/>
              <a:rect r="r" b="b" t="t" l="l"/>
              <a:pathLst>
                <a:path h="2078355" w="6927214">
                  <a:moveTo>
                    <a:pt x="0" y="0"/>
                  </a:moveTo>
                  <a:lnTo>
                    <a:pt x="6927214" y="0"/>
                  </a:lnTo>
                  <a:lnTo>
                    <a:pt x="6927214" y="2078355"/>
                  </a:lnTo>
                  <a:lnTo>
                    <a:pt x="0" y="20783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80" r="3639" b="-1258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6927215" cy="2135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E4EFE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Reconciled 13,000+ records into a clean star schema.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779091" y="3343751"/>
            <a:ext cx="33338" cy="1336358"/>
            <a:chOff x="0" y="0"/>
            <a:chExt cx="44450" cy="17818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450" cy="1781810"/>
            </a:xfrm>
            <a:custGeom>
              <a:avLst/>
              <a:gdLst/>
              <a:ahLst/>
              <a:cxnLst/>
              <a:rect r="r" b="b" t="t" l="l"/>
              <a:pathLst>
                <a:path h="1781810" w="44450">
                  <a:moveTo>
                    <a:pt x="0" y="0"/>
                  </a:moveTo>
                  <a:lnTo>
                    <a:pt x="44450" y="178181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5096714" t="0" r="-5096714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138660" y="3264408"/>
            <a:ext cx="4869180" cy="1508760"/>
            <a:chOff x="0" y="0"/>
            <a:chExt cx="6492240" cy="20116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922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39" r="0" b="-12839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138660" y="3214402"/>
            <a:ext cx="4914443" cy="1558766"/>
            <a:chOff x="0" y="0"/>
            <a:chExt cx="6552590" cy="207835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52591" cy="2078355"/>
            </a:xfrm>
            <a:custGeom>
              <a:avLst/>
              <a:gdLst/>
              <a:ahLst/>
              <a:cxnLst/>
              <a:rect r="r" b="b" t="t" l="l"/>
              <a:pathLst>
                <a:path h="2078355" w="6552591">
                  <a:moveTo>
                    <a:pt x="0" y="0"/>
                  </a:moveTo>
                  <a:lnTo>
                    <a:pt x="6552591" y="0"/>
                  </a:lnTo>
                  <a:lnTo>
                    <a:pt x="6552591" y="2078355"/>
                  </a:lnTo>
                  <a:lnTo>
                    <a:pt x="0" y="20783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66" r="921" b="-1086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6552590" cy="2135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Eliminates data silos — establishes 100% data trust across teams.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0120" y="5212080"/>
            <a:ext cx="16322040" cy="1851660"/>
            <a:chOff x="0" y="0"/>
            <a:chExt cx="21762720" cy="24688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762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2176272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21506687" y="0"/>
                  </a:lnTo>
                  <a:cubicBezTo>
                    <a:pt x="21648038" y="0"/>
                    <a:pt x="21762720" y="114681"/>
                    <a:pt x="21762720" y="256032"/>
                  </a:cubicBezTo>
                  <a:lnTo>
                    <a:pt x="21762720" y="2212848"/>
                  </a:lnTo>
                  <a:cubicBezTo>
                    <a:pt x="21762720" y="2354199"/>
                    <a:pt x="21648038" y="2468880"/>
                    <a:pt x="21506687" y="2468880"/>
                  </a:cubicBezTo>
                  <a:lnTo>
                    <a:pt x="256032" y="2468880"/>
                  </a:lnTo>
                  <a:cubicBezTo>
                    <a:pt x="114681" y="2468880"/>
                    <a:pt x="0" y="2354199"/>
                    <a:pt x="0" y="2212848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71600" y="5692140"/>
            <a:ext cx="905256" cy="905256"/>
            <a:chOff x="0" y="0"/>
            <a:chExt cx="1207008" cy="12070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070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70758" y="5891298"/>
            <a:ext cx="506920" cy="506920"/>
            <a:chOff x="0" y="0"/>
            <a:chExt cx="675894" cy="675894"/>
          </a:xfrm>
        </p:grpSpPr>
        <p:sp>
          <p:nvSpPr>
            <p:cNvPr name="Freeform 47" id="47" descr="/home/claude/deck/icons/brain_1B4332.png"/>
            <p:cNvSpPr/>
            <p:nvPr/>
          </p:nvSpPr>
          <p:spPr>
            <a:xfrm flipH="false" flipV="false" rot="0">
              <a:off x="0" y="0"/>
              <a:ext cx="675894" cy="675894"/>
            </a:xfrm>
            <a:custGeom>
              <a:avLst/>
              <a:gdLst/>
              <a:ahLst/>
              <a:cxnLst/>
              <a:rect r="r" b="b" t="t" l="l"/>
              <a:pathLst>
                <a:path h="675894" w="675894">
                  <a:moveTo>
                    <a:pt x="0" y="0"/>
                  </a:moveTo>
                  <a:lnTo>
                    <a:pt x="675894" y="0"/>
                  </a:lnTo>
                  <a:lnTo>
                    <a:pt x="675894" y="675894"/>
                  </a:lnTo>
                  <a:lnTo>
                    <a:pt x="0" y="675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2606040" y="5390388"/>
            <a:ext cx="3429000" cy="1508760"/>
            <a:chOff x="0" y="0"/>
            <a:chExt cx="4572000" cy="20116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5720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92" t="0" r="-6493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606040" y="5361813"/>
            <a:ext cx="3429000" cy="1537335"/>
            <a:chOff x="0" y="0"/>
            <a:chExt cx="4572000" cy="20497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72000" cy="2049780"/>
            </a:xfrm>
            <a:custGeom>
              <a:avLst/>
              <a:gdLst/>
              <a:ahLst/>
              <a:cxnLst/>
              <a:rect r="r" b="b" t="t" l="l"/>
              <a:pathLst>
                <a:path h="20497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049780"/>
                  </a:lnTo>
                  <a:lnTo>
                    <a:pt x="0" y="20497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522" t="0" r="-7522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4572000" cy="207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Machine Learning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224111" y="5469731"/>
            <a:ext cx="33338" cy="1336358"/>
            <a:chOff x="0" y="0"/>
            <a:chExt cx="44450" cy="178181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4450" cy="1781810"/>
            </a:xfrm>
            <a:custGeom>
              <a:avLst/>
              <a:gdLst/>
              <a:ahLst/>
              <a:cxnLst/>
              <a:rect r="r" b="b" t="t" l="l"/>
              <a:pathLst>
                <a:path h="1781810" w="44450">
                  <a:moveTo>
                    <a:pt x="0" y="0"/>
                  </a:moveTo>
                  <a:lnTo>
                    <a:pt x="44450" y="178181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5096714" t="0" r="-5096714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6583680" y="5390388"/>
            <a:ext cx="5006340" cy="1508760"/>
            <a:chOff x="0" y="0"/>
            <a:chExt cx="6675120" cy="20116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6751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09" r="0" b="-14609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583680" y="5340382"/>
            <a:ext cx="5195411" cy="1558766"/>
            <a:chOff x="0" y="0"/>
            <a:chExt cx="6927215" cy="207835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927214" cy="2078355"/>
            </a:xfrm>
            <a:custGeom>
              <a:avLst/>
              <a:gdLst/>
              <a:ahLst/>
              <a:cxnLst/>
              <a:rect r="r" b="b" t="t" l="l"/>
              <a:pathLst>
                <a:path h="2078355" w="6927214">
                  <a:moveTo>
                    <a:pt x="0" y="0"/>
                  </a:moveTo>
                  <a:lnTo>
                    <a:pt x="6927214" y="0"/>
                  </a:lnTo>
                  <a:lnTo>
                    <a:pt x="6927214" y="2078355"/>
                  </a:lnTo>
                  <a:lnTo>
                    <a:pt x="0" y="20783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80" r="3639" b="-1258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6927215" cy="2135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E4EFE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60-day demand forecasts + Bleeding SKU risk probabilities.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779091" y="5469731"/>
            <a:ext cx="33338" cy="1336358"/>
            <a:chOff x="0" y="0"/>
            <a:chExt cx="44450" cy="178181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4450" cy="1781810"/>
            </a:xfrm>
            <a:custGeom>
              <a:avLst/>
              <a:gdLst/>
              <a:ahLst/>
              <a:cxnLst/>
              <a:rect r="r" b="b" t="t" l="l"/>
              <a:pathLst>
                <a:path h="1781810" w="44450">
                  <a:moveTo>
                    <a:pt x="0" y="0"/>
                  </a:moveTo>
                  <a:lnTo>
                    <a:pt x="44450" y="178181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5096714" t="0" r="-5096714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2138660" y="5390388"/>
            <a:ext cx="4869180" cy="1508760"/>
            <a:chOff x="0" y="0"/>
            <a:chExt cx="6492240" cy="2011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4922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39" r="0" b="-12839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138660" y="5340382"/>
            <a:ext cx="4914443" cy="1558766"/>
            <a:chOff x="0" y="0"/>
            <a:chExt cx="6552590" cy="207835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552591" cy="2078355"/>
            </a:xfrm>
            <a:custGeom>
              <a:avLst/>
              <a:gdLst/>
              <a:ahLst/>
              <a:cxnLst/>
              <a:rect r="r" b="b" t="t" l="l"/>
              <a:pathLst>
                <a:path h="2078355" w="6552591">
                  <a:moveTo>
                    <a:pt x="0" y="0"/>
                  </a:moveTo>
                  <a:lnTo>
                    <a:pt x="6552591" y="0"/>
                  </a:lnTo>
                  <a:lnTo>
                    <a:pt x="6552591" y="2078355"/>
                  </a:lnTo>
                  <a:lnTo>
                    <a:pt x="0" y="20783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66" r="921" b="-1086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6552590" cy="2135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Prevents stockouts and proactively protects gross product margins.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60120" y="7338060"/>
            <a:ext cx="16322040" cy="1851660"/>
            <a:chOff x="0" y="0"/>
            <a:chExt cx="21762720" cy="24688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762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2176272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21506687" y="0"/>
                  </a:lnTo>
                  <a:cubicBezTo>
                    <a:pt x="21648038" y="0"/>
                    <a:pt x="21762720" y="114681"/>
                    <a:pt x="21762720" y="256032"/>
                  </a:cubicBezTo>
                  <a:lnTo>
                    <a:pt x="21762720" y="2212848"/>
                  </a:lnTo>
                  <a:cubicBezTo>
                    <a:pt x="21762720" y="2354199"/>
                    <a:pt x="21648038" y="2468880"/>
                    <a:pt x="21506687" y="2468880"/>
                  </a:cubicBezTo>
                  <a:lnTo>
                    <a:pt x="256032" y="2468880"/>
                  </a:lnTo>
                  <a:cubicBezTo>
                    <a:pt x="114681" y="2468880"/>
                    <a:pt x="0" y="2354199"/>
                    <a:pt x="0" y="2212848"/>
                  </a:cubicBezTo>
                  <a:close/>
                </a:path>
              </a:pathLst>
            </a:custGeom>
            <a:solidFill>
              <a:srgbClr val="3E7A5C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371600" y="7818120"/>
            <a:ext cx="905256" cy="905256"/>
            <a:chOff x="0" y="0"/>
            <a:chExt cx="1207008" cy="120700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070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570758" y="8017278"/>
            <a:ext cx="506920" cy="506920"/>
            <a:chOff x="0" y="0"/>
            <a:chExt cx="675894" cy="675894"/>
          </a:xfrm>
        </p:grpSpPr>
        <p:sp>
          <p:nvSpPr>
            <p:cNvPr name="Freeform 72" id="72" descr="/home/claude/deck/icons/chartpie_1B4332.png"/>
            <p:cNvSpPr/>
            <p:nvPr/>
          </p:nvSpPr>
          <p:spPr>
            <a:xfrm flipH="false" flipV="false" rot="0">
              <a:off x="0" y="0"/>
              <a:ext cx="675894" cy="675894"/>
            </a:xfrm>
            <a:custGeom>
              <a:avLst/>
              <a:gdLst/>
              <a:ahLst/>
              <a:cxnLst/>
              <a:rect r="r" b="b" t="t" l="l"/>
              <a:pathLst>
                <a:path h="675894" w="675894">
                  <a:moveTo>
                    <a:pt x="0" y="0"/>
                  </a:moveTo>
                  <a:lnTo>
                    <a:pt x="675894" y="0"/>
                  </a:lnTo>
                  <a:lnTo>
                    <a:pt x="675894" y="675894"/>
                  </a:lnTo>
                  <a:lnTo>
                    <a:pt x="0" y="675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2606040" y="7516368"/>
            <a:ext cx="3429000" cy="1508760"/>
            <a:chOff x="0" y="0"/>
            <a:chExt cx="4572000" cy="20116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5720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92" t="0" r="-6493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2606040" y="7487793"/>
            <a:ext cx="3429000" cy="1537335"/>
            <a:chOff x="0" y="0"/>
            <a:chExt cx="4572000" cy="20497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572000" cy="2049780"/>
            </a:xfrm>
            <a:custGeom>
              <a:avLst/>
              <a:gdLst/>
              <a:ahLst/>
              <a:cxnLst/>
              <a:rect r="r" b="b" t="t" l="l"/>
              <a:pathLst>
                <a:path h="20497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049780"/>
                  </a:lnTo>
                  <a:lnTo>
                    <a:pt x="0" y="20497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522" t="0" r="-7522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4572000" cy="207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BI Visualization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224111" y="7595711"/>
            <a:ext cx="33338" cy="1336358"/>
            <a:chOff x="0" y="0"/>
            <a:chExt cx="44450" cy="178181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4450" cy="1781810"/>
            </a:xfrm>
            <a:custGeom>
              <a:avLst/>
              <a:gdLst/>
              <a:ahLst/>
              <a:cxnLst/>
              <a:rect r="r" b="b" t="t" l="l"/>
              <a:pathLst>
                <a:path h="1781810" w="44450">
                  <a:moveTo>
                    <a:pt x="0" y="0"/>
                  </a:moveTo>
                  <a:lnTo>
                    <a:pt x="44450" y="178181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5096714" t="0" r="-5096714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6583680" y="7516368"/>
            <a:ext cx="5006340" cy="1508760"/>
            <a:chOff x="0" y="0"/>
            <a:chExt cx="6675120" cy="20116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6751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09" r="0" b="-14609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583680" y="7466362"/>
            <a:ext cx="5195411" cy="1558766"/>
            <a:chOff x="0" y="0"/>
            <a:chExt cx="6927215" cy="207835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927214" cy="2078355"/>
            </a:xfrm>
            <a:custGeom>
              <a:avLst/>
              <a:gdLst/>
              <a:ahLst/>
              <a:cxnLst/>
              <a:rect r="r" b="b" t="t" l="l"/>
              <a:pathLst>
                <a:path h="2078355" w="6927214">
                  <a:moveTo>
                    <a:pt x="0" y="0"/>
                  </a:moveTo>
                  <a:lnTo>
                    <a:pt x="6927214" y="0"/>
                  </a:lnTo>
                  <a:lnTo>
                    <a:pt x="6927214" y="2078355"/>
                  </a:lnTo>
                  <a:lnTo>
                    <a:pt x="0" y="20783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80" r="3639" b="-1258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6927215" cy="2135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E4EFE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7 interactive Power BI command centers.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779091" y="7595711"/>
            <a:ext cx="33338" cy="1336358"/>
            <a:chOff x="0" y="0"/>
            <a:chExt cx="44450" cy="178181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4450" cy="1781810"/>
            </a:xfrm>
            <a:custGeom>
              <a:avLst/>
              <a:gdLst/>
              <a:ahLst/>
              <a:cxnLst/>
              <a:rect r="r" b="b" t="t" l="l"/>
              <a:pathLst>
                <a:path h="1781810" w="44450">
                  <a:moveTo>
                    <a:pt x="0" y="0"/>
                  </a:moveTo>
                  <a:lnTo>
                    <a:pt x="44450" y="178181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5096714" t="0" r="-5096714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2138660" y="7516368"/>
            <a:ext cx="4869180" cy="1508760"/>
            <a:chOff x="0" y="0"/>
            <a:chExt cx="6492240" cy="20116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4922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39" r="0" b="-12839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138660" y="7466362"/>
            <a:ext cx="4914443" cy="1558766"/>
            <a:chOff x="0" y="0"/>
            <a:chExt cx="6552590" cy="207835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552591" cy="2078355"/>
            </a:xfrm>
            <a:custGeom>
              <a:avLst/>
              <a:gdLst/>
              <a:ahLst/>
              <a:cxnLst/>
              <a:rect r="r" b="b" t="t" l="l"/>
              <a:pathLst>
                <a:path h="2078355" w="6552591">
                  <a:moveTo>
                    <a:pt x="0" y="0"/>
                  </a:moveTo>
                  <a:lnTo>
                    <a:pt x="6552591" y="0"/>
                  </a:lnTo>
                  <a:lnTo>
                    <a:pt x="6552591" y="2078355"/>
                  </a:lnTo>
                  <a:lnTo>
                    <a:pt x="0" y="20783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66" r="921" b="-1086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6552590" cy="2135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1"/>
                </a:lnSpc>
              </a:pPr>
              <a:r>
                <a:rPr lang="en-US" sz="254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Empowers executives to optimize PPC budgets, cut waste, drive growth.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8"/>
                </a:lnSpc>
              </a:pPr>
              <a:r>
                <a:rPr lang="en-US" sz="2124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DEPI  |  Enterprise E-Commerce Intelligence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7053103" y="9601200"/>
            <a:ext cx="822960" cy="411480"/>
            <a:chOff x="0" y="0"/>
            <a:chExt cx="1097280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7053103" y="9572625"/>
            <a:ext cx="822960" cy="440055"/>
            <a:chOff x="0" y="0"/>
            <a:chExt cx="1097280" cy="5867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9728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606" t="0" r="-18606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9"/>
                </a:lnSpc>
              </a:pPr>
              <a:r>
                <a:rPr lang="en-US" sz="2199">
                  <a:solidFill>
                    <a:srgbClr val="5B6B6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21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5555678" y="0"/>
            <a:ext cx="2732342" cy="1353312"/>
            <a:chOff x="0" y="0"/>
            <a:chExt cx="3643122" cy="1804416"/>
          </a:xfrm>
        </p:grpSpPr>
        <p:sp>
          <p:nvSpPr>
            <p:cNvPr name="Freeform 103" id="103" descr="الأصالة والمعاصرة: من عراقة الماضي نبني مستقبلنا ومن ينبوع التاريخ نستقي  الرؤية منذ ألفى عام، أدركت مصر أهمية البيانات وقيمتها بما تمنحه من مكانة  استراتيجية وقدرة تحويلية، ويظهر ذلك واضحًا من خلال"/>
            <p:cNvSpPr/>
            <p:nvPr/>
          </p:nvSpPr>
          <p:spPr>
            <a:xfrm flipH="false" flipV="false" rot="0">
              <a:off x="0" y="0"/>
              <a:ext cx="3643122" cy="1804416"/>
            </a:xfrm>
            <a:custGeom>
              <a:avLst/>
              <a:gdLst/>
              <a:ahLst/>
              <a:cxnLst/>
              <a:rect r="r" b="b" t="t" l="l"/>
              <a:pathLst>
                <a:path h="1804416" w="3643122">
                  <a:moveTo>
                    <a:pt x="0" y="0"/>
                  </a:moveTo>
                  <a:lnTo>
                    <a:pt x="3643122" y="0"/>
                  </a:lnTo>
                  <a:lnTo>
                    <a:pt x="3643122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3395960" y="-19336"/>
            <a:ext cx="2194560" cy="1353312"/>
            <a:chOff x="0" y="0"/>
            <a:chExt cx="2926080" cy="1804416"/>
          </a:xfrm>
        </p:grpSpPr>
        <p:sp>
          <p:nvSpPr>
            <p:cNvPr name="Freeform 105" id="105" descr="مبادرة رواد مصر الرقمية - YouTube"/>
            <p:cNvSpPr/>
            <p:nvPr/>
          </p:nvSpPr>
          <p:spPr>
            <a:xfrm flipH="false" flipV="false" rot="0">
              <a:off x="0" y="0"/>
              <a:ext cx="29260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1081" r="0" b="-31081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-22222" y="9679562"/>
            <a:ext cx="18332482" cy="629698"/>
            <a:chOff x="0" y="0"/>
            <a:chExt cx="24443309" cy="839597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4443310" cy="839597"/>
            </a:xfrm>
            <a:custGeom>
              <a:avLst/>
              <a:gdLst/>
              <a:ahLst/>
              <a:cxnLst/>
              <a:rect r="r" b="b" t="t" l="l"/>
              <a:pathLst>
                <a:path h="83959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839597"/>
                  </a:lnTo>
                  <a:lnTo>
                    <a:pt x="0" y="839597"/>
                  </a:lnTo>
                  <a:close/>
                </a:path>
              </a:pathLst>
            </a:custGeom>
            <a:solidFill>
              <a:srgbClr val="336EA8"/>
            </a:solidFill>
            <a:ln w="25400" cap="sq">
              <a:solidFill>
                <a:srgbClr val="336EA8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7738939" y="9677857"/>
            <a:ext cx="1642872" cy="664178"/>
            <a:chOff x="0" y="0"/>
            <a:chExt cx="2190496" cy="885571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190496" cy="885571"/>
            </a:xfrm>
            <a:custGeom>
              <a:avLst/>
              <a:gdLst/>
              <a:ahLst/>
              <a:cxnLst/>
              <a:rect r="r" b="b" t="t" l="l"/>
              <a:pathLst>
                <a:path h="885571" w="2190496">
                  <a:moveTo>
                    <a:pt x="0" y="0"/>
                  </a:moveTo>
                  <a:lnTo>
                    <a:pt x="2190496" y="0"/>
                  </a:lnTo>
                  <a:lnTo>
                    <a:pt x="2190496" y="885571"/>
                  </a:lnTo>
                  <a:lnTo>
                    <a:pt x="0" y="88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47" r="0" b="-345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274320" y="9701784"/>
            <a:ext cx="2194560" cy="585216"/>
            <a:chOff x="0" y="0"/>
            <a:chExt cx="2926080" cy="78028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274320" y="9673209"/>
            <a:ext cx="2194560" cy="613791"/>
            <a:chOff x="0" y="0"/>
            <a:chExt cx="2926080" cy="81838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926080" cy="818388"/>
            </a:xfrm>
            <a:custGeom>
              <a:avLst/>
              <a:gdLst/>
              <a:ahLst/>
              <a:cxnLst/>
              <a:rect r="r" b="b" t="t" l="l"/>
              <a:pathLst>
                <a:path h="8183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67" r="0" b="-19667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11/07/2026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7053103" y="9101539"/>
            <a:ext cx="1489159" cy="1489159"/>
            <a:chOff x="0" y="0"/>
            <a:chExt cx="9144000" cy="91440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C6B3E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7053103" y="9417628"/>
            <a:ext cx="891540" cy="595052"/>
            <a:chOff x="0" y="0"/>
            <a:chExt cx="1188720" cy="793403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188720" cy="793403"/>
            </a:xfrm>
            <a:custGeom>
              <a:avLst/>
              <a:gdLst/>
              <a:ahLst/>
              <a:cxnLst/>
              <a:rect r="r" b="b" t="t" l="l"/>
              <a:pathLst>
                <a:path h="793403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793403"/>
                  </a:lnTo>
                  <a:lnTo>
                    <a:pt x="0" y="793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12" t="0" r="-31012" b="5398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1188720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E3ECE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22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66160" y="-3840480"/>
            <a:ext cx="8915400" cy="8915400"/>
            <a:chOff x="0" y="0"/>
            <a:chExt cx="11887200" cy="1188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87200" cy="11887200"/>
            </a:xfrm>
            <a:custGeom>
              <a:avLst/>
              <a:gdLst/>
              <a:ahLst/>
              <a:cxnLst/>
              <a:rect r="r" b="b" t="t" l="l"/>
              <a:pathLst>
                <a:path h="11887200" w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990320" y="4937760"/>
            <a:ext cx="8229600" cy="8229600"/>
            <a:chOff x="0" y="0"/>
            <a:chExt cx="10972800" cy="1097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24760" y="6172200"/>
            <a:ext cx="5760720" cy="5760720"/>
            <a:chOff x="0" y="0"/>
            <a:chExt cx="7680960" cy="7680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389391" y="1138216"/>
            <a:ext cx="1508760" cy="1508760"/>
            <a:chOff x="0" y="0"/>
            <a:chExt cx="2011680" cy="2011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7FB06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66581" y="1515406"/>
            <a:ext cx="754380" cy="754380"/>
            <a:chOff x="0" y="0"/>
            <a:chExt cx="1005840" cy="1005840"/>
          </a:xfrm>
        </p:grpSpPr>
        <p:sp>
          <p:nvSpPr>
            <p:cNvPr name="Freeform 11" id="11" descr="/home/claude/deck/icons/checkcircle_1B4332.png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3058456"/>
            <a:ext cx="18287543" cy="1371600"/>
            <a:chOff x="0" y="0"/>
            <a:chExt cx="2438339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613" r="0" b="-20961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3051312"/>
            <a:ext cx="18287543" cy="1525393"/>
            <a:chOff x="0" y="0"/>
            <a:chExt cx="24383390" cy="20338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83391" cy="2033857"/>
            </a:xfrm>
            <a:custGeom>
              <a:avLst/>
              <a:gdLst/>
              <a:ahLst/>
              <a:cxnLst/>
              <a:rect r="r" b="b" t="t" l="l"/>
              <a:pathLst>
                <a:path h="2033857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2033857"/>
                  </a:lnTo>
                  <a:lnTo>
                    <a:pt x="0" y="203385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8408" r="0" b="-17879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4383390" cy="20338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239"/>
                </a:lnSpc>
              </a:pPr>
              <a:r>
                <a:rPr lang="en-US" sz="76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Thank You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4430056"/>
            <a:ext cx="18287543" cy="754380"/>
            <a:chOff x="0" y="0"/>
            <a:chExt cx="24383390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2024" r="0" b="-42202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0" y="4394337"/>
            <a:ext cx="18287543" cy="790099"/>
            <a:chOff x="0" y="0"/>
            <a:chExt cx="24383390" cy="10534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3391" cy="1053465"/>
            </a:xfrm>
            <a:custGeom>
              <a:avLst/>
              <a:gdLst/>
              <a:ahLst/>
              <a:cxnLst/>
              <a:rect r="r" b="b" t="t" l="l"/>
              <a:pathLst>
                <a:path h="1053465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1053465"/>
                  </a:lnTo>
                  <a:lnTo>
                    <a:pt x="0" y="10534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0998" r="0" b="-40099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438339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19"/>
                </a:lnSpc>
              </a:pPr>
              <a:r>
                <a:rPr lang="en-US" sz="3349" spc="295">
                  <a:solidFill>
                    <a:srgbClr val="7FB069"/>
                  </a:solidFill>
                  <a:latin typeface="Canva Sans"/>
                  <a:ea typeface="Canva Sans"/>
                  <a:cs typeface="Canva Sans"/>
                  <a:sym typeface="Canva Sans"/>
                </a:rPr>
                <a:t>Questions &amp; Discussion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206011" y="5664496"/>
            <a:ext cx="9875520" cy="2768008"/>
            <a:chOff x="0" y="0"/>
            <a:chExt cx="13167360" cy="36906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167361" cy="3690678"/>
            </a:xfrm>
            <a:custGeom>
              <a:avLst/>
              <a:gdLst/>
              <a:ahLst/>
              <a:cxnLst/>
              <a:rect r="r" b="b" t="t" l="l"/>
              <a:pathLst>
                <a:path h="3690678" w="13167361">
                  <a:moveTo>
                    <a:pt x="0" y="382737"/>
                  </a:moveTo>
                  <a:cubicBezTo>
                    <a:pt x="0" y="171434"/>
                    <a:pt x="114681" y="0"/>
                    <a:pt x="256032" y="0"/>
                  </a:cubicBezTo>
                  <a:lnTo>
                    <a:pt x="12911328" y="0"/>
                  </a:lnTo>
                  <a:cubicBezTo>
                    <a:pt x="13052679" y="0"/>
                    <a:pt x="13167361" y="171434"/>
                    <a:pt x="13167361" y="382737"/>
                  </a:cubicBezTo>
                  <a:lnTo>
                    <a:pt x="13167361" y="3307941"/>
                  </a:lnTo>
                  <a:cubicBezTo>
                    <a:pt x="13167361" y="3519244"/>
                    <a:pt x="13052679" y="3690678"/>
                    <a:pt x="12911328" y="3690678"/>
                  </a:cubicBezTo>
                  <a:lnTo>
                    <a:pt x="256032" y="3690678"/>
                  </a:lnTo>
                  <a:cubicBezTo>
                    <a:pt x="114681" y="3690677"/>
                    <a:pt x="0" y="3519243"/>
                    <a:pt x="0" y="3307941"/>
                  </a:cubicBezTo>
                  <a:close/>
                </a:path>
              </a:pathLst>
            </a:custGeom>
            <a:solidFill>
              <a:srgbClr val="1F2A24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548911" y="5938816"/>
            <a:ext cx="9189720" cy="754380"/>
            <a:chOff x="0" y="0"/>
            <a:chExt cx="1225296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252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7198" r="0" b="-18719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539386" y="5847609"/>
            <a:ext cx="9189720" cy="1312541"/>
            <a:chOff x="0" y="0"/>
            <a:chExt cx="12252960" cy="17500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252960" cy="1750054"/>
            </a:xfrm>
            <a:custGeom>
              <a:avLst/>
              <a:gdLst/>
              <a:ahLst/>
              <a:cxnLst/>
              <a:rect r="r" b="b" t="t" l="l"/>
              <a:pathLst>
                <a:path h="1750054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750054"/>
                  </a:lnTo>
                  <a:lnTo>
                    <a:pt x="0" y="17500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6598" r="0" b="-6624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2252960" cy="1750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09"/>
                </a:lnSpc>
              </a:pPr>
              <a:r>
                <a:rPr lang="en-US" sz="2924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Duaa Abd-Elati  ·  Hazem Mahmoud  ·  Mai Gamal    Maya Mohamed  ·  Osama Hussein  ·  Ahmed Ezzat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539386" y="7077835"/>
            <a:ext cx="9189720" cy="1183176"/>
            <a:chOff x="0" y="0"/>
            <a:chExt cx="12252960" cy="157756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252960" cy="1577567"/>
            </a:xfrm>
            <a:custGeom>
              <a:avLst/>
              <a:gdLst/>
              <a:ahLst/>
              <a:cxnLst/>
              <a:rect r="r" b="b" t="t" l="l"/>
              <a:pathLst>
                <a:path h="1577567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577567"/>
                  </a:lnTo>
                  <a:lnTo>
                    <a:pt x="0" y="15775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6947" r="0" b="-7573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2252960" cy="1587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 i="true">
                  <a:solidFill>
                    <a:srgbClr val="CFE3D6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Digital Egypt Pioneers Initiative — Data Analysis Track</a:t>
              </a:r>
            </a:p>
            <a:p>
              <a:pPr algn="ctr">
                <a:lnSpc>
                  <a:spcPts val="3239"/>
                </a:lnSpc>
              </a:pPr>
              <a:r>
                <a:rPr lang="en-US" sz="2699" i="true">
                  <a:solidFill>
                    <a:srgbClr val="CFE3D6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2025/2026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DAHO4PYtK2Q</dc:identifier>
  <dcterms:modified xsi:type="dcterms:W3CDTF">2011-08-01T06:04:30Z</dcterms:modified>
  <cp:revision>1</cp:revision>
  <dc:title>DEPI_Ecommerce_Intelligence.pptx</dc:title>
</cp:coreProperties>
</file>